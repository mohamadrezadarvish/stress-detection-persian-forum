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8" r:id="rId11"/>
    <p:sldId id="265" r:id="rId12"/>
    <p:sldId id="266" r:id="rId13"/>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8985" autoAdjust="0"/>
    <p:restoredTop sz="94610"/>
  </p:normalViewPr>
  <p:slideViewPr>
    <p:cSldViewPr snapToGrid="0" snapToObjects="1">
      <p:cViewPr varScale="1">
        <p:scale>
          <a:sx n="82" d="100"/>
          <a:sy n="82" d="100"/>
        </p:scale>
        <p:origin x="53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610630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Open with one sentence: We built an end-to-end Persian stress-monitoring pipeline for Ninisite posts, then combined a structured model and a ParsBERT model with late fusion. Emphasize that the operational framing is human-in-the-loop risk monitoring, not autonomous diagnosis.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0:20–0:40. Quickly orient the audience. Say there are five beats: why the problem matters, how the labels and leakage-safe data were built, the three-member modeling design, locked-test behavior, and responsible use/future work.</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0:40–1:50. Define the prediction task first. Then motivate the forum context without overstating medical claims. Prior work: De Choudhury et al. showed postpartum behavioral changes can be modeled from social media; Coppersmith et al. quantified mental-health signals in social text; ParsBERT provides the Persian transformer backbone. Close by stating our contribution: an end-to-end Persian pipeline plus late fusion and a human-review operational design.</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1:50–3:05. Explain the data journey as a reproducibility story: scrape with checkpoints and retries; clean/recover metadata; build a heuristic proxy for sampling; annotate with ChatGPT Plus and Claude, then add active-learning examples; finally freeze grouped roles. Stress that the labeled distribution is deliberately enriched and must not be interpreted as natural prevalence. Mention the locked test was not reused for tuning.</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3:05–4:25. This is the core algorithm slide. Member 1 learns structured features with CatBoost. Member 2 fine-tunes ParsBERT on text only. Member 3 performs late fusion—not embedding concatenation in the final system. The fusion model receives both scalar base predictions, their mean and disagreement features, plus the engineered tabular features. Emphasize OOF predictions for training and ensemble predictions for validation/test to avoid leakage. Distinguish true class boundaries 3/5/7 from calibrated prediction cutoffs 3.10/4.91/6.46.</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4:25–5:25. Explain why active learning was used: only a tiny fraction of the ~362k posts could be labeled. We scored the large pool, targeted informative and high-signal cases, dual-annotated them, and retrained. Point out the honest caveat in the figure: before/after stages differ in split size and leakage controls, so this is not a causal experiment. Also note that the tabular model slightly worsened while text and fusion improved—active learning did not help every component equally.</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5:25–6:10. Keep this slide short. The biggest SHAP contribution is Member 2’s prediction, followed by the base mean and Member 1 prediction. But the model also uses negative/positive emoji, negative-word ratios, reply behavior, sub-category, posting history, and other structured signals. Clarify that SHAP explains the trained model; it does not prove causality and it was not used as an unvalidated feature-selection shortcut.</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6:10–7:40. This is the main results slide. Start with continuous error: MAE 0.917 on the locked 453-post test. Then move to the four-class matrix. Low recall is 87.5%, High 52.4%, Very High 76.9%. Moderate is 41.8% and misses its 50% internal target. State the project status precisely: 3 of 4 internal recall targets met. The Moderate errors go both downward and upward, so this is a boundary-overlap problem, not one simple threshold mistake.</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7:40–8:45. Use the scatter to show that predictions rise with true stress, but are shrunk toward the middle—especially at the extremes. Then use the density plot to show why thresholds matter: the Low and Very High distributions are comparatively separated, while Moderate overlaps Low and High. Distinguish the label definitions at 3/5/7 from the calibrated prediction cutoffs 3.10/4.91/6.46.</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15EDEB-4D2F-51A8-1D17-AAC456B1DE4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50356D-CA16-FF94-BDF5-BDE81C2111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095C2BF-40F9-CDBA-4A78-8A9BFE19E9EF}"/>
              </a:ext>
            </a:extLst>
          </p:cNvPr>
          <p:cNvSpPr>
            <a:spLocks noGrp="1"/>
          </p:cNvSpPr>
          <p:nvPr>
            <p:ph type="body" idx="1"/>
          </p:nvPr>
        </p:nvSpPr>
        <p:spPr/>
        <p:txBody>
          <a:bodyPr/>
          <a:lstStyle/>
          <a:p>
            <a:r>
              <a:rPr lang="en-US" dirty="0"/>
              <a:t>8:45–9:45. Summarize three things: we built the full end-to-end pipeline, the final locked-test result is strong on Low/High/Very High but not Moderate, and the realistic deployment is a private human-review prioritization overlay. Future work should target new annotations around both Moderate boundaries, reserve a fresh untouched confirmation set, and measure real alert burden with offline replay before a limited monitored pilot. Finish before 10:00 and invite questions.</a:t>
            </a:r>
          </a:p>
        </p:txBody>
      </p:sp>
      <p:sp>
        <p:nvSpPr>
          <p:cNvPr id="4" name="Slide Number Placeholder 3">
            <a:extLst>
              <a:ext uri="{FF2B5EF4-FFF2-40B4-BE49-F238E27FC236}">
                <a16:creationId xmlns:a16="http://schemas.microsoft.com/office/drawing/2014/main" id="{E38CC361-E898-50D4-62D5-308234EF017F}"/>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8913347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8:45–9:45. Summarize three things: we built the full end-to-end pipeline, the final locked-test result is strong on Low/High/Very High but not Moderate, and the realistic deployment is a private human-review prioritization overlay. Future work should target new annotations around both Moderate boundaries, reserve a fresh untouched confirmation set, and measure real alert burden with offline replay before a limited monitored pilot. Finish before 10:00 and invite questions.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 backup. Do not present unless asked. This slide satisfies the reference requirement and makes clear that the project figures are the team’s own exact exports.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STER">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502920" y="6547104"/>
            <a:ext cx="11201400" cy="0"/>
          </a:xfrm>
          <a:prstGeom prst="line">
            <a:avLst/>
          </a:prstGeom>
          <a:noFill/>
          <a:ln w="10160">
            <a:solidFill>
              <a:srgbClr val="D8D4CC"/>
            </a:solidFill>
            <a:prstDash val="solid"/>
          </a:ln>
        </p:spPr>
      </p:sp>
      <p:sp>
        <p:nvSpPr>
          <p:cNvPr id="3" name="Text 1"/>
          <p:cNvSpPr/>
          <p:nvPr/>
        </p:nvSpPr>
        <p:spPr>
          <a:xfrm>
            <a:off x="566928" y="6583680"/>
            <a:ext cx="5669280" cy="146304"/>
          </a:xfrm>
          <a:prstGeom prst="rect">
            <a:avLst/>
          </a:prstGeom>
          <a:noFill/>
          <a:ln/>
        </p:spPr>
        <p:txBody>
          <a:bodyPr wrap="square" lIns="0" tIns="0" rIns="0" bIns="0" rtlCol="0" anchor="ctr"/>
          <a:lstStyle/>
          <a:p>
            <a:pPr marL="0" indent="0">
              <a:buNone/>
            </a:pPr>
            <a:r>
              <a:rPr lang="en-US" sz="750" dirty="0">
                <a:solidFill>
                  <a:srgbClr val="7B817F"/>
                </a:solidFill>
                <a:latin typeface="Arial" pitchFamily="34" charset="0"/>
                <a:ea typeface="Arial" pitchFamily="34" charset="-122"/>
                <a:cs typeface="Arial" pitchFamily="34" charset="-120"/>
              </a:rPr>
              <a:t>Stress Detection in a Persian Pregnancy Forum</a:t>
            </a:r>
            <a:endParaRPr lang="en-US" sz="750" dirty="0"/>
          </a:p>
        </p:txBody>
      </p:sp>
      <p:sp>
        <p:nvSpPr>
          <p:cNvPr id="25"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5F0"/>
        </a:solidFill>
        <a:effectLst/>
      </p:bgPr>
    </p:bg>
    <p:spTree>
      <p:nvGrpSpPr>
        <p:cNvPr id="1" name=""/>
        <p:cNvGrpSpPr/>
        <p:nvPr/>
      </p:nvGrpSpPr>
      <p:grpSpPr>
        <a:xfrm>
          <a:off x="0" y="0"/>
          <a:ext cx="0" cy="0"/>
          <a:chOff x="0" y="0"/>
          <a:chExt cx="0" cy="0"/>
        </a:xfrm>
      </p:grpSpPr>
      <p:sp>
        <p:nvSpPr>
          <p:cNvPr id="2" name="Shape 0"/>
          <p:cNvSpPr/>
          <p:nvPr/>
        </p:nvSpPr>
        <p:spPr>
          <a:xfrm>
            <a:off x="9189720" y="109728"/>
            <a:ext cx="2606040" cy="2606040"/>
          </a:xfrm>
          <a:prstGeom prst="ellipse">
            <a:avLst/>
          </a:prstGeom>
          <a:solidFill>
            <a:srgbClr val="E8EFEA">
              <a:alpha val="92000"/>
            </a:srgbClr>
          </a:solidFill>
          <a:ln w="12700">
            <a:solidFill>
              <a:srgbClr val="E8EFEA">
                <a:alpha val="0"/>
              </a:srgbClr>
            </a:solidFill>
            <a:prstDash val="solid"/>
          </a:ln>
        </p:spPr>
      </p:sp>
      <p:sp>
        <p:nvSpPr>
          <p:cNvPr id="3" name="Shape 1"/>
          <p:cNvSpPr/>
          <p:nvPr/>
        </p:nvSpPr>
        <p:spPr>
          <a:xfrm>
            <a:off x="9784080" y="256032"/>
            <a:ext cx="960120" cy="960120"/>
          </a:xfrm>
          <a:prstGeom prst="ellipse">
            <a:avLst/>
          </a:prstGeom>
          <a:solidFill>
            <a:srgbClr val="FFFFFF">
              <a:alpha val="0"/>
            </a:srgbClr>
          </a:solidFill>
          <a:ln w="25400">
            <a:solidFill>
              <a:srgbClr val="6E8E7D"/>
            </a:solidFill>
            <a:prstDash val="solid"/>
          </a:ln>
        </p:spPr>
      </p:sp>
      <p:sp>
        <p:nvSpPr>
          <p:cNvPr id="4" name="Shape 2"/>
          <p:cNvSpPr/>
          <p:nvPr/>
        </p:nvSpPr>
        <p:spPr>
          <a:xfrm>
            <a:off x="10076688" y="557784"/>
            <a:ext cx="365760" cy="365760"/>
          </a:xfrm>
          <a:prstGeom prst="ellipse">
            <a:avLst/>
          </a:prstGeom>
          <a:solidFill>
            <a:srgbClr val="F4E9E4"/>
          </a:solidFill>
          <a:ln w="15240">
            <a:solidFill>
              <a:srgbClr val="B87461"/>
            </a:solidFill>
            <a:prstDash val="solid"/>
          </a:ln>
        </p:spPr>
      </p:sp>
      <p:sp>
        <p:nvSpPr>
          <p:cNvPr id="5" name="Shape 3"/>
          <p:cNvSpPr/>
          <p:nvPr/>
        </p:nvSpPr>
        <p:spPr>
          <a:xfrm>
            <a:off x="10186416" y="667512"/>
            <a:ext cx="146304" cy="146304"/>
          </a:xfrm>
          <a:prstGeom prst="ellipse">
            <a:avLst/>
          </a:prstGeom>
          <a:solidFill>
            <a:srgbClr val="B87461"/>
          </a:solidFill>
          <a:ln w="12700">
            <a:solidFill>
              <a:srgbClr val="B87461"/>
            </a:solidFill>
            <a:prstDash val="solid"/>
          </a:ln>
        </p:spPr>
      </p:sp>
      <p:sp>
        <p:nvSpPr>
          <p:cNvPr id="6" name="Text 4"/>
          <p:cNvSpPr/>
          <p:nvPr/>
        </p:nvSpPr>
        <p:spPr>
          <a:xfrm>
            <a:off x="713232" y="1558508"/>
            <a:ext cx="7086600" cy="1481328"/>
          </a:xfrm>
          <a:prstGeom prst="rect">
            <a:avLst/>
          </a:prstGeom>
          <a:noFill/>
          <a:ln/>
        </p:spPr>
        <p:txBody>
          <a:bodyPr wrap="square" lIns="0" tIns="0" rIns="0" bIns="0" rtlCol="0" anchor="ctr">
            <a:normAutofit/>
          </a:bodyPr>
          <a:lstStyle/>
          <a:p>
            <a:pPr marL="0" indent="0">
              <a:buNone/>
            </a:pPr>
            <a:r>
              <a:rPr lang="en-US" sz="3400" b="1" dirty="0">
                <a:solidFill>
                  <a:srgbClr val="24313A"/>
                </a:solidFill>
              </a:rPr>
              <a:t>Stress Detection</a:t>
            </a:r>
            <a:endParaRPr lang="en-US" sz="3400" dirty="0"/>
          </a:p>
          <a:p>
            <a:pPr marL="0" indent="0">
              <a:buNone/>
            </a:pPr>
            <a:r>
              <a:rPr lang="en-US" sz="3400" b="1" dirty="0">
                <a:solidFill>
                  <a:srgbClr val="24313A"/>
                </a:solidFill>
              </a:rPr>
              <a:t>in a Persian Pregnancy Forum</a:t>
            </a:r>
            <a:endParaRPr lang="en-US" sz="3400" dirty="0"/>
          </a:p>
        </p:txBody>
      </p:sp>
      <p:sp>
        <p:nvSpPr>
          <p:cNvPr id="7" name="Text 5"/>
          <p:cNvSpPr/>
          <p:nvPr/>
        </p:nvSpPr>
        <p:spPr>
          <a:xfrm>
            <a:off x="713232" y="2842696"/>
            <a:ext cx="6812280" cy="621792"/>
          </a:xfrm>
          <a:prstGeom prst="rect">
            <a:avLst/>
          </a:prstGeom>
          <a:noFill/>
          <a:ln/>
        </p:spPr>
        <p:txBody>
          <a:bodyPr wrap="square" lIns="0" tIns="0" rIns="0" bIns="0" rtlCol="0" anchor="ctr">
            <a:normAutofit/>
          </a:bodyPr>
          <a:lstStyle/>
          <a:p>
            <a:pPr marL="0" indent="0">
              <a:buNone/>
            </a:pPr>
            <a:r>
              <a:rPr lang="en-US" sz="1400" dirty="0">
                <a:solidFill>
                  <a:srgbClr val="6E8E7D"/>
                </a:solidFill>
              </a:rPr>
              <a:t>Late fusion of structured and ParsBERT signals for human-in-the-loop risk monitoring</a:t>
            </a:r>
            <a:endParaRPr lang="en-US" sz="1400" dirty="0"/>
          </a:p>
        </p:txBody>
      </p:sp>
      <p:sp>
        <p:nvSpPr>
          <p:cNvPr id="8" name="Shape 6"/>
          <p:cNvSpPr/>
          <p:nvPr/>
        </p:nvSpPr>
        <p:spPr>
          <a:xfrm>
            <a:off x="749808" y="3401568"/>
            <a:ext cx="6355080" cy="0"/>
          </a:xfrm>
          <a:prstGeom prst="line">
            <a:avLst/>
          </a:prstGeom>
          <a:noFill/>
          <a:ln w="12700">
            <a:solidFill>
              <a:srgbClr val="D8D4CC"/>
            </a:solidFill>
            <a:prstDash val="solid"/>
          </a:ln>
        </p:spPr>
      </p:sp>
      <p:sp>
        <p:nvSpPr>
          <p:cNvPr id="15" name="Shape 13"/>
          <p:cNvSpPr/>
          <p:nvPr/>
        </p:nvSpPr>
        <p:spPr>
          <a:xfrm>
            <a:off x="8001000" y="3975897"/>
            <a:ext cx="3383280" cy="1148659"/>
          </a:xfrm>
          <a:prstGeom prst="roundRect">
            <a:avLst>
              <a:gd name="adj" fmla="val 7595"/>
            </a:avLst>
          </a:prstGeom>
          <a:solidFill>
            <a:srgbClr val="FFFFFF"/>
          </a:solidFill>
          <a:ln w="11430">
            <a:solidFill>
              <a:srgbClr val="E3DFD8"/>
            </a:solidFill>
            <a:prstDash val="solid"/>
          </a:ln>
        </p:spPr>
      </p:sp>
      <p:sp>
        <p:nvSpPr>
          <p:cNvPr id="16" name="Text 14"/>
          <p:cNvSpPr/>
          <p:nvPr/>
        </p:nvSpPr>
        <p:spPr>
          <a:xfrm>
            <a:off x="8247888" y="4126881"/>
            <a:ext cx="1371600" cy="228600"/>
          </a:xfrm>
          <a:prstGeom prst="rect">
            <a:avLst/>
          </a:prstGeom>
          <a:noFill/>
          <a:ln/>
        </p:spPr>
        <p:txBody>
          <a:bodyPr wrap="square" lIns="0" tIns="0" rIns="0" bIns="0" rtlCol="0" anchor="ctr"/>
          <a:lstStyle/>
          <a:p>
            <a:pPr marL="0" indent="0">
              <a:buNone/>
            </a:pPr>
            <a:r>
              <a:rPr lang="en-US" sz="1050" b="1" dirty="0">
                <a:solidFill>
                  <a:srgbClr val="6D7774"/>
                </a:solidFill>
              </a:rPr>
              <a:t>Final model</a:t>
            </a:r>
            <a:endParaRPr lang="en-US" sz="1050" dirty="0"/>
          </a:p>
        </p:txBody>
      </p:sp>
      <p:sp>
        <p:nvSpPr>
          <p:cNvPr id="17" name="Text 15"/>
          <p:cNvSpPr/>
          <p:nvPr/>
        </p:nvSpPr>
        <p:spPr>
          <a:xfrm>
            <a:off x="8247888" y="4469673"/>
            <a:ext cx="2788920" cy="256032"/>
          </a:xfrm>
          <a:prstGeom prst="rect">
            <a:avLst/>
          </a:prstGeom>
          <a:noFill/>
          <a:ln/>
        </p:spPr>
        <p:txBody>
          <a:bodyPr wrap="square" lIns="0" tIns="0" rIns="0" bIns="0" rtlCol="0" anchor="ctr"/>
          <a:lstStyle/>
          <a:p>
            <a:pPr marL="0" indent="0">
              <a:buNone/>
            </a:pPr>
            <a:r>
              <a:rPr lang="en-US" sz="1800" b="1" dirty="0">
                <a:solidFill>
                  <a:srgbClr val="24313A"/>
                </a:solidFill>
              </a:rPr>
              <a:t>Hybrid CatBoost late fusion</a:t>
            </a:r>
            <a:endParaRPr lang="en-US" sz="1800" dirty="0"/>
          </a:p>
        </p:txBody>
      </p:sp>
      <p:sp>
        <p:nvSpPr>
          <p:cNvPr id="18" name="Text 16"/>
          <p:cNvSpPr/>
          <p:nvPr/>
        </p:nvSpPr>
        <p:spPr>
          <a:xfrm>
            <a:off x="8247888" y="4798857"/>
            <a:ext cx="2743200" cy="457200"/>
          </a:xfrm>
          <a:prstGeom prst="rect">
            <a:avLst/>
          </a:prstGeom>
          <a:noFill/>
          <a:ln/>
        </p:spPr>
        <p:txBody>
          <a:bodyPr wrap="square" lIns="0" tIns="0" rIns="0" bIns="0" rtlCol="0" anchor="ctr">
            <a:normAutofit/>
          </a:bodyPr>
          <a:lstStyle/>
          <a:p>
            <a:pPr marL="0" indent="0">
              <a:buNone/>
            </a:pPr>
            <a:endParaRPr lang="en-US" sz="1050" dirty="0"/>
          </a:p>
        </p:txBody>
      </p:sp>
      <p:sp>
        <p:nvSpPr>
          <p:cNvPr id="19" name="Text 17"/>
          <p:cNvSpPr/>
          <p:nvPr/>
        </p:nvSpPr>
        <p:spPr>
          <a:xfrm>
            <a:off x="713232" y="5613109"/>
            <a:ext cx="5120640" cy="503791"/>
          </a:xfrm>
          <a:prstGeom prst="rect">
            <a:avLst/>
          </a:prstGeom>
          <a:noFill/>
          <a:ln/>
        </p:spPr>
        <p:txBody>
          <a:bodyPr wrap="square" lIns="0" tIns="0" rIns="0" bIns="0" rtlCol="0" anchor="ctr"/>
          <a:lstStyle/>
          <a:p>
            <a:pPr marL="0" indent="0">
              <a:buNone/>
            </a:pPr>
            <a:r>
              <a:rPr lang="en-US" sz="1200" b="1" dirty="0">
                <a:solidFill>
                  <a:srgbClr val="6D7774"/>
                </a:solidFill>
              </a:rPr>
              <a:t>Applied data science | Sharif University of Technology</a:t>
            </a:r>
            <a:endParaRPr lang="en-US" sz="1200" dirty="0">
              <a:solidFill>
                <a:srgbClr val="6D7774"/>
              </a:solidFill>
            </a:endParaRPr>
          </a:p>
        </p:txBody>
      </p:sp>
      <p:sp>
        <p:nvSpPr>
          <p:cNvPr id="25"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1</a:t>
            </a:fld>
            <a:endParaRPr lang="en-US"/>
          </a:p>
        </p:txBody>
      </p:sp>
      <p:sp>
        <p:nvSpPr>
          <p:cNvPr id="20" name="Text 17">
            <a:extLst>
              <a:ext uri="{FF2B5EF4-FFF2-40B4-BE49-F238E27FC236}">
                <a16:creationId xmlns:a16="http://schemas.microsoft.com/office/drawing/2014/main" id="{CC854A2D-ADAE-1D5E-95A2-004C3C61B564}"/>
              </a:ext>
            </a:extLst>
          </p:cNvPr>
          <p:cNvSpPr/>
          <p:nvPr/>
        </p:nvSpPr>
        <p:spPr>
          <a:xfrm>
            <a:off x="713232" y="5866745"/>
            <a:ext cx="5120640" cy="503791"/>
          </a:xfrm>
          <a:prstGeom prst="rect">
            <a:avLst/>
          </a:prstGeom>
          <a:noFill/>
          <a:ln/>
        </p:spPr>
        <p:txBody>
          <a:bodyPr wrap="square" lIns="0" tIns="0" rIns="0" bIns="0" rtlCol="0" anchor="ctr"/>
          <a:lstStyle/>
          <a:p>
            <a:pPr marL="0" indent="0" algn="l" rtl="0" eaLnBrk="1" latinLnBrk="0" hangingPunct="1">
              <a:buNone/>
            </a:pPr>
            <a:r>
              <a:rPr lang="en-US" sz="1200" kern="1200" dirty="0">
                <a:solidFill>
                  <a:srgbClr val="6D7774"/>
                </a:solidFill>
                <a:effectLst/>
                <a:latin typeface="Arial" panose="020B0604020202020204" pitchFamily="34" charset="0"/>
                <a:ea typeface="+mn-ea"/>
                <a:cs typeface="+mn-cs"/>
              </a:rPr>
              <a:t>By : Mohammadreza Darvish , Yazdan Rezvani and Ali Esfahani</a:t>
            </a:r>
            <a:endParaRPr lang="en-US" sz="1200" dirty="0">
              <a:effectLst/>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94360" y="347472"/>
            <a:ext cx="2834640" cy="164592"/>
          </a:xfrm>
          <a:prstGeom prst="rect">
            <a:avLst/>
          </a:prstGeom>
          <a:noFill/>
          <a:ln/>
        </p:spPr>
        <p:txBody>
          <a:bodyPr wrap="square" lIns="0" tIns="0" rIns="0" bIns="0" rtlCol="0" anchor="ctr"/>
          <a:lstStyle/>
          <a:p>
            <a:pPr marL="0" indent="0">
              <a:buNone/>
            </a:pPr>
            <a:r>
              <a:rPr lang="en-US" sz="850" b="1" kern="0" spc="120" dirty="0">
                <a:solidFill>
                  <a:srgbClr val="6E8E7D"/>
                </a:solidFill>
              </a:rPr>
              <a:t>STRUCTURE</a:t>
            </a:r>
            <a:endParaRPr lang="en-US" sz="850" dirty="0"/>
          </a:p>
        </p:txBody>
      </p:sp>
      <p:sp>
        <p:nvSpPr>
          <p:cNvPr id="3" name="Text 1"/>
          <p:cNvSpPr/>
          <p:nvPr/>
        </p:nvSpPr>
        <p:spPr>
          <a:xfrm>
            <a:off x="594360" y="566928"/>
            <a:ext cx="10698480" cy="502920"/>
          </a:xfrm>
          <a:prstGeom prst="rect">
            <a:avLst/>
          </a:prstGeom>
          <a:noFill/>
          <a:ln/>
        </p:spPr>
        <p:txBody>
          <a:bodyPr wrap="square" lIns="0" tIns="0" rIns="0" bIns="0" rtlCol="0" anchor="ctr"/>
          <a:lstStyle/>
          <a:p>
            <a:pPr marL="0" indent="0">
              <a:buNone/>
            </a:pPr>
            <a:r>
              <a:rPr lang="en-US" sz="2800" b="1" dirty="0">
                <a:solidFill>
                  <a:srgbClr val="24313A"/>
                </a:solidFill>
              </a:rPr>
              <a:t>Roadmap</a:t>
            </a:r>
            <a:endParaRPr lang="en-US" sz="2800" dirty="0"/>
          </a:p>
        </p:txBody>
      </p:sp>
      <p:sp>
        <p:nvSpPr>
          <p:cNvPr id="4" name="Shape 2"/>
          <p:cNvSpPr/>
          <p:nvPr/>
        </p:nvSpPr>
        <p:spPr>
          <a:xfrm>
            <a:off x="594360" y="1143000"/>
            <a:ext cx="658368" cy="0"/>
          </a:xfrm>
          <a:prstGeom prst="line">
            <a:avLst/>
          </a:prstGeom>
          <a:noFill/>
          <a:ln w="27940">
            <a:solidFill>
              <a:srgbClr val="B87461"/>
            </a:solidFill>
            <a:prstDash val="solid"/>
          </a:ln>
        </p:spPr>
      </p:sp>
      <p:sp>
        <p:nvSpPr>
          <p:cNvPr id="5" name="Shape 3"/>
          <p:cNvSpPr/>
          <p:nvPr/>
        </p:nvSpPr>
        <p:spPr>
          <a:xfrm>
            <a:off x="10332720" y="384048"/>
            <a:ext cx="1234440" cy="256032"/>
          </a:xfrm>
          <a:prstGeom prst="roundRect">
            <a:avLst/>
          </a:prstGeom>
          <a:solidFill>
            <a:srgbClr val="E8EFEA"/>
          </a:solidFill>
          <a:ln w="12700">
            <a:solidFill>
              <a:srgbClr val="E8EFEA"/>
            </a:solidFill>
            <a:prstDash val="solid"/>
          </a:ln>
        </p:spPr>
      </p:sp>
      <p:sp>
        <p:nvSpPr>
          <p:cNvPr id="6" name="Text 4"/>
          <p:cNvSpPr/>
          <p:nvPr/>
        </p:nvSpPr>
        <p:spPr>
          <a:xfrm>
            <a:off x="10387584" y="416052"/>
            <a:ext cx="1124712" cy="146304"/>
          </a:xfrm>
          <a:prstGeom prst="rect">
            <a:avLst/>
          </a:prstGeom>
          <a:noFill/>
          <a:ln/>
        </p:spPr>
        <p:txBody>
          <a:bodyPr wrap="square" lIns="0" tIns="0" rIns="0" bIns="0" rtlCol="0" anchor="ctr"/>
          <a:lstStyle/>
          <a:p>
            <a:pPr marL="0" indent="0" algn="ctr">
              <a:buNone/>
            </a:pPr>
            <a:r>
              <a:rPr lang="en-US" sz="740" b="1" dirty="0">
                <a:solidFill>
                  <a:srgbClr val="6E8E7D"/>
                </a:solidFill>
              </a:rPr>
              <a:t>2 / 11</a:t>
            </a:r>
            <a:endParaRPr lang="en-US" sz="740" dirty="0"/>
          </a:p>
        </p:txBody>
      </p:sp>
      <p:sp>
        <p:nvSpPr>
          <p:cNvPr id="7" name="Text 5"/>
          <p:cNvSpPr/>
          <p:nvPr/>
        </p:nvSpPr>
        <p:spPr>
          <a:xfrm>
            <a:off x="621792" y="1353312"/>
            <a:ext cx="7498080" cy="320040"/>
          </a:xfrm>
          <a:prstGeom prst="rect">
            <a:avLst/>
          </a:prstGeom>
          <a:noFill/>
          <a:ln/>
        </p:spPr>
        <p:txBody>
          <a:bodyPr wrap="square" lIns="0" tIns="0" rIns="0" bIns="0" rtlCol="0" anchor="ctr"/>
          <a:lstStyle/>
          <a:p>
            <a:pPr marL="0" indent="0">
              <a:buNone/>
            </a:pPr>
            <a:r>
              <a:rPr lang="en-US" sz="1550" dirty="0">
                <a:solidFill>
                  <a:srgbClr val="6D7774"/>
                </a:solidFill>
              </a:rPr>
              <a:t>A 10-minute story: from messy forum data to a locked-test fusion result</a:t>
            </a:r>
            <a:endParaRPr lang="en-US" sz="1550" dirty="0"/>
          </a:p>
        </p:txBody>
      </p:sp>
      <p:sp>
        <p:nvSpPr>
          <p:cNvPr id="8" name="Shape 6"/>
          <p:cNvSpPr/>
          <p:nvPr/>
        </p:nvSpPr>
        <p:spPr>
          <a:xfrm>
            <a:off x="1234440" y="2263140"/>
            <a:ext cx="914400" cy="914400"/>
          </a:xfrm>
          <a:prstGeom prst="ellipse">
            <a:avLst/>
          </a:prstGeom>
          <a:solidFill>
            <a:srgbClr val="E9F0F4"/>
          </a:solidFill>
          <a:ln w="17780">
            <a:solidFill>
              <a:srgbClr val="5C7F96"/>
            </a:solidFill>
            <a:prstDash val="solid"/>
          </a:ln>
        </p:spPr>
      </p:sp>
      <p:sp>
        <p:nvSpPr>
          <p:cNvPr id="9" name="Text 7"/>
          <p:cNvSpPr/>
          <p:nvPr/>
        </p:nvSpPr>
        <p:spPr>
          <a:xfrm>
            <a:off x="1508760" y="2574036"/>
            <a:ext cx="365760" cy="274320"/>
          </a:xfrm>
          <a:prstGeom prst="rect">
            <a:avLst/>
          </a:prstGeom>
          <a:noFill/>
          <a:ln/>
        </p:spPr>
        <p:txBody>
          <a:bodyPr wrap="square" lIns="0" tIns="0" rIns="0" bIns="0" rtlCol="0" anchor="ctr"/>
          <a:lstStyle/>
          <a:p>
            <a:pPr marL="0" indent="0" algn="ctr">
              <a:buNone/>
            </a:pPr>
            <a:r>
              <a:rPr lang="en-US" sz="1800" b="1" dirty="0">
                <a:solidFill>
                  <a:srgbClr val="5C7F96"/>
                </a:solidFill>
              </a:rPr>
              <a:t>1</a:t>
            </a:r>
            <a:endParaRPr lang="en-US" sz="1800" dirty="0"/>
          </a:p>
        </p:txBody>
      </p:sp>
      <p:sp>
        <p:nvSpPr>
          <p:cNvPr id="10" name="Text 8"/>
          <p:cNvSpPr/>
          <p:nvPr/>
        </p:nvSpPr>
        <p:spPr>
          <a:xfrm>
            <a:off x="1005840" y="3378708"/>
            <a:ext cx="1371600" cy="640080"/>
          </a:xfrm>
          <a:prstGeom prst="rect">
            <a:avLst/>
          </a:prstGeom>
          <a:noFill/>
          <a:ln/>
        </p:spPr>
        <p:txBody>
          <a:bodyPr wrap="square" lIns="0" tIns="0" rIns="0" bIns="0" rtlCol="0" anchor="ctr">
            <a:normAutofit/>
          </a:bodyPr>
          <a:lstStyle/>
          <a:p>
            <a:pPr marL="0" indent="0" algn="ctr">
              <a:buNone/>
            </a:pPr>
            <a:r>
              <a:rPr lang="en-US" sz="1430" b="1" dirty="0">
                <a:solidFill>
                  <a:srgbClr val="24313A"/>
                </a:solidFill>
              </a:rPr>
              <a:t>Problem &amp;</a:t>
            </a:r>
            <a:endParaRPr lang="en-US" sz="1430" dirty="0"/>
          </a:p>
          <a:p>
            <a:pPr marL="0" indent="0" algn="ctr">
              <a:buNone/>
            </a:pPr>
            <a:r>
              <a:rPr lang="en-US" sz="1430" b="1" dirty="0">
                <a:solidFill>
                  <a:srgbClr val="24313A"/>
                </a:solidFill>
              </a:rPr>
              <a:t>motivation</a:t>
            </a:r>
            <a:endParaRPr lang="en-US" sz="1430" dirty="0"/>
          </a:p>
        </p:txBody>
      </p:sp>
      <p:sp>
        <p:nvSpPr>
          <p:cNvPr id="11" name="Shape 9"/>
          <p:cNvSpPr/>
          <p:nvPr/>
        </p:nvSpPr>
        <p:spPr>
          <a:xfrm>
            <a:off x="2528316" y="2555748"/>
            <a:ext cx="475488" cy="329184"/>
          </a:xfrm>
          <a:prstGeom prst="chevron">
            <a:avLst/>
          </a:prstGeom>
          <a:solidFill>
            <a:srgbClr val="D8D4CC"/>
          </a:solidFill>
          <a:ln w="12700">
            <a:solidFill>
              <a:srgbClr val="D8D4CC"/>
            </a:solidFill>
            <a:prstDash val="solid"/>
          </a:ln>
        </p:spPr>
      </p:sp>
      <p:sp>
        <p:nvSpPr>
          <p:cNvPr id="12" name="Shape 10"/>
          <p:cNvSpPr/>
          <p:nvPr/>
        </p:nvSpPr>
        <p:spPr>
          <a:xfrm>
            <a:off x="3383280" y="2263140"/>
            <a:ext cx="914400" cy="914400"/>
          </a:xfrm>
          <a:prstGeom prst="ellipse">
            <a:avLst/>
          </a:prstGeom>
          <a:solidFill>
            <a:srgbClr val="E8EFEA"/>
          </a:solidFill>
          <a:ln w="17780">
            <a:solidFill>
              <a:srgbClr val="6E8E7D"/>
            </a:solidFill>
            <a:prstDash val="solid"/>
          </a:ln>
        </p:spPr>
      </p:sp>
      <p:sp>
        <p:nvSpPr>
          <p:cNvPr id="13" name="Text 11"/>
          <p:cNvSpPr/>
          <p:nvPr/>
        </p:nvSpPr>
        <p:spPr>
          <a:xfrm>
            <a:off x="3657600" y="2574036"/>
            <a:ext cx="365760" cy="274320"/>
          </a:xfrm>
          <a:prstGeom prst="rect">
            <a:avLst/>
          </a:prstGeom>
          <a:noFill/>
          <a:ln/>
        </p:spPr>
        <p:txBody>
          <a:bodyPr wrap="square" lIns="0" tIns="0" rIns="0" bIns="0" rtlCol="0" anchor="ctr"/>
          <a:lstStyle/>
          <a:p>
            <a:pPr marL="0" indent="0" algn="ctr">
              <a:buNone/>
            </a:pPr>
            <a:r>
              <a:rPr lang="en-US" sz="1800" b="1" dirty="0">
                <a:solidFill>
                  <a:srgbClr val="6E8E7D"/>
                </a:solidFill>
              </a:rPr>
              <a:t>2</a:t>
            </a:r>
            <a:endParaRPr lang="en-US" sz="1800" dirty="0"/>
          </a:p>
        </p:txBody>
      </p:sp>
      <p:sp>
        <p:nvSpPr>
          <p:cNvPr id="14" name="Text 12"/>
          <p:cNvSpPr/>
          <p:nvPr/>
        </p:nvSpPr>
        <p:spPr>
          <a:xfrm>
            <a:off x="3154680" y="3378708"/>
            <a:ext cx="1371600" cy="640080"/>
          </a:xfrm>
          <a:prstGeom prst="rect">
            <a:avLst/>
          </a:prstGeom>
          <a:noFill/>
          <a:ln/>
        </p:spPr>
        <p:txBody>
          <a:bodyPr wrap="square" lIns="0" tIns="0" rIns="0" bIns="0" rtlCol="0" anchor="ctr">
            <a:normAutofit/>
          </a:bodyPr>
          <a:lstStyle/>
          <a:p>
            <a:pPr marL="0" indent="0" algn="ctr">
              <a:buNone/>
            </a:pPr>
            <a:r>
              <a:rPr lang="en-US" sz="1430" b="1" dirty="0">
                <a:solidFill>
                  <a:srgbClr val="24313A"/>
                </a:solidFill>
              </a:rPr>
              <a:t>Data &amp;</a:t>
            </a:r>
            <a:endParaRPr lang="en-US" sz="1430" dirty="0"/>
          </a:p>
          <a:p>
            <a:pPr marL="0" indent="0" algn="ctr">
              <a:buNone/>
            </a:pPr>
            <a:r>
              <a:rPr lang="en-US" sz="1430" b="1" dirty="0">
                <a:solidFill>
                  <a:srgbClr val="24313A"/>
                </a:solidFill>
              </a:rPr>
              <a:t>labels</a:t>
            </a:r>
            <a:endParaRPr lang="en-US" sz="1430" dirty="0"/>
          </a:p>
        </p:txBody>
      </p:sp>
      <p:sp>
        <p:nvSpPr>
          <p:cNvPr id="15" name="Shape 13"/>
          <p:cNvSpPr/>
          <p:nvPr/>
        </p:nvSpPr>
        <p:spPr>
          <a:xfrm>
            <a:off x="4681728" y="2555748"/>
            <a:ext cx="475488" cy="329184"/>
          </a:xfrm>
          <a:prstGeom prst="chevron">
            <a:avLst/>
          </a:prstGeom>
          <a:solidFill>
            <a:srgbClr val="D8D4CC"/>
          </a:solidFill>
          <a:ln w="12700">
            <a:solidFill>
              <a:srgbClr val="D8D4CC"/>
            </a:solidFill>
            <a:prstDash val="solid"/>
          </a:ln>
        </p:spPr>
        <p:txBody>
          <a:bodyPr/>
          <a:lstStyle/>
          <a:p>
            <a:endParaRPr lang="en-US" dirty="0"/>
          </a:p>
        </p:txBody>
      </p:sp>
      <p:sp>
        <p:nvSpPr>
          <p:cNvPr id="16" name="Shape 14"/>
          <p:cNvSpPr/>
          <p:nvPr/>
        </p:nvSpPr>
        <p:spPr>
          <a:xfrm>
            <a:off x="5532120" y="2263140"/>
            <a:ext cx="914400" cy="914400"/>
          </a:xfrm>
          <a:prstGeom prst="ellipse">
            <a:avLst/>
          </a:prstGeom>
          <a:solidFill>
            <a:srgbClr val="EEEAF2"/>
          </a:solidFill>
          <a:ln w="17780">
            <a:solidFill>
              <a:srgbClr val="756D87"/>
            </a:solidFill>
            <a:prstDash val="solid"/>
          </a:ln>
        </p:spPr>
      </p:sp>
      <p:sp>
        <p:nvSpPr>
          <p:cNvPr id="17" name="Text 15"/>
          <p:cNvSpPr/>
          <p:nvPr/>
        </p:nvSpPr>
        <p:spPr>
          <a:xfrm>
            <a:off x="5806440" y="2574036"/>
            <a:ext cx="365760" cy="274320"/>
          </a:xfrm>
          <a:prstGeom prst="rect">
            <a:avLst/>
          </a:prstGeom>
          <a:noFill/>
          <a:ln/>
        </p:spPr>
        <p:txBody>
          <a:bodyPr wrap="square" lIns="0" tIns="0" rIns="0" bIns="0" rtlCol="0" anchor="ctr"/>
          <a:lstStyle/>
          <a:p>
            <a:pPr marL="0" indent="0" algn="ctr">
              <a:buNone/>
            </a:pPr>
            <a:r>
              <a:rPr lang="en-US" sz="1800" b="1" dirty="0">
                <a:solidFill>
                  <a:srgbClr val="756D87"/>
                </a:solidFill>
              </a:rPr>
              <a:t>3</a:t>
            </a:r>
            <a:endParaRPr lang="en-US" sz="1800" dirty="0"/>
          </a:p>
        </p:txBody>
      </p:sp>
      <p:sp>
        <p:nvSpPr>
          <p:cNvPr id="18" name="Text 16"/>
          <p:cNvSpPr/>
          <p:nvPr/>
        </p:nvSpPr>
        <p:spPr>
          <a:xfrm>
            <a:off x="5303520" y="3378708"/>
            <a:ext cx="1371600" cy="640080"/>
          </a:xfrm>
          <a:prstGeom prst="rect">
            <a:avLst/>
          </a:prstGeom>
          <a:noFill/>
          <a:ln/>
        </p:spPr>
        <p:txBody>
          <a:bodyPr wrap="square" lIns="0" tIns="0" rIns="0" bIns="0" rtlCol="0" anchor="ctr">
            <a:normAutofit/>
          </a:bodyPr>
          <a:lstStyle/>
          <a:p>
            <a:pPr marL="0" indent="0" algn="ctr">
              <a:buNone/>
            </a:pPr>
            <a:r>
              <a:rPr lang="en-US" sz="1430" b="1" dirty="0">
                <a:solidFill>
                  <a:srgbClr val="24313A"/>
                </a:solidFill>
              </a:rPr>
              <a:t>Modeling</a:t>
            </a:r>
            <a:endParaRPr lang="en-US" sz="1430" dirty="0"/>
          </a:p>
          <a:p>
            <a:pPr marL="0" indent="0" algn="ctr">
              <a:buNone/>
            </a:pPr>
            <a:r>
              <a:rPr lang="en-US" sz="1430" b="1" dirty="0">
                <a:solidFill>
                  <a:srgbClr val="24313A"/>
                </a:solidFill>
              </a:rPr>
              <a:t>approach</a:t>
            </a:r>
            <a:endParaRPr lang="en-US" sz="1430" dirty="0"/>
          </a:p>
        </p:txBody>
      </p:sp>
      <p:sp>
        <p:nvSpPr>
          <p:cNvPr id="19" name="Shape 17"/>
          <p:cNvSpPr/>
          <p:nvPr/>
        </p:nvSpPr>
        <p:spPr>
          <a:xfrm>
            <a:off x="6821424" y="2541616"/>
            <a:ext cx="475488" cy="329184"/>
          </a:xfrm>
          <a:prstGeom prst="chevron">
            <a:avLst/>
          </a:prstGeom>
          <a:solidFill>
            <a:srgbClr val="D8D4CC"/>
          </a:solidFill>
          <a:ln w="12700">
            <a:solidFill>
              <a:srgbClr val="D8D4CC"/>
            </a:solidFill>
            <a:prstDash val="solid"/>
          </a:ln>
        </p:spPr>
      </p:sp>
      <p:sp>
        <p:nvSpPr>
          <p:cNvPr id="20" name="Shape 18"/>
          <p:cNvSpPr/>
          <p:nvPr/>
        </p:nvSpPr>
        <p:spPr>
          <a:xfrm>
            <a:off x="7680960" y="2263140"/>
            <a:ext cx="914400" cy="914400"/>
          </a:xfrm>
          <a:prstGeom prst="ellipse">
            <a:avLst/>
          </a:prstGeom>
          <a:solidFill>
            <a:srgbClr val="F4E9E4"/>
          </a:solidFill>
          <a:ln w="17780">
            <a:solidFill>
              <a:srgbClr val="B87461"/>
            </a:solidFill>
            <a:prstDash val="solid"/>
          </a:ln>
        </p:spPr>
      </p:sp>
      <p:sp>
        <p:nvSpPr>
          <p:cNvPr id="21" name="Text 19"/>
          <p:cNvSpPr/>
          <p:nvPr/>
        </p:nvSpPr>
        <p:spPr>
          <a:xfrm>
            <a:off x="7955280" y="2574036"/>
            <a:ext cx="365760" cy="274320"/>
          </a:xfrm>
          <a:prstGeom prst="rect">
            <a:avLst/>
          </a:prstGeom>
          <a:noFill/>
          <a:ln/>
        </p:spPr>
        <p:txBody>
          <a:bodyPr wrap="square" lIns="0" tIns="0" rIns="0" bIns="0" rtlCol="0" anchor="ctr"/>
          <a:lstStyle/>
          <a:p>
            <a:pPr marL="0" indent="0" algn="ctr">
              <a:buNone/>
            </a:pPr>
            <a:r>
              <a:rPr lang="en-US" sz="1800" b="1" dirty="0">
                <a:solidFill>
                  <a:srgbClr val="B87461"/>
                </a:solidFill>
              </a:rPr>
              <a:t>4</a:t>
            </a:r>
            <a:endParaRPr lang="en-US" sz="1800" dirty="0"/>
          </a:p>
        </p:txBody>
      </p:sp>
      <p:sp>
        <p:nvSpPr>
          <p:cNvPr id="22" name="Text 20"/>
          <p:cNvSpPr/>
          <p:nvPr/>
        </p:nvSpPr>
        <p:spPr>
          <a:xfrm>
            <a:off x="7452360" y="3378708"/>
            <a:ext cx="1371600" cy="640080"/>
          </a:xfrm>
          <a:prstGeom prst="rect">
            <a:avLst/>
          </a:prstGeom>
          <a:noFill/>
          <a:ln/>
        </p:spPr>
        <p:txBody>
          <a:bodyPr wrap="square" lIns="0" tIns="0" rIns="0" bIns="0" rtlCol="0" anchor="ctr">
            <a:normAutofit/>
          </a:bodyPr>
          <a:lstStyle/>
          <a:p>
            <a:pPr marL="0" indent="0" algn="ctr">
              <a:buNone/>
            </a:pPr>
            <a:r>
              <a:rPr lang="en-US" sz="1430" b="1" dirty="0">
                <a:solidFill>
                  <a:srgbClr val="24313A"/>
                </a:solidFill>
              </a:rPr>
              <a:t>Results &amp;</a:t>
            </a:r>
            <a:endParaRPr lang="en-US" sz="1430" dirty="0"/>
          </a:p>
          <a:p>
            <a:pPr marL="0" indent="0" algn="ctr">
              <a:buNone/>
            </a:pPr>
            <a:r>
              <a:rPr lang="en-US" sz="1430" b="1" dirty="0">
                <a:solidFill>
                  <a:srgbClr val="24313A"/>
                </a:solidFill>
              </a:rPr>
              <a:t>insights</a:t>
            </a:r>
            <a:endParaRPr lang="en-US" sz="1430" dirty="0"/>
          </a:p>
        </p:txBody>
      </p:sp>
      <p:sp>
        <p:nvSpPr>
          <p:cNvPr id="23" name="Shape 21"/>
          <p:cNvSpPr/>
          <p:nvPr/>
        </p:nvSpPr>
        <p:spPr>
          <a:xfrm>
            <a:off x="8974836" y="2541616"/>
            <a:ext cx="475488" cy="329184"/>
          </a:xfrm>
          <a:prstGeom prst="chevron">
            <a:avLst/>
          </a:prstGeom>
          <a:solidFill>
            <a:srgbClr val="D8D4CC"/>
          </a:solidFill>
          <a:ln w="12700">
            <a:solidFill>
              <a:srgbClr val="D8D4CC"/>
            </a:solidFill>
            <a:prstDash val="solid"/>
          </a:ln>
        </p:spPr>
      </p:sp>
      <p:sp>
        <p:nvSpPr>
          <p:cNvPr id="24" name="Shape 22"/>
          <p:cNvSpPr/>
          <p:nvPr/>
        </p:nvSpPr>
        <p:spPr>
          <a:xfrm>
            <a:off x="9829800" y="2263140"/>
            <a:ext cx="914400" cy="914400"/>
          </a:xfrm>
          <a:prstGeom prst="ellipse">
            <a:avLst/>
          </a:prstGeom>
          <a:solidFill>
            <a:srgbClr val="F3EEDC"/>
          </a:solidFill>
          <a:ln w="17780">
            <a:solidFill>
              <a:srgbClr val="C6A25D"/>
            </a:solidFill>
            <a:prstDash val="solid"/>
          </a:ln>
        </p:spPr>
      </p:sp>
      <p:sp>
        <p:nvSpPr>
          <p:cNvPr id="25" name="Text 23"/>
          <p:cNvSpPr/>
          <p:nvPr/>
        </p:nvSpPr>
        <p:spPr>
          <a:xfrm>
            <a:off x="10104120" y="2574036"/>
            <a:ext cx="365760" cy="274320"/>
          </a:xfrm>
          <a:prstGeom prst="rect">
            <a:avLst/>
          </a:prstGeom>
          <a:noFill/>
          <a:ln/>
        </p:spPr>
        <p:txBody>
          <a:bodyPr wrap="square" lIns="0" tIns="0" rIns="0" bIns="0" rtlCol="0" anchor="ctr"/>
          <a:lstStyle/>
          <a:p>
            <a:pPr marL="0" indent="0" algn="ctr">
              <a:buNone/>
            </a:pPr>
            <a:r>
              <a:rPr lang="en-US" sz="1800" b="1" dirty="0">
                <a:solidFill>
                  <a:srgbClr val="C6A25D"/>
                </a:solidFill>
              </a:rPr>
              <a:t>5</a:t>
            </a:r>
            <a:endParaRPr lang="en-US" sz="1800" dirty="0"/>
          </a:p>
        </p:txBody>
      </p:sp>
      <p:sp>
        <p:nvSpPr>
          <p:cNvPr id="26" name="Text 24"/>
          <p:cNvSpPr/>
          <p:nvPr/>
        </p:nvSpPr>
        <p:spPr>
          <a:xfrm>
            <a:off x="9601200" y="3378708"/>
            <a:ext cx="1371600" cy="640080"/>
          </a:xfrm>
          <a:prstGeom prst="rect">
            <a:avLst/>
          </a:prstGeom>
          <a:noFill/>
          <a:ln/>
        </p:spPr>
        <p:txBody>
          <a:bodyPr wrap="square" lIns="0" tIns="0" rIns="0" bIns="0" rtlCol="0" anchor="ctr">
            <a:normAutofit/>
          </a:bodyPr>
          <a:lstStyle/>
          <a:p>
            <a:pPr marL="0" indent="0" algn="ctr">
              <a:buNone/>
            </a:pPr>
            <a:r>
              <a:rPr lang="en-US" sz="1430" b="1" dirty="0">
                <a:solidFill>
                  <a:srgbClr val="24313A"/>
                </a:solidFill>
              </a:rPr>
              <a:t>Conclusion &amp;</a:t>
            </a:r>
            <a:endParaRPr lang="en-US" sz="1430" dirty="0"/>
          </a:p>
          <a:p>
            <a:pPr marL="0" indent="0" algn="ctr">
              <a:buNone/>
            </a:pPr>
            <a:r>
              <a:rPr lang="en-US" sz="1430" b="1" dirty="0">
                <a:solidFill>
                  <a:srgbClr val="24313A"/>
                </a:solidFill>
              </a:rPr>
              <a:t>future work</a:t>
            </a:r>
            <a:endParaRPr lang="en-US" sz="1430" dirty="0"/>
          </a:p>
        </p:txBody>
      </p:sp>
      <p:sp>
        <p:nvSpPr>
          <p:cNvPr id="27" name="Shape 25"/>
          <p:cNvSpPr/>
          <p:nvPr/>
        </p:nvSpPr>
        <p:spPr>
          <a:xfrm>
            <a:off x="841248" y="4791456"/>
            <a:ext cx="10424160" cy="713232"/>
          </a:xfrm>
          <a:prstGeom prst="roundRect">
            <a:avLst>
              <a:gd name="adj" fmla="val 15385"/>
            </a:avLst>
          </a:prstGeom>
          <a:solidFill>
            <a:srgbClr val="F0EEE8"/>
          </a:solidFill>
          <a:ln w="11430">
            <a:solidFill>
              <a:srgbClr val="F0EEE8"/>
            </a:solidFill>
            <a:prstDash val="solid"/>
          </a:ln>
        </p:spPr>
      </p:sp>
      <p:sp>
        <p:nvSpPr>
          <p:cNvPr id="28" name="Shape 26"/>
          <p:cNvSpPr/>
          <p:nvPr/>
        </p:nvSpPr>
        <p:spPr>
          <a:xfrm>
            <a:off x="841248" y="4791456"/>
            <a:ext cx="50292" cy="713232"/>
          </a:xfrm>
          <a:prstGeom prst="rect">
            <a:avLst/>
          </a:prstGeom>
          <a:solidFill>
            <a:srgbClr val="6E8E7D"/>
          </a:solidFill>
          <a:ln w="12700">
            <a:solidFill>
              <a:srgbClr val="6E8E7D"/>
            </a:solidFill>
            <a:prstDash val="solid"/>
          </a:ln>
        </p:spPr>
      </p:sp>
      <p:sp>
        <p:nvSpPr>
          <p:cNvPr id="29" name="Text 27"/>
          <p:cNvSpPr/>
          <p:nvPr/>
        </p:nvSpPr>
        <p:spPr>
          <a:xfrm>
            <a:off x="996696" y="4864608"/>
            <a:ext cx="10186416" cy="566928"/>
          </a:xfrm>
          <a:prstGeom prst="rect">
            <a:avLst/>
          </a:prstGeom>
          <a:noFill/>
          <a:ln/>
        </p:spPr>
        <p:txBody>
          <a:bodyPr wrap="square" lIns="0" tIns="0" rIns="0" bIns="0" rtlCol="0" anchor="ctr">
            <a:normAutofit/>
          </a:bodyPr>
          <a:lstStyle/>
          <a:p>
            <a:pPr marL="0" indent="0">
              <a:buNone/>
            </a:pPr>
            <a:r>
              <a:rPr lang="en-US" sz="1320" dirty="0">
                <a:solidFill>
                  <a:srgbClr val="28343D"/>
                </a:solidFill>
              </a:rPr>
              <a:t>We spend most of the time on the approach and locked-test results; EDA and implementation details are kept compact.</a:t>
            </a:r>
            <a:endParaRPr lang="en-US" sz="1320" dirty="0"/>
          </a:p>
        </p:txBody>
      </p:sp>
      <p:sp>
        <p:nvSpPr>
          <p:cNvPr id="30"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94360" y="347472"/>
            <a:ext cx="2834640" cy="164592"/>
          </a:xfrm>
          <a:prstGeom prst="rect">
            <a:avLst/>
          </a:prstGeom>
          <a:noFill/>
          <a:ln/>
        </p:spPr>
        <p:txBody>
          <a:bodyPr wrap="square" lIns="0" tIns="0" rIns="0" bIns="0" rtlCol="0" anchor="ctr"/>
          <a:lstStyle/>
          <a:p>
            <a:pPr marL="0" indent="0">
              <a:buNone/>
            </a:pPr>
            <a:r>
              <a:rPr lang="en-US" sz="850" b="1" kern="0" spc="120" dirty="0">
                <a:solidFill>
                  <a:srgbClr val="6E8E7D"/>
                </a:solidFill>
              </a:rPr>
              <a:t>WHY THIS PROJECT</a:t>
            </a:r>
            <a:endParaRPr lang="en-US" sz="850" dirty="0"/>
          </a:p>
        </p:txBody>
      </p:sp>
      <p:sp>
        <p:nvSpPr>
          <p:cNvPr id="3" name="Text 1"/>
          <p:cNvSpPr/>
          <p:nvPr/>
        </p:nvSpPr>
        <p:spPr>
          <a:xfrm>
            <a:off x="594360" y="566928"/>
            <a:ext cx="10698480" cy="502920"/>
          </a:xfrm>
          <a:prstGeom prst="rect">
            <a:avLst/>
          </a:prstGeom>
          <a:noFill/>
          <a:ln/>
        </p:spPr>
        <p:txBody>
          <a:bodyPr wrap="square" lIns="0" tIns="0" rIns="0" bIns="0" rtlCol="0" anchor="ctr"/>
          <a:lstStyle/>
          <a:p>
            <a:pPr marL="0" indent="0">
              <a:buNone/>
            </a:pPr>
            <a:r>
              <a:rPr lang="en-US" sz="2800" b="1" dirty="0">
                <a:solidFill>
                  <a:srgbClr val="24313A"/>
                </a:solidFill>
              </a:rPr>
              <a:t>Problem, importance, and prior work</a:t>
            </a:r>
            <a:endParaRPr lang="en-US" sz="2800" dirty="0"/>
          </a:p>
        </p:txBody>
      </p:sp>
      <p:sp>
        <p:nvSpPr>
          <p:cNvPr id="4" name="Shape 2"/>
          <p:cNvSpPr/>
          <p:nvPr/>
        </p:nvSpPr>
        <p:spPr>
          <a:xfrm>
            <a:off x="594360" y="1143000"/>
            <a:ext cx="658368" cy="0"/>
          </a:xfrm>
          <a:prstGeom prst="line">
            <a:avLst/>
          </a:prstGeom>
          <a:noFill/>
          <a:ln w="27940">
            <a:solidFill>
              <a:srgbClr val="B87461"/>
            </a:solidFill>
            <a:prstDash val="solid"/>
          </a:ln>
        </p:spPr>
      </p:sp>
      <p:sp>
        <p:nvSpPr>
          <p:cNvPr id="5" name="Shape 3"/>
          <p:cNvSpPr/>
          <p:nvPr/>
        </p:nvSpPr>
        <p:spPr>
          <a:xfrm>
            <a:off x="10332720" y="384048"/>
            <a:ext cx="1234440" cy="256032"/>
          </a:xfrm>
          <a:prstGeom prst="roundRect">
            <a:avLst/>
          </a:prstGeom>
          <a:solidFill>
            <a:srgbClr val="E8EFEA"/>
          </a:solidFill>
          <a:ln w="12700">
            <a:solidFill>
              <a:srgbClr val="E8EFEA"/>
            </a:solidFill>
            <a:prstDash val="solid"/>
          </a:ln>
        </p:spPr>
      </p:sp>
      <p:sp>
        <p:nvSpPr>
          <p:cNvPr id="6" name="Text 4"/>
          <p:cNvSpPr/>
          <p:nvPr/>
        </p:nvSpPr>
        <p:spPr>
          <a:xfrm>
            <a:off x="10387584" y="416052"/>
            <a:ext cx="1124712" cy="146304"/>
          </a:xfrm>
          <a:prstGeom prst="rect">
            <a:avLst/>
          </a:prstGeom>
          <a:noFill/>
          <a:ln/>
        </p:spPr>
        <p:txBody>
          <a:bodyPr wrap="square" lIns="0" tIns="0" rIns="0" bIns="0" rtlCol="0" anchor="ctr"/>
          <a:lstStyle/>
          <a:p>
            <a:pPr marL="0" indent="0" algn="ctr">
              <a:buNone/>
            </a:pPr>
            <a:r>
              <a:rPr lang="en-US" sz="740" b="1" dirty="0">
                <a:solidFill>
                  <a:srgbClr val="6E8E7D"/>
                </a:solidFill>
              </a:rPr>
              <a:t>3 / 11</a:t>
            </a:r>
            <a:endParaRPr lang="en-US" sz="740" dirty="0"/>
          </a:p>
        </p:txBody>
      </p:sp>
      <p:sp>
        <p:nvSpPr>
          <p:cNvPr id="7" name="Shape 5"/>
          <p:cNvSpPr/>
          <p:nvPr/>
        </p:nvSpPr>
        <p:spPr>
          <a:xfrm>
            <a:off x="621792" y="1481328"/>
            <a:ext cx="3127248" cy="4315968"/>
          </a:xfrm>
          <a:prstGeom prst="roundRect">
            <a:avLst>
              <a:gd name="adj" fmla="val 3509"/>
            </a:avLst>
          </a:prstGeom>
          <a:solidFill>
            <a:srgbClr val="E9F0F4"/>
          </a:solidFill>
          <a:ln w="11430">
            <a:solidFill>
              <a:srgbClr val="E9F0F4"/>
            </a:solidFill>
            <a:prstDash val="solid"/>
          </a:ln>
        </p:spPr>
      </p:sp>
      <p:sp>
        <p:nvSpPr>
          <p:cNvPr id="8" name="Shape 6"/>
          <p:cNvSpPr/>
          <p:nvPr/>
        </p:nvSpPr>
        <p:spPr>
          <a:xfrm>
            <a:off x="621792" y="1481328"/>
            <a:ext cx="54864" cy="4315968"/>
          </a:xfrm>
          <a:prstGeom prst="rect">
            <a:avLst/>
          </a:prstGeom>
          <a:solidFill>
            <a:srgbClr val="5C7F96"/>
          </a:solidFill>
          <a:ln w="12700">
            <a:solidFill>
              <a:srgbClr val="5C7F96"/>
            </a:solidFill>
            <a:prstDash val="solid"/>
          </a:ln>
        </p:spPr>
      </p:sp>
      <p:sp>
        <p:nvSpPr>
          <p:cNvPr id="9" name="Text 7"/>
          <p:cNvSpPr/>
          <p:nvPr/>
        </p:nvSpPr>
        <p:spPr>
          <a:xfrm>
            <a:off x="896112" y="1755648"/>
            <a:ext cx="2468880" cy="329184"/>
          </a:xfrm>
          <a:prstGeom prst="rect">
            <a:avLst/>
          </a:prstGeom>
          <a:noFill/>
          <a:ln/>
        </p:spPr>
        <p:txBody>
          <a:bodyPr wrap="square" lIns="0" tIns="0" rIns="0" bIns="0" rtlCol="0" anchor="ctr"/>
          <a:lstStyle/>
          <a:p>
            <a:pPr marL="0" indent="0">
              <a:buNone/>
            </a:pPr>
            <a:r>
              <a:rPr lang="en-US" sz="1850" b="1" dirty="0">
                <a:solidFill>
                  <a:srgbClr val="24313A"/>
                </a:solidFill>
              </a:rPr>
              <a:t>The problem</a:t>
            </a:r>
            <a:endParaRPr lang="en-US" sz="1850" dirty="0"/>
          </a:p>
        </p:txBody>
      </p:sp>
      <p:sp>
        <p:nvSpPr>
          <p:cNvPr id="10" name="Shape 8"/>
          <p:cNvSpPr/>
          <p:nvPr/>
        </p:nvSpPr>
        <p:spPr>
          <a:xfrm>
            <a:off x="905256" y="2450592"/>
            <a:ext cx="64008" cy="64008"/>
          </a:xfrm>
          <a:prstGeom prst="ellipse">
            <a:avLst/>
          </a:prstGeom>
          <a:solidFill>
            <a:srgbClr val="5C7F96"/>
          </a:solidFill>
          <a:ln w="12700">
            <a:solidFill>
              <a:srgbClr val="5C7F96"/>
            </a:solidFill>
            <a:prstDash val="solid"/>
          </a:ln>
        </p:spPr>
      </p:sp>
      <p:sp>
        <p:nvSpPr>
          <p:cNvPr id="11" name="Text 9"/>
          <p:cNvSpPr/>
          <p:nvPr/>
        </p:nvSpPr>
        <p:spPr>
          <a:xfrm>
            <a:off x="1069848" y="2331720"/>
            <a:ext cx="2423160" cy="868680"/>
          </a:xfrm>
          <a:prstGeom prst="rect">
            <a:avLst/>
          </a:prstGeom>
          <a:noFill/>
          <a:ln/>
        </p:spPr>
        <p:txBody>
          <a:bodyPr wrap="square" lIns="0" tIns="0" rIns="0" bIns="0" rtlCol="0" anchor="ctr">
            <a:normAutofit/>
          </a:bodyPr>
          <a:lstStyle/>
          <a:p>
            <a:pPr marL="0" indent="0">
              <a:buNone/>
            </a:pPr>
            <a:r>
              <a:rPr lang="en-US" sz="1310" dirty="0">
                <a:solidFill>
                  <a:srgbClr val="28343D"/>
                </a:solidFill>
              </a:rPr>
              <a:t>Predict a continuous stress score from Persian forum posts.</a:t>
            </a:r>
            <a:endParaRPr lang="en-US" sz="1310" dirty="0"/>
          </a:p>
        </p:txBody>
      </p:sp>
      <p:sp>
        <p:nvSpPr>
          <p:cNvPr id="12" name="Shape 10"/>
          <p:cNvSpPr/>
          <p:nvPr/>
        </p:nvSpPr>
        <p:spPr>
          <a:xfrm>
            <a:off x="905256" y="3346704"/>
            <a:ext cx="64008" cy="64008"/>
          </a:xfrm>
          <a:prstGeom prst="ellipse">
            <a:avLst/>
          </a:prstGeom>
          <a:solidFill>
            <a:srgbClr val="5C7F96"/>
          </a:solidFill>
          <a:ln w="12700">
            <a:solidFill>
              <a:srgbClr val="5C7F96"/>
            </a:solidFill>
            <a:prstDash val="solid"/>
          </a:ln>
        </p:spPr>
      </p:sp>
      <p:sp>
        <p:nvSpPr>
          <p:cNvPr id="13" name="Text 11"/>
          <p:cNvSpPr/>
          <p:nvPr/>
        </p:nvSpPr>
        <p:spPr>
          <a:xfrm>
            <a:off x="1069848" y="3227832"/>
            <a:ext cx="2423160" cy="868680"/>
          </a:xfrm>
          <a:prstGeom prst="rect">
            <a:avLst/>
          </a:prstGeom>
          <a:noFill/>
          <a:ln/>
        </p:spPr>
        <p:txBody>
          <a:bodyPr wrap="square" lIns="0" tIns="0" rIns="0" bIns="0" rtlCol="0" anchor="ctr">
            <a:normAutofit/>
          </a:bodyPr>
          <a:lstStyle/>
          <a:p>
            <a:pPr marL="0" indent="0">
              <a:buNone/>
            </a:pPr>
            <a:r>
              <a:rPr lang="en-US" sz="1310" dirty="0">
                <a:solidFill>
                  <a:srgbClr val="28343D"/>
                </a:solidFill>
              </a:rPr>
              <a:t>Convert scores into Low / Moderate / High / Very High stress classes.</a:t>
            </a:r>
            <a:endParaRPr lang="en-US" sz="1310" dirty="0"/>
          </a:p>
        </p:txBody>
      </p:sp>
      <p:sp>
        <p:nvSpPr>
          <p:cNvPr id="14" name="Shape 12"/>
          <p:cNvSpPr/>
          <p:nvPr/>
        </p:nvSpPr>
        <p:spPr>
          <a:xfrm>
            <a:off x="905256" y="4242816"/>
            <a:ext cx="64008" cy="64008"/>
          </a:xfrm>
          <a:prstGeom prst="ellipse">
            <a:avLst/>
          </a:prstGeom>
          <a:solidFill>
            <a:srgbClr val="5C7F96"/>
          </a:solidFill>
          <a:ln w="12700">
            <a:solidFill>
              <a:srgbClr val="5C7F96"/>
            </a:solidFill>
            <a:prstDash val="solid"/>
          </a:ln>
        </p:spPr>
      </p:sp>
      <p:sp>
        <p:nvSpPr>
          <p:cNvPr id="15" name="Text 13"/>
          <p:cNvSpPr/>
          <p:nvPr/>
        </p:nvSpPr>
        <p:spPr>
          <a:xfrm>
            <a:off x="1069848" y="4123944"/>
            <a:ext cx="2423160" cy="868680"/>
          </a:xfrm>
          <a:prstGeom prst="rect">
            <a:avLst/>
          </a:prstGeom>
          <a:noFill/>
          <a:ln/>
        </p:spPr>
        <p:txBody>
          <a:bodyPr wrap="square" lIns="0" tIns="0" rIns="0" bIns="0" rtlCol="0" anchor="ctr">
            <a:normAutofit/>
          </a:bodyPr>
          <a:lstStyle/>
          <a:p>
            <a:pPr marL="0" indent="0">
              <a:buNone/>
            </a:pPr>
            <a:r>
              <a:rPr lang="en-US" sz="1310" dirty="0">
                <a:solidFill>
                  <a:srgbClr val="28343D"/>
                </a:solidFill>
              </a:rPr>
              <a:t>Work with noisy, informal, imbalanced user-generated text.</a:t>
            </a:r>
            <a:endParaRPr lang="en-US" sz="1310" dirty="0"/>
          </a:p>
        </p:txBody>
      </p:sp>
      <p:sp>
        <p:nvSpPr>
          <p:cNvPr id="16" name="Shape 14"/>
          <p:cNvSpPr/>
          <p:nvPr/>
        </p:nvSpPr>
        <p:spPr>
          <a:xfrm>
            <a:off x="4133088" y="1481328"/>
            <a:ext cx="3127248" cy="4315968"/>
          </a:xfrm>
          <a:prstGeom prst="roundRect">
            <a:avLst>
              <a:gd name="adj" fmla="val 3509"/>
            </a:avLst>
          </a:prstGeom>
          <a:solidFill>
            <a:srgbClr val="E8EFEA"/>
          </a:solidFill>
          <a:ln w="11430">
            <a:solidFill>
              <a:srgbClr val="E8EFEA"/>
            </a:solidFill>
            <a:prstDash val="solid"/>
          </a:ln>
        </p:spPr>
      </p:sp>
      <p:sp>
        <p:nvSpPr>
          <p:cNvPr id="17" name="Shape 15"/>
          <p:cNvSpPr/>
          <p:nvPr/>
        </p:nvSpPr>
        <p:spPr>
          <a:xfrm>
            <a:off x="4133088" y="1481328"/>
            <a:ext cx="54864" cy="4315968"/>
          </a:xfrm>
          <a:prstGeom prst="rect">
            <a:avLst/>
          </a:prstGeom>
          <a:solidFill>
            <a:srgbClr val="6E8E7D"/>
          </a:solidFill>
          <a:ln w="12700">
            <a:solidFill>
              <a:srgbClr val="6E8E7D"/>
            </a:solidFill>
            <a:prstDash val="solid"/>
          </a:ln>
        </p:spPr>
      </p:sp>
      <p:sp>
        <p:nvSpPr>
          <p:cNvPr id="18" name="Text 16"/>
          <p:cNvSpPr/>
          <p:nvPr/>
        </p:nvSpPr>
        <p:spPr>
          <a:xfrm>
            <a:off x="4407408" y="1755648"/>
            <a:ext cx="2468880" cy="329184"/>
          </a:xfrm>
          <a:prstGeom prst="rect">
            <a:avLst/>
          </a:prstGeom>
          <a:noFill/>
          <a:ln/>
        </p:spPr>
        <p:txBody>
          <a:bodyPr wrap="square" lIns="0" tIns="0" rIns="0" bIns="0" rtlCol="0" anchor="ctr"/>
          <a:lstStyle/>
          <a:p>
            <a:pPr marL="0" indent="0">
              <a:buNone/>
            </a:pPr>
            <a:r>
              <a:rPr lang="en-US" sz="1850" b="1" dirty="0">
                <a:solidFill>
                  <a:srgbClr val="24313A"/>
                </a:solidFill>
              </a:rPr>
              <a:t>Why it matters</a:t>
            </a:r>
            <a:endParaRPr lang="en-US" sz="1850" dirty="0"/>
          </a:p>
        </p:txBody>
      </p:sp>
      <p:sp>
        <p:nvSpPr>
          <p:cNvPr id="19" name="Shape 17"/>
          <p:cNvSpPr/>
          <p:nvPr/>
        </p:nvSpPr>
        <p:spPr>
          <a:xfrm>
            <a:off x="4416552" y="2450592"/>
            <a:ext cx="64008" cy="64008"/>
          </a:xfrm>
          <a:prstGeom prst="ellipse">
            <a:avLst/>
          </a:prstGeom>
          <a:solidFill>
            <a:srgbClr val="6E8E7D"/>
          </a:solidFill>
          <a:ln w="12700">
            <a:solidFill>
              <a:srgbClr val="6E8E7D"/>
            </a:solidFill>
            <a:prstDash val="solid"/>
          </a:ln>
        </p:spPr>
      </p:sp>
      <p:sp>
        <p:nvSpPr>
          <p:cNvPr id="20" name="Text 18"/>
          <p:cNvSpPr/>
          <p:nvPr/>
        </p:nvSpPr>
        <p:spPr>
          <a:xfrm>
            <a:off x="4581144" y="2331720"/>
            <a:ext cx="2423160" cy="868680"/>
          </a:xfrm>
          <a:prstGeom prst="rect">
            <a:avLst/>
          </a:prstGeom>
          <a:noFill/>
          <a:ln/>
        </p:spPr>
        <p:txBody>
          <a:bodyPr wrap="square" lIns="0" tIns="0" rIns="0" bIns="0" rtlCol="0" anchor="ctr">
            <a:normAutofit/>
          </a:bodyPr>
          <a:lstStyle/>
          <a:p>
            <a:pPr marL="0" indent="0">
              <a:buNone/>
            </a:pPr>
            <a:r>
              <a:rPr lang="en-US" sz="1310" dirty="0">
                <a:solidFill>
                  <a:srgbClr val="28343D"/>
                </a:solidFill>
              </a:rPr>
              <a:t>Pregnancy forums contain emotional, social, and health-related stress signals.</a:t>
            </a:r>
            <a:endParaRPr lang="en-US" sz="1310" dirty="0"/>
          </a:p>
        </p:txBody>
      </p:sp>
      <p:sp>
        <p:nvSpPr>
          <p:cNvPr id="21" name="Shape 19"/>
          <p:cNvSpPr/>
          <p:nvPr/>
        </p:nvSpPr>
        <p:spPr>
          <a:xfrm>
            <a:off x="4416552" y="3346704"/>
            <a:ext cx="64008" cy="64008"/>
          </a:xfrm>
          <a:prstGeom prst="ellipse">
            <a:avLst/>
          </a:prstGeom>
          <a:solidFill>
            <a:srgbClr val="6E8E7D"/>
          </a:solidFill>
          <a:ln w="12700">
            <a:solidFill>
              <a:srgbClr val="6E8E7D"/>
            </a:solidFill>
            <a:prstDash val="solid"/>
          </a:ln>
        </p:spPr>
      </p:sp>
      <p:sp>
        <p:nvSpPr>
          <p:cNvPr id="22" name="Text 20"/>
          <p:cNvSpPr/>
          <p:nvPr/>
        </p:nvSpPr>
        <p:spPr>
          <a:xfrm>
            <a:off x="4581144" y="3227832"/>
            <a:ext cx="2423160" cy="868680"/>
          </a:xfrm>
          <a:prstGeom prst="rect">
            <a:avLst/>
          </a:prstGeom>
          <a:noFill/>
          <a:ln/>
        </p:spPr>
        <p:txBody>
          <a:bodyPr wrap="square" lIns="0" tIns="0" rIns="0" bIns="0" rtlCol="0" anchor="ctr">
            <a:normAutofit/>
          </a:bodyPr>
          <a:lstStyle/>
          <a:p>
            <a:pPr marL="0" indent="0">
              <a:buNone/>
            </a:pPr>
            <a:r>
              <a:rPr lang="en-US" sz="1310" dirty="0">
                <a:solidFill>
                  <a:srgbClr val="28343D"/>
                </a:solidFill>
              </a:rPr>
              <a:t>Earlier surfacing can help moderators or qualified reviewers prioritize support.</a:t>
            </a:r>
            <a:endParaRPr lang="en-US" sz="1310" dirty="0"/>
          </a:p>
        </p:txBody>
      </p:sp>
      <p:sp>
        <p:nvSpPr>
          <p:cNvPr id="23" name="Shape 21"/>
          <p:cNvSpPr/>
          <p:nvPr/>
        </p:nvSpPr>
        <p:spPr>
          <a:xfrm>
            <a:off x="4416552" y="4242816"/>
            <a:ext cx="64008" cy="64008"/>
          </a:xfrm>
          <a:prstGeom prst="ellipse">
            <a:avLst/>
          </a:prstGeom>
          <a:solidFill>
            <a:srgbClr val="6E8E7D"/>
          </a:solidFill>
          <a:ln w="12700">
            <a:solidFill>
              <a:srgbClr val="6E8E7D"/>
            </a:solidFill>
            <a:prstDash val="solid"/>
          </a:ln>
        </p:spPr>
      </p:sp>
      <p:sp>
        <p:nvSpPr>
          <p:cNvPr id="24" name="Text 22"/>
          <p:cNvSpPr/>
          <p:nvPr/>
        </p:nvSpPr>
        <p:spPr>
          <a:xfrm>
            <a:off x="4581144" y="4123944"/>
            <a:ext cx="2423160" cy="868680"/>
          </a:xfrm>
          <a:prstGeom prst="rect">
            <a:avLst/>
          </a:prstGeom>
          <a:noFill/>
          <a:ln/>
        </p:spPr>
        <p:txBody>
          <a:bodyPr wrap="square" lIns="0" tIns="0" rIns="0" bIns="0" rtlCol="0" anchor="ctr">
            <a:normAutofit/>
          </a:bodyPr>
          <a:lstStyle/>
          <a:p>
            <a:pPr marL="0" indent="0">
              <a:buNone/>
            </a:pPr>
            <a:r>
              <a:rPr lang="en-US" sz="1310" dirty="0">
                <a:solidFill>
                  <a:srgbClr val="28343D"/>
                </a:solidFill>
              </a:rPr>
              <a:t>The useful product is longitudinal monitoring—not a one-post diagnosis.</a:t>
            </a:r>
            <a:endParaRPr lang="en-US" sz="1310" dirty="0"/>
          </a:p>
        </p:txBody>
      </p:sp>
      <p:sp>
        <p:nvSpPr>
          <p:cNvPr id="25" name="Shape 23"/>
          <p:cNvSpPr/>
          <p:nvPr/>
        </p:nvSpPr>
        <p:spPr>
          <a:xfrm>
            <a:off x="7644384" y="1481328"/>
            <a:ext cx="3127248" cy="4315968"/>
          </a:xfrm>
          <a:prstGeom prst="roundRect">
            <a:avLst>
              <a:gd name="adj" fmla="val 3509"/>
            </a:avLst>
          </a:prstGeom>
          <a:solidFill>
            <a:srgbClr val="EEEAF2"/>
          </a:solidFill>
          <a:ln w="11430">
            <a:solidFill>
              <a:srgbClr val="EEEAF2"/>
            </a:solidFill>
            <a:prstDash val="solid"/>
          </a:ln>
        </p:spPr>
      </p:sp>
      <p:sp>
        <p:nvSpPr>
          <p:cNvPr id="26" name="Shape 24"/>
          <p:cNvSpPr/>
          <p:nvPr/>
        </p:nvSpPr>
        <p:spPr>
          <a:xfrm>
            <a:off x="7644384" y="1481328"/>
            <a:ext cx="54864" cy="4315968"/>
          </a:xfrm>
          <a:prstGeom prst="rect">
            <a:avLst/>
          </a:prstGeom>
          <a:solidFill>
            <a:srgbClr val="756D87"/>
          </a:solidFill>
          <a:ln w="12700">
            <a:solidFill>
              <a:srgbClr val="756D87"/>
            </a:solidFill>
            <a:prstDash val="solid"/>
          </a:ln>
        </p:spPr>
      </p:sp>
      <p:sp>
        <p:nvSpPr>
          <p:cNvPr id="27" name="Text 25"/>
          <p:cNvSpPr/>
          <p:nvPr/>
        </p:nvSpPr>
        <p:spPr>
          <a:xfrm>
            <a:off x="7918704" y="1755648"/>
            <a:ext cx="2468880" cy="329184"/>
          </a:xfrm>
          <a:prstGeom prst="rect">
            <a:avLst/>
          </a:prstGeom>
          <a:noFill/>
          <a:ln/>
        </p:spPr>
        <p:txBody>
          <a:bodyPr wrap="square" lIns="0" tIns="0" rIns="0" bIns="0" rtlCol="0" anchor="ctr"/>
          <a:lstStyle/>
          <a:p>
            <a:pPr marL="0" indent="0">
              <a:buNone/>
            </a:pPr>
            <a:r>
              <a:rPr lang="en-US" sz="1850" b="1" dirty="0">
                <a:solidFill>
                  <a:srgbClr val="24313A"/>
                </a:solidFill>
              </a:rPr>
              <a:t>Prior work</a:t>
            </a:r>
            <a:endParaRPr lang="en-US" sz="1850" dirty="0"/>
          </a:p>
        </p:txBody>
      </p:sp>
      <p:sp>
        <p:nvSpPr>
          <p:cNvPr id="28" name="Shape 26"/>
          <p:cNvSpPr/>
          <p:nvPr/>
        </p:nvSpPr>
        <p:spPr>
          <a:xfrm>
            <a:off x="7927848" y="2450592"/>
            <a:ext cx="64008" cy="64008"/>
          </a:xfrm>
          <a:prstGeom prst="ellipse">
            <a:avLst/>
          </a:prstGeom>
          <a:solidFill>
            <a:srgbClr val="756D87"/>
          </a:solidFill>
          <a:ln w="12700">
            <a:solidFill>
              <a:srgbClr val="756D87"/>
            </a:solidFill>
            <a:prstDash val="solid"/>
          </a:ln>
        </p:spPr>
      </p:sp>
      <p:sp>
        <p:nvSpPr>
          <p:cNvPr id="29" name="Text 27"/>
          <p:cNvSpPr/>
          <p:nvPr/>
        </p:nvSpPr>
        <p:spPr>
          <a:xfrm>
            <a:off x="8092440" y="2331720"/>
            <a:ext cx="2423160" cy="868680"/>
          </a:xfrm>
          <a:prstGeom prst="rect">
            <a:avLst/>
          </a:prstGeom>
          <a:noFill/>
          <a:ln/>
        </p:spPr>
        <p:txBody>
          <a:bodyPr wrap="square" lIns="0" tIns="0" rIns="0" bIns="0" rtlCol="0" anchor="ctr">
            <a:normAutofit/>
          </a:bodyPr>
          <a:lstStyle/>
          <a:p>
            <a:pPr marL="0" indent="0">
              <a:buNone/>
            </a:pPr>
            <a:r>
              <a:rPr lang="en-US" sz="1310" dirty="0">
                <a:solidFill>
                  <a:srgbClr val="28343D"/>
                </a:solidFill>
              </a:rPr>
              <a:t>Social-media mental-health signals have been modeled from language and behavior [1,2].</a:t>
            </a:r>
            <a:endParaRPr lang="en-US" sz="1310" dirty="0"/>
          </a:p>
        </p:txBody>
      </p:sp>
      <p:sp>
        <p:nvSpPr>
          <p:cNvPr id="30" name="Shape 28"/>
          <p:cNvSpPr/>
          <p:nvPr/>
        </p:nvSpPr>
        <p:spPr>
          <a:xfrm>
            <a:off x="7927848" y="3346704"/>
            <a:ext cx="64008" cy="64008"/>
          </a:xfrm>
          <a:prstGeom prst="ellipse">
            <a:avLst/>
          </a:prstGeom>
          <a:solidFill>
            <a:srgbClr val="756D87"/>
          </a:solidFill>
          <a:ln w="12700">
            <a:solidFill>
              <a:srgbClr val="756D87"/>
            </a:solidFill>
            <a:prstDash val="solid"/>
          </a:ln>
        </p:spPr>
      </p:sp>
      <p:sp>
        <p:nvSpPr>
          <p:cNvPr id="31" name="Text 29"/>
          <p:cNvSpPr/>
          <p:nvPr/>
        </p:nvSpPr>
        <p:spPr>
          <a:xfrm>
            <a:off x="8092440" y="3227832"/>
            <a:ext cx="2423160" cy="868680"/>
          </a:xfrm>
          <a:prstGeom prst="rect">
            <a:avLst/>
          </a:prstGeom>
          <a:noFill/>
          <a:ln/>
        </p:spPr>
        <p:txBody>
          <a:bodyPr wrap="square" lIns="0" tIns="0" rIns="0" bIns="0" rtlCol="0" anchor="ctr">
            <a:normAutofit/>
          </a:bodyPr>
          <a:lstStyle/>
          <a:p>
            <a:pPr marL="0" indent="0">
              <a:buNone/>
            </a:pPr>
            <a:r>
              <a:rPr lang="en-US" sz="1310" dirty="0">
                <a:solidFill>
                  <a:srgbClr val="28343D"/>
                </a:solidFill>
              </a:rPr>
              <a:t>Pregnancy/postpartum social-media behavior has also been studied [1].</a:t>
            </a:r>
            <a:endParaRPr lang="en-US" sz="1310" dirty="0"/>
          </a:p>
        </p:txBody>
      </p:sp>
      <p:sp>
        <p:nvSpPr>
          <p:cNvPr id="32" name="Shape 30"/>
          <p:cNvSpPr/>
          <p:nvPr/>
        </p:nvSpPr>
        <p:spPr>
          <a:xfrm>
            <a:off x="7927848" y="4242816"/>
            <a:ext cx="64008" cy="64008"/>
          </a:xfrm>
          <a:prstGeom prst="ellipse">
            <a:avLst/>
          </a:prstGeom>
          <a:solidFill>
            <a:srgbClr val="756D87"/>
          </a:solidFill>
          <a:ln w="12700">
            <a:solidFill>
              <a:srgbClr val="756D87"/>
            </a:solidFill>
            <a:prstDash val="solid"/>
          </a:ln>
        </p:spPr>
      </p:sp>
      <p:sp>
        <p:nvSpPr>
          <p:cNvPr id="33" name="Text 31"/>
          <p:cNvSpPr/>
          <p:nvPr/>
        </p:nvSpPr>
        <p:spPr>
          <a:xfrm>
            <a:off x="8092440" y="4123944"/>
            <a:ext cx="2423160" cy="868680"/>
          </a:xfrm>
          <a:prstGeom prst="rect">
            <a:avLst/>
          </a:prstGeom>
          <a:noFill/>
          <a:ln/>
        </p:spPr>
        <p:txBody>
          <a:bodyPr wrap="square" lIns="0" tIns="0" rIns="0" bIns="0" rtlCol="0" anchor="ctr">
            <a:normAutofit/>
          </a:bodyPr>
          <a:lstStyle/>
          <a:p>
            <a:pPr marL="0" indent="0">
              <a:buNone/>
            </a:pPr>
            <a:r>
              <a:rPr lang="en-US" sz="1310" dirty="0">
                <a:solidFill>
                  <a:srgbClr val="28343D"/>
                </a:solidFill>
              </a:rPr>
              <a:t>Persian NLP has fewer domain-specific resources; ParsBERT provides a strong monolingual base [3].</a:t>
            </a:r>
            <a:endParaRPr lang="en-US" sz="1310" dirty="0"/>
          </a:p>
        </p:txBody>
      </p:sp>
      <p:sp>
        <p:nvSpPr>
          <p:cNvPr id="34" name="Shape 32"/>
          <p:cNvSpPr/>
          <p:nvPr/>
        </p:nvSpPr>
        <p:spPr>
          <a:xfrm>
            <a:off x="850392" y="5960985"/>
            <a:ext cx="10497312" cy="347472"/>
          </a:xfrm>
          <a:prstGeom prst="roundRect">
            <a:avLst>
              <a:gd name="adj" fmla="val 22222"/>
            </a:avLst>
          </a:prstGeom>
          <a:solidFill>
            <a:srgbClr val="F0EEE8"/>
          </a:solidFill>
          <a:ln w="11430">
            <a:solidFill>
              <a:srgbClr val="F0EEE8"/>
            </a:solidFill>
            <a:prstDash val="solid"/>
          </a:ln>
        </p:spPr>
      </p:sp>
      <p:sp>
        <p:nvSpPr>
          <p:cNvPr id="35" name="Shape 33"/>
          <p:cNvSpPr/>
          <p:nvPr/>
        </p:nvSpPr>
        <p:spPr>
          <a:xfrm>
            <a:off x="834390" y="5960985"/>
            <a:ext cx="50292" cy="347472"/>
          </a:xfrm>
          <a:prstGeom prst="rect">
            <a:avLst/>
          </a:prstGeom>
          <a:solidFill>
            <a:srgbClr val="B87461"/>
          </a:solidFill>
          <a:ln w="12700">
            <a:solidFill>
              <a:srgbClr val="B87461"/>
            </a:solidFill>
            <a:prstDash val="solid"/>
          </a:ln>
        </p:spPr>
      </p:sp>
      <p:sp>
        <p:nvSpPr>
          <p:cNvPr id="36" name="Text 34"/>
          <p:cNvSpPr/>
          <p:nvPr/>
        </p:nvSpPr>
        <p:spPr>
          <a:xfrm>
            <a:off x="969264" y="5960985"/>
            <a:ext cx="10259568" cy="347472"/>
          </a:xfrm>
          <a:prstGeom prst="rect">
            <a:avLst/>
          </a:prstGeom>
          <a:noFill/>
          <a:ln/>
        </p:spPr>
        <p:txBody>
          <a:bodyPr wrap="square" lIns="0" tIns="0" rIns="0" bIns="0" rtlCol="0" anchor="ctr">
            <a:normAutofit/>
          </a:bodyPr>
          <a:lstStyle/>
          <a:p>
            <a:pPr marL="0" indent="0">
              <a:buNone/>
            </a:pPr>
            <a:r>
              <a:rPr lang="en-US" sz="1160" dirty="0">
                <a:solidFill>
                  <a:srgbClr val="28343D"/>
                </a:solidFill>
              </a:rPr>
              <a:t>Project goal: build a privacy-conscious human-review prioritization overlay—not an autonomous diagnostic or emergency-decision system.</a:t>
            </a:r>
            <a:endParaRPr lang="en-US" sz="1160" dirty="0"/>
          </a:p>
        </p:txBody>
      </p:sp>
      <p:sp>
        <p:nvSpPr>
          <p:cNvPr id="37" name="Text 35"/>
          <p:cNvSpPr/>
          <p:nvPr/>
        </p:nvSpPr>
        <p:spPr>
          <a:xfrm>
            <a:off x="594360" y="6371561"/>
            <a:ext cx="10607040" cy="164592"/>
          </a:xfrm>
          <a:prstGeom prst="rect">
            <a:avLst/>
          </a:prstGeom>
          <a:noFill/>
          <a:ln/>
        </p:spPr>
        <p:txBody>
          <a:bodyPr wrap="square" lIns="0" tIns="0" rIns="0" bIns="0" rtlCol="0" anchor="ctr"/>
          <a:lstStyle/>
          <a:p>
            <a:pPr marL="0" indent="0">
              <a:buNone/>
            </a:pPr>
            <a:r>
              <a:rPr lang="en-US" sz="710" i="1" dirty="0">
                <a:solidFill>
                  <a:srgbClr val="7A7A76"/>
                </a:solidFill>
              </a:rPr>
              <a:t>[1] De Choudhury et al., CHI 2013  •  [2] Coppersmith et al., CLPsych 2014  •  [3] Farahani et al., ParsBERT 2020</a:t>
            </a:r>
            <a:endParaRPr lang="en-US" sz="710" dirty="0"/>
          </a:p>
        </p:txBody>
      </p:sp>
      <p:sp>
        <p:nvSpPr>
          <p:cNvPr id="38"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94360" y="347472"/>
            <a:ext cx="2834640" cy="164592"/>
          </a:xfrm>
          <a:prstGeom prst="rect">
            <a:avLst/>
          </a:prstGeom>
          <a:noFill/>
          <a:ln/>
        </p:spPr>
        <p:txBody>
          <a:bodyPr wrap="square" lIns="0" tIns="0" rIns="0" bIns="0" rtlCol="0" anchor="ctr"/>
          <a:lstStyle/>
          <a:p>
            <a:pPr marL="0" indent="0">
              <a:buNone/>
            </a:pPr>
            <a:r>
              <a:rPr lang="en-US" sz="850" b="1" kern="0" spc="120" dirty="0">
                <a:solidFill>
                  <a:srgbClr val="6E8E7D"/>
                </a:solidFill>
              </a:rPr>
              <a:t>DATA &amp; LABELS</a:t>
            </a:r>
            <a:endParaRPr lang="en-US" sz="850" dirty="0"/>
          </a:p>
        </p:txBody>
      </p:sp>
      <p:sp>
        <p:nvSpPr>
          <p:cNvPr id="3" name="Text 1"/>
          <p:cNvSpPr/>
          <p:nvPr/>
        </p:nvSpPr>
        <p:spPr>
          <a:xfrm>
            <a:off x="594360" y="566928"/>
            <a:ext cx="10698480" cy="502920"/>
          </a:xfrm>
          <a:prstGeom prst="rect">
            <a:avLst/>
          </a:prstGeom>
          <a:noFill/>
          <a:ln/>
        </p:spPr>
        <p:txBody>
          <a:bodyPr wrap="square" lIns="0" tIns="0" rIns="0" bIns="0" rtlCol="0" anchor="ctr"/>
          <a:lstStyle/>
          <a:p>
            <a:pPr marL="0" indent="0">
              <a:buNone/>
            </a:pPr>
            <a:r>
              <a:rPr lang="en-US" sz="2800" b="1" dirty="0">
                <a:solidFill>
                  <a:srgbClr val="24313A"/>
                </a:solidFill>
              </a:rPr>
              <a:t>From raw forum posts to a leakage-safe labeled set</a:t>
            </a:r>
            <a:endParaRPr lang="en-US" sz="2800" dirty="0"/>
          </a:p>
        </p:txBody>
      </p:sp>
      <p:sp>
        <p:nvSpPr>
          <p:cNvPr id="4" name="Shape 2"/>
          <p:cNvSpPr/>
          <p:nvPr/>
        </p:nvSpPr>
        <p:spPr>
          <a:xfrm>
            <a:off x="594360" y="1143000"/>
            <a:ext cx="658368" cy="0"/>
          </a:xfrm>
          <a:prstGeom prst="line">
            <a:avLst/>
          </a:prstGeom>
          <a:noFill/>
          <a:ln w="27940">
            <a:solidFill>
              <a:srgbClr val="B87461"/>
            </a:solidFill>
            <a:prstDash val="solid"/>
          </a:ln>
        </p:spPr>
      </p:sp>
      <p:sp>
        <p:nvSpPr>
          <p:cNvPr id="5" name="Shape 3"/>
          <p:cNvSpPr/>
          <p:nvPr/>
        </p:nvSpPr>
        <p:spPr>
          <a:xfrm>
            <a:off x="10332720" y="384048"/>
            <a:ext cx="1234440" cy="256032"/>
          </a:xfrm>
          <a:prstGeom prst="roundRect">
            <a:avLst/>
          </a:prstGeom>
          <a:solidFill>
            <a:srgbClr val="E8EFEA"/>
          </a:solidFill>
          <a:ln w="12700">
            <a:solidFill>
              <a:srgbClr val="E8EFEA"/>
            </a:solidFill>
            <a:prstDash val="solid"/>
          </a:ln>
        </p:spPr>
      </p:sp>
      <p:sp>
        <p:nvSpPr>
          <p:cNvPr id="6" name="Text 4"/>
          <p:cNvSpPr/>
          <p:nvPr/>
        </p:nvSpPr>
        <p:spPr>
          <a:xfrm>
            <a:off x="10387584" y="416052"/>
            <a:ext cx="1124712" cy="146304"/>
          </a:xfrm>
          <a:prstGeom prst="rect">
            <a:avLst/>
          </a:prstGeom>
          <a:noFill/>
          <a:ln/>
        </p:spPr>
        <p:txBody>
          <a:bodyPr wrap="square" lIns="0" tIns="0" rIns="0" bIns="0" rtlCol="0" anchor="ctr"/>
          <a:lstStyle/>
          <a:p>
            <a:pPr marL="0" indent="0" algn="ctr">
              <a:buNone/>
            </a:pPr>
            <a:r>
              <a:rPr lang="en-US" sz="740" b="1" dirty="0">
                <a:solidFill>
                  <a:srgbClr val="6E8E7D"/>
                </a:solidFill>
              </a:rPr>
              <a:t>4 / 11</a:t>
            </a:r>
            <a:endParaRPr lang="en-US" sz="740" dirty="0"/>
          </a:p>
        </p:txBody>
      </p:sp>
      <p:sp>
        <p:nvSpPr>
          <p:cNvPr id="7" name="Shape 5"/>
          <p:cNvSpPr/>
          <p:nvPr/>
        </p:nvSpPr>
        <p:spPr>
          <a:xfrm>
            <a:off x="640080" y="1426464"/>
            <a:ext cx="4800600" cy="603504"/>
          </a:xfrm>
          <a:prstGeom prst="roundRect">
            <a:avLst>
              <a:gd name="adj" fmla="val 18182"/>
            </a:avLst>
          </a:prstGeom>
          <a:solidFill>
            <a:srgbClr val="FFFFFF"/>
          </a:solidFill>
          <a:ln w="11430">
            <a:solidFill>
              <a:srgbClr val="DDD8D0"/>
            </a:solidFill>
            <a:prstDash val="solid"/>
          </a:ln>
        </p:spPr>
      </p:sp>
      <p:sp>
        <p:nvSpPr>
          <p:cNvPr id="8" name="Shape 6"/>
          <p:cNvSpPr/>
          <p:nvPr/>
        </p:nvSpPr>
        <p:spPr>
          <a:xfrm>
            <a:off x="768096" y="1581912"/>
            <a:ext cx="274320" cy="274320"/>
          </a:xfrm>
          <a:prstGeom prst="ellipse">
            <a:avLst/>
          </a:prstGeom>
          <a:solidFill>
            <a:srgbClr val="5C7F96"/>
          </a:solidFill>
          <a:ln w="12700">
            <a:solidFill>
              <a:srgbClr val="5C7F96"/>
            </a:solidFill>
            <a:prstDash val="solid"/>
          </a:ln>
        </p:spPr>
      </p:sp>
      <p:sp>
        <p:nvSpPr>
          <p:cNvPr id="9" name="Text 7"/>
          <p:cNvSpPr/>
          <p:nvPr/>
        </p:nvSpPr>
        <p:spPr>
          <a:xfrm>
            <a:off x="827532" y="1657172"/>
            <a:ext cx="155448" cy="128016"/>
          </a:xfrm>
          <a:prstGeom prst="rect">
            <a:avLst/>
          </a:prstGeom>
          <a:noFill/>
          <a:ln/>
        </p:spPr>
        <p:txBody>
          <a:bodyPr wrap="square" lIns="0" tIns="0" rIns="0" bIns="0" rtlCol="0" anchor="ctr"/>
          <a:lstStyle/>
          <a:p>
            <a:pPr marL="0" indent="0" algn="ctr">
              <a:buNone/>
            </a:pPr>
            <a:r>
              <a:rPr lang="en-US" sz="850" b="1" dirty="0">
                <a:solidFill>
                  <a:srgbClr val="FFFFFF"/>
                </a:solidFill>
              </a:rPr>
              <a:t>1</a:t>
            </a:r>
            <a:endParaRPr lang="en-US" sz="850" dirty="0"/>
          </a:p>
        </p:txBody>
      </p:sp>
      <p:sp>
        <p:nvSpPr>
          <p:cNvPr id="10" name="Text 8"/>
          <p:cNvSpPr/>
          <p:nvPr/>
        </p:nvSpPr>
        <p:spPr>
          <a:xfrm>
            <a:off x="1170432" y="1602308"/>
            <a:ext cx="1417320" cy="182880"/>
          </a:xfrm>
          <a:prstGeom prst="rect">
            <a:avLst/>
          </a:prstGeom>
          <a:noFill/>
          <a:ln/>
        </p:spPr>
        <p:txBody>
          <a:bodyPr wrap="square" lIns="0" tIns="0" rIns="0" bIns="0" rtlCol="0" anchor="ctr"/>
          <a:lstStyle/>
          <a:p>
            <a:pPr marL="0" indent="0">
              <a:buNone/>
            </a:pPr>
            <a:r>
              <a:rPr lang="en-US" sz="1260" b="1" dirty="0">
                <a:solidFill>
                  <a:srgbClr val="24313A"/>
                </a:solidFill>
              </a:rPr>
              <a:t>Scrape &amp; checkpoint</a:t>
            </a:r>
            <a:endParaRPr lang="en-US" sz="1260" dirty="0"/>
          </a:p>
        </p:txBody>
      </p:sp>
      <p:sp>
        <p:nvSpPr>
          <p:cNvPr id="11" name="Text 9"/>
          <p:cNvSpPr/>
          <p:nvPr/>
        </p:nvSpPr>
        <p:spPr>
          <a:xfrm>
            <a:off x="2093976" y="1565732"/>
            <a:ext cx="2670048" cy="310896"/>
          </a:xfrm>
          <a:prstGeom prst="rect">
            <a:avLst/>
          </a:prstGeom>
          <a:noFill/>
          <a:ln/>
        </p:spPr>
        <p:txBody>
          <a:bodyPr wrap="square" lIns="0" tIns="0" rIns="0" bIns="0" rtlCol="0" anchor="ctr">
            <a:normAutofit/>
          </a:bodyPr>
          <a:lstStyle/>
          <a:p>
            <a:pPr marL="0" indent="0" algn="ctr">
              <a:buNone/>
            </a:pPr>
            <a:r>
              <a:rPr lang="en-US" sz="1050" dirty="0">
                <a:solidFill>
                  <a:srgbClr val="6D7774"/>
                </a:solidFill>
              </a:rPr>
              <a:t>Ninisite threads, posts, profiles</a:t>
            </a:r>
            <a:endParaRPr lang="en-US" sz="1050" dirty="0"/>
          </a:p>
        </p:txBody>
      </p:sp>
      <p:sp>
        <p:nvSpPr>
          <p:cNvPr id="12" name="Shape 10"/>
          <p:cNvSpPr/>
          <p:nvPr/>
        </p:nvSpPr>
        <p:spPr>
          <a:xfrm>
            <a:off x="640080" y="2231136"/>
            <a:ext cx="4800600" cy="603504"/>
          </a:xfrm>
          <a:prstGeom prst="roundRect">
            <a:avLst>
              <a:gd name="adj" fmla="val 18182"/>
            </a:avLst>
          </a:prstGeom>
          <a:solidFill>
            <a:srgbClr val="FFFFFF"/>
          </a:solidFill>
          <a:ln w="11430">
            <a:solidFill>
              <a:srgbClr val="DDD8D0"/>
            </a:solidFill>
            <a:prstDash val="solid"/>
          </a:ln>
        </p:spPr>
      </p:sp>
      <p:sp>
        <p:nvSpPr>
          <p:cNvPr id="13" name="Shape 11"/>
          <p:cNvSpPr/>
          <p:nvPr/>
        </p:nvSpPr>
        <p:spPr>
          <a:xfrm>
            <a:off x="768096" y="2386584"/>
            <a:ext cx="274320" cy="274320"/>
          </a:xfrm>
          <a:prstGeom prst="ellipse">
            <a:avLst/>
          </a:prstGeom>
          <a:solidFill>
            <a:srgbClr val="6E8E7D"/>
          </a:solidFill>
          <a:ln w="12700">
            <a:solidFill>
              <a:srgbClr val="6E8E7D"/>
            </a:solidFill>
            <a:prstDash val="solid"/>
          </a:ln>
        </p:spPr>
      </p:sp>
      <p:sp>
        <p:nvSpPr>
          <p:cNvPr id="14" name="Text 12"/>
          <p:cNvSpPr/>
          <p:nvPr/>
        </p:nvSpPr>
        <p:spPr>
          <a:xfrm>
            <a:off x="827532" y="2456737"/>
            <a:ext cx="155448" cy="128016"/>
          </a:xfrm>
          <a:prstGeom prst="rect">
            <a:avLst/>
          </a:prstGeom>
          <a:noFill/>
          <a:ln/>
        </p:spPr>
        <p:txBody>
          <a:bodyPr wrap="square" lIns="0" tIns="0" rIns="0" bIns="0" rtlCol="0" anchor="ctr"/>
          <a:lstStyle/>
          <a:p>
            <a:pPr marL="0" indent="0" algn="ctr">
              <a:buNone/>
            </a:pPr>
            <a:r>
              <a:rPr lang="en-US" sz="850" b="1" dirty="0">
                <a:solidFill>
                  <a:srgbClr val="FFFFFF"/>
                </a:solidFill>
              </a:rPr>
              <a:t>2</a:t>
            </a:r>
            <a:endParaRPr lang="en-US" sz="850" dirty="0"/>
          </a:p>
        </p:txBody>
      </p:sp>
      <p:sp>
        <p:nvSpPr>
          <p:cNvPr id="15" name="Text 13"/>
          <p:cNvSpPr/>
          <p:nvPr/>
        </p:nvSpPr>
        <p:spPr>
          <a:xfrm>
            <a:off x="1170432" y="2443022"/>
            <a:ext cx="1417320" cy="182880"/>
          </a:xfrm>
          <a:prstGeom prst="rect">
            <a:avLst/>
          </a:prstGeom>
          <a:noFill/>
          <a:ln/>
        </p:spPr>
        <p:txBody>
          <a:bodyPr wrap="square" lIns="0" tIns="0" rIns="0" bIns="0" rtlCol="0" anchor="ctr"/>
          <a:lstStyle/>
          <a:p>
            <a:pPr marL="0" indent="0">
              <a:buNone/>
            </a:pPr>
            <a:r>
              <a:rPr lang="en-US" sz="1260" b="1" dirty="0">
                <a:solidFill>
                  <a:srgbClr val="24313A"/>
                </a:solidFill>
              </a:rPr>
              <a:t>Clean &amp; recover</a:t>
            </a:r>
            <a:endParaRPr lang="en-US" sz="1260" dirty="0"/>
          </a:p>
        </p:txBody>
      </p:sp>
      <p:sp>
        <p:nvSpPr>
          <p:cNvPr id="16" name="Text 14"/>
          <p:cNvSpPr/>
          <p:nvPr/>
        </p:nvSpPr>
        <p:spPr>
          <a:xfrm>
            <a:off x="2459736" y="2370548"/>
            <a:ext cx="2670048" cy="310896"/>
          </a:xfrm>
          <a:prstGeom prst="rect">
            <a:avLst/>
          </a:prstGeom>
          <a:noFill/>
          <a:ln/>
        </p:spPr>
        <p:txBody>
          <a:bodyPr wrap="square" lIns="0" tIns="0" rIns="0" bIns="0" rtlCol="0" anchor="ctr">
            <a:normAutofit/>
          </a:bodyPr>
          <a:lstStyle/>
          <a:p>
            <a:pPr marL="0" indent="0" algn="ctr">
              <a:buNone/>
            </a:pPr>
            <a:r>
              <a:rPr lang="en-US" sz="1050" dirty="0">
                <a:solidFill>
                  <a:srgbClr val="6D7774"/>
                </a:solidFill>
              </a:rPr>
              <a:t>content, category, gender, profile metadata</a:t>
            </a:r>
            <a:endParaRPr lang="en-US" sz="1050" dirty="0"/>
          </a:p>
        </p:txBody>
      </p:sp>
      <p:sp>
        <p:nvSpPr>
          <p:cNvPr id="17" name="Shape 15"/>
          <p:cNvSpPr/>
          <p:nvPr/>
        </p:nvSpPr>
        <p:spPr>
          <a:xfrm>
            <a:off x="640080" y="3035808"/>
            <a:ext cx="4800600" cy="603504"/>
          </a:xfrm>
          <a:prstGeom prst="roundRect">
            <a:avLst>
              <a:gd name="adj" fmla="val 18182"/>
            </a:avLst>
          </a:prstGeom>
          <a:solidFill>
            <a:srgbClr val="FFFFFF"/>
          </a:solidFill>
          <a:ln w="11430">
            <a:solidFill>
              <a:srgbClr val="DDD8D0"/>
            </a:solidFill>
            <a:prstDash val="solid"/>
          </a:ln>
        </p:spPr>
      </p:sp>
      <p:sp>
        <p:nvSpPr>
          <p:cNvPr id="18" name="Shape 16"/>
          <p:cNvSpPr/>
          <p:nvPr/>
        </p:nvSpPr>
        <p:spPr>
          <a:xfrm>
            <a:off x="768096" y="3191256"/>
            <a:ext cx="274320" cy="274320"/>
          </a:xfrm>
          <a:prstGeom prst="ellipse">
            <a:avLst/>
          </a:prstGeom>
          <a:solidFill>
            <a:srgbClr val="C6A25D"/>
          </a:solidFill>
          <a:ln w="12700">
            <a:solidFill>
              <a:srgbClr val="C6A25D"/>
            </a:solidFill>
            <a:prstDash val="solid"/>
          </a:ln>
        </p:spPr>
      </p:sp>
      <p:sp>
        <p:nvSpPr>
          <p:cNvPr id="19" name="Text 17"/>
          <p:cNvSpPr/>
          <p:nvPr/>
        </p:nvSpPr>
        <p:spPr>
          <a:xfrm>
            <a:off x="827532" y="3264408"/>
            <a:ext cx="155448" cy="128016"/>
          </a:xfrm>
          <a:prstGeom prst="rect">
            <a:avLst/>
          </a:prstGeom>
          <a:noFill/>
          <a:ln/>
        </p:spPr>
        <p:txBody>
          <a:bodyPr wrap="square" lIns="0" tIns="0" rIns="0" bIns="0" rtlCol="0" anchor="ctr"/>
          <a:lstStyle/>
          <a:p>
            <a:pPr marL="0" indent="0" algn="ctr">
              <a:buNone/>
            </a:pPr>
            <a:r>
              <a:rPr lang="en-US" sz="850" b="1" dirty="0">
                <a:solidFill>
                  <a:srgbClr val="FFFFFF"/>
                </a:solidFill>
              </a:rPr>
              <a:t>3</a:t>
            </a:r>
            <a:endParaRPr lang="en-US" sz="850" dirty="0"/>
          </a:p>
        </p:txBody>
      </p:sp>
      <p:sp>
        <p:nvSpPr>
          <p:cNvPr id="20" name="Text 18"/>
          <p:cNvSpPr/>
          <p:nvPr/>
        </p:nvSpPr>
        <p:spPr>
          <a:xfrm>
            <a:off x="1170432" y="3201824"/>
            <a:ext cx="1417320" cy="182880"/>
          </a:xfrm>
          <a:prstGeom prst="rect">
            <a:avLst/>
          </a:prstGeom>
          <a:noFill/>
          <a:ln/>
        </p:spPr>
        <p:txBody>
          <a:bodyPr wrap="square" lIns="0" tIns="0" rIns="0" bIns="0" rtlCol="0" anchor="ctr"/>
          <a:lstStyle/>
          <a:p>
            <a:pPr marL="0" indent="0">
              <a:buNone/>
            </a:pPr>
            <a:r>
              <a:rPr lang="en-US" sz="1260" b="1" dirty="0">
                <a:solidFill>
                  <a:srgbClr val="24313A"/>
                </a:solidFill>
              </a:rPr>
              <a:t>Engineer proxy</a:t>
            </a:r>
            <a:endParaRPr lang="en-US" sz="1260" dirty="0"/>
          </a:p>
        </p:txBody>
      </p:sp>
      <p:sp>
        <p:nvSpPr>
          <p:cNvPr id="21" name="Text 19"/>
          <p:cNvSpPr/>
          <p:nvPr/>
        </p:nvSpPr>
        <p:spPr>
          <a:xfrm>
            <a:off x="2410190" y="3164723"/>
            <a:ext cx="2670048" cy="310896"/>
          </a:xfrm>
          <a:prstGeom prst="rect">
            <a:avLst/>
          </a:prstGeom>
          <a:noFill/>
          <a:ln/>
        </p:spPr>
        <p:txBody>
          <a:bodyPr wrap="square" lIns="0" tIns="0" rIns="0" bIns="0" rtlCol="0" anchor="ctr">
            <a:normAutofit/>
          </a:bodyPr>
          <a:lstStyle/>
          <a:p>
            <a:pPr marL="0" indent="0" algn="ctr">
              <a:buNone/>
            </a:pPr>
            <a:r>
              <a:rPr lang="en-US" sz="1050" dirty="0">
                <a:solidFill>
                  <a:srgbClr val="6D7774"/>
                </a:solidFill>
              </a:rPr>
              <a:t>lexical / emoji / punctuation stress signals</a:t>
            </a:r>
            <a:endParaRPr lang="en-US" sz="1050" dirty="0"/>
          </a:p>
        </p:txBody>
      </p:sp>
      <p:sp>
        <p:nvSpPr>
          <p:cNvPr id="22" name="Shape 20"/>
          <p:cNvSpPr/>
          <p:nvPr/>
        </p:nvSpPr>
        <p:spPr>
          <a:xfrm>
            <a:off x="640080" y="3840480"/>
            <a:ext cx="4800600" cy="603504"/>
          </a:xfrm>
          <a:prstGeom prst="roundRect">
            <a:avLst>
              <a:gd name="adj" fmla="val 18182"/>
            </a:avLst>
          </a:prstGeom>
          <a:solidFill>
            <a:srgbClr val="FFFFFF"/>
          </a:solidFill>
          <a:ln w="11430">
            <a:solidFill>
              <a:srgbClr val="DDD8D0"/>
            </a:solidFill>
            <a:prstDash val="solid"/>
          </a:ln>
        </p:spPr>
      </p:sp>
      <p:sp>
        <p:nvSpPr>
          <p:cNvPr id="23" name="Shape 21"/>
          <p:cNvSpPr/>
          <p:nvPr/>
        </p:nvSpPr>
        <p:spPr>
          <a:xfrm>
            <a:off x="768096" y="3995928"/>
            <a:ext cx="274320" cy="274320"/>
          </a:xfrm>
          <a:prstGeom prst="ellipse">
            <a:avLst/>
          </a:prstGeom>
          <a:solidFill>
            <a:srgbClr val="B87461"/>
          </a:solidFill>
          <a:ln w="12700">
            <a:solidFill>
              <a:srgbClr val="B87461"/>
            </a:solidFill>
            <a:prstDash val="solid"/>
          </a:ln>
        </p:spPr>
      </p:sp>
      <p:sp>
        <p:nvSpPr>
          <p:cNvPr id="24" name="Text 22"/>
          <p:cNvSpPr/>
          <p:nvPr/>
        </p:nvSpPr>
        <p:spPr>
          <a:xfrm>
            <a:off x="827532" y="4072505"/>
            <a:ext cx="155448" cy="128016"/>
          </a:xfrm>
          <a:prstGeom prst="rect">
            <a:avLst/>
          </a:prstGeom>
          <a:noFill/>
          <a:ln/>
        </p:spPr>
        <p:txBody>
          <a:bodyPr wrap="square" lIns="0" tIns="0" rIns="0" bIns="0" rtlCol="0" anchor="ctr"/>
          <a:lstStyle/>
          <a:p>
            <a:pPr marL="0" indent="0" algn="ctr">
              <a:buNone/>
            </a:pPr>
            <a:r>
              <a:rPr lang="en-US" sz="850" b="1" dirty="0">
                <a:solidFill>
                  <a:srgbClr val="FFFFFF"/>
                </a:solidFill>
              </a:rPr>
              <a:t>4</a:t>
            </a:r>
            <a:endParaRPr lang="en-US" sz="850" dirty="0"/>
          </a:p>
        </p:txBody>
      </p:sp>
      <p:sp>
        <p:nvSpPr>
          <p:cNvPr id="25" name="Text 23"/>
          <p:cNvSpPr/>
          <p:nvPr/>
        </p:nvSpPr>
        <p:spPr>
          <a:xfrm>
            <a:off x="1170432" y="4041648"/>
            <a:ext cx="1417320" cy="182880"/>
          </a:xfrm>
          <a:prstGeom prst="rect">
            <a:avLst/>
          </a:prstGeom>
          <a:noFill/>
          <a:ln/>
        </p:spPr>
        <p:txBody>
          <a:bodyPr wrap="square" lIns="0" tIns="0" rIns="0" bIns="0" rtlCol="0" anchor="ctr"/>
          <a:lstStyle/>
          <a:p>
            <a:pPr marL="0" indent="0">
              <a:buNone/>
            </a:pPr>
            <a:r>
              <a:rPr lang="en-US" sz="1260" b="1" dirty="0">
                <a:solidFill>
                  <a:srgbClr val="24313A"/>
                </a:solidFill>
              </a:rPr>
              <a:t>Annotate &amp; expand</a:t>
            </a:r>
            <a:endParaRPr lang="en-US" sz="1260" dirty="0"/>
          </a:p>
        </p:txBody>
      </p:sp>
      <p:sp>
        <p:nvSpPr>
          <p:cNvPr id="26" name="Text 24"/>
          <p:cNvSpPr/>
          <p:nvPr/>
        </p:nvSpPr>
        <p:spPr>
          <a:xfrm>
            <a:off x="2359152" y="3975354"/>
            <a:ext cx="2944368" cy="310896"/>
          </a:xfrm>
          <a:prstGeom prst="rect">
            <a:avLst/>
          </a:prstGeom>
          <a:noFill/>
          <a:ln/>
        </p:spPr>
        <p:txBody>
          <a:bodyPr wrap="square" lIns="0" tIns="0" rIns="0" bIns="0" rtlCol="0" anchor="ctr">
            <a:normAutofit/>
          </a:bodyPr>
          <a:lstStyle/>
          <a:p>
            <a:pPr marL="0" indent="0" algn="ctr">
              <a:buNone/>
            </a:pPr>
            <a:r>
              <a:rPr lang="en-US" sz="1050" dirty="0">
                <a:solidFill>
                  <a:srgbClr val="6D7774"/>
                </a:solidFill>
              </a:rPr>
              <a:t>dual-LLM annotation + active-learning additions</a:t>
            </a:r>
            <a:endParaRPr lang="en-US" sz="1050" dirty="0"/>
          </a:p>
        </p:txBody>
      </p:sp>
      <p:sp>
        <p:nvSpPr>
          <p:cNvPr id="27" name="Shape 25"/>
          <p:cNvSpPr/>
          <p:nvPr/>
        </p:nvSpPr>
        <p:spPr>
          <a:xfrm>
            <a:off x="640080" y="4653434"/>
            <a:ext cx="4800600" cy="603504"/>
          </a:xfrm>
          <a:prstGeom prst="roundRect">
            <a:avLst>
              <a:gd name="adj" fmla="val 18182"/>
            </a:avLst>
          </a:prstGeom>
          <a:solidFill>
            <a:srgbClr val="FFFFFF"/>
          </a:solidFill>
          <a:ln w="11430">
            <a:solidFill>
              <a:srgbClr val="DDD8D0"/>
            </a:solidFill>
            <a:prstDash val="solid"/>
          </a:ln>
        </p:spPr>
      </p:sp>
      <p:sp>
        <p:nvSpPr>
          <p:cNvPr id="28" name="Shape 26"/>
          <p:cNvSpPr/>
          <p:nvPr/>
        </p:nvSpPr>
        <p:spPr>
          <a:xfrm>
            <a:off x="768096" y="4800600"/>
            <a:ext cx="274320" cy="274320"/>
          </a:xfrm>
          <a:prstGeom prst="ellipse">
            <a:avLst/>
          </a:prstGeom>
          <a:solidFill>
            <a:srgbClr val="756D87"/>
          </a:solidFill>
          <a:ln w="12700">
            <a:solidFill>
              <a:srgbClr val="756D87"/>
            </a:solidFill>
            <a:prstDash val="solid"/>
          </a:ln>
        </p:spPr>
      </p:sp>
      <p:sp>
        <p:nvSpPr>
          <p:cNvPr id="29" name="Text 27"/>
          <p:cNvSpPr/>
          <p:nvPr/>
        </p:nvSpPr>
        <p:spPr>
          <a:xfrm>
            <a:off x="827532" y="4868736"/>
            <a:ext cx="155448" cy="128016"/>
          </a:xfrm>
          <a:prstGeom prst="rect">
            <a:avLst/>
          </a:prstGeom>
          <a:noFill/>
          <a:ln/>
        </p:spPr>
        <p:txBody>
          <a:bodyPr wrap="square" lIns="0" tIns="0" rIns="0" bIns="0" rtlCol="0" anchor="ctr"/>
          <a:lstStyle/>
          <a:p>
            <a:pPr marL="0" indent="0" algn="ctr">
              <a:buNone/>
            </a:pPr>
            <a:r>
              <a:rPr lang="en-US" sz="850" b="1" dirty="0">
                <a:solidFill>
                  <a:srgbClr val="FFFFFF"/>
                </a:solidFill>
              </a:rPr>
              <a:t>5</a:t>
            </a:r>
            <a:endParaRPr lang="en-US" sz="850" dirty="0"/>
          </a:p>
        </p:txBody>
      </p:sp>
      <p:sp>
        <p:nvSpPr>
          <p:cNvPr id="30" name="Text 28"/>
          <p:cNvSpPr/>
          <p:nvPr/>
        </p:nvSpPr>
        <p:spPr>
          <a:xfrm>
            <a:off x="1170432" y="4855464"/>
            <a:ext cx="1417320" cy="182880"/>
          </a:xfrm>
          <a:prstGeom prst="rect">
            <a:avLst/>
          </a:prstGeom>
          <a:noFill/>
          <a:ln/>
        </p:spPr>
        <p:txBody>
          <a:bodyPr wrap="square" lIns="0" tIns="0" rIns="0" bIns="0" rtlCol="0" anchor="ctr"/>
          <a:lstStyle/>
          <a:p>
            <a:pPr marL="0" indent="0">
              <a:buNone/>
            </a:pPr>
            <a:r>
              <a:rPr lang="en-US" sz="1260" b="1" dirty="0">
                <a:solidFill>
                  <a:srgbClr val="24313A"/>
                </a:solidFill>
              </a:rPr>
              <a:t>Freeze roles</a:t>
            </a:r>
            <a:endParaRPr lang="en-US" sz="1260" dirty="0"/>
          </a:p>
        </p:txBody>
      </p:sp>
      <p:sp>
        <p:nvSpPr>
          <p:cNvPr id="31" name="Text 29"/>
          <p:cNvSpPr/>
          <p:nvPr/>
        </p:nvSpPr>
        <p:spPr>
          <a:xfrm>
            <a:off x="2329434" y="4782312"/>
            <a:ext cx="3003804" cy="310896"/>
          </a:xfrm>
          <a:prstGeom prst="rect">
            <a:avLst/>
          </a:prstGeom>
          <a:noFill/>
          <a:ln/>
        </p:spPr>
        <p:txBody>
          <a:bodyPr wrap="square" lIns="0" tIns="0" rIns="0" bIns="0" rtlCol="0" anchor="ctr">
            <a:normAutofit/>
          </a:bodyPr>
          <a:lstStyle/>
          <a:p>
            <a:pPr marL="0" indent="0" algn="ctr">
              <a:buNone/>
            </a:pPr>
            <a:r>
              <a:rPr lang="en-US" sz="1050" dirty="0">
                <a:solidFill>
                  <a:srgbClr val="6D7774"/>
                </a:solidFill>
              </a:rPr>
              <a:t>grouped train / validation / locked test / embargo</a:t>
            </a:r>
            <a:endParaRPr lang="en-US" sz="1050" dirty="0"/>
          </a:p>
        </p:txBody>
      </p:sp>
      <p:sp>
        <p:nvSpPr>
          <p:cNvPr id="32" name="Shape 30"/>
          <p:cNvSpPr/>
          <p:nvPr/>
        </p:nvSpPr>
        <p:spPr>
          <a:xfrm>
            <a:off x="5715000" y="1426464"/>
            <a:ext cx="5833872" cy="3017520"/>
          </a:xfrm>
          <a:prstGeom prst="roundRect">
            <a:avLst>
              <a:gd name="adj" fmla="val 4096"/>
            </a:avLst>
          </a:prstGeom>
          <a:solidFill>
            <a:srgbClr val="FFFFFF"/>
          </a:solidFill>
          <a:ln w="11430">
            <a:solidFill>
              <a:srgbClr val="DDD8D0"/>
            </a:solidFill>
            <a:prstDash val="solid"/>
          </a:ln>
        </p:spPr>
      </p:sp>
      <p:pic>
        <p:nvPicPr>
          <p:cNvPr id="33" name="Image 0" descr="/mnt/data/stress_proxy_distribution(1).png"/>
          <p:cNvPicPr>
            <a:picLocks noChangeAspect="1"/>
          </p:cNvPicPr>
          <p:nvPr/>
        </p:nvPicPr>
        <p:blipFill>
          <a:blip r:embed="rId3"/>
          <a:stretch>
            <a:fillRect/>
          </a:stretch>
        </p:blipFill>
        <p:spPr>
          <a:xfrm>
            <a:off x="5845759" y="1499616"/>
            <a:ext cx="5572354" cy="2770632"/>
          </a:xfrm>
          <a:prstGeom prst="rect">
            <a:avLst/>
          </a:prstGeom>
        </p:spPr>
      </p:pic>
      <p:sp>
        <p:nvSpPr>
          <p:cNvPr id="35" name="Shape 32"/>
          <p:cNvSpPr/>
          <p:nvPr/>
        </p:nvSpPr>
        <p:spPr>
          <a:xfrm>
            <a:off x="5817543" y="4569714"/>
            <a:ext cx="5504688" cy="640080"/>
          </a:xfrm>
          <a:prstGeom prst="roundRect">
            <a:avLst>
              <a:gd name="adj" fmla="val 17143"/>
            </a:avLst>
          </a:prstGeom>
          <a:solidFill>
            <a:srgbClr val="F3EEDC"/>
          </a:solidFill>
          <a:ln w="11430">
            <a:solidFill>
              <a:srgbClr val="F3EEDC"/>
            </a:solidFill>
            <a:prstDash val="solid"/>
          </a:ln>
        </p:spPr>
      </p:sp>
      <p:sp>
        <p:nvSpPr>
          <p:cNvPr id="36" name="Shape 33"/>
          <p:cNvSpPr/>
          <p:nvPr/>
        </p:nvSpPr>
        <p:spPr>
          <a:xfrm>
            <a:off x="5817543" y="4569714"/>
            <a:ext cx="50292" cy="640080"/>
          </a:xfrm>
          <a:prstGeom prst="rect">
            <a:avLst/>
          </a:prstGeom>
          <a:solidFill>
            <a:srgbClr val="C6A25D"/>
          </a:solidFill>
          <a:ln w="12700">
            <a:solidFill>
              <a:srgbClr val="C6A25D"/>
            </a:solidFill>
            <a:prstDash val="solid"/>
          </a:ln>
        </p:spPr>
      </p:sp>
      <p:sp>
        <p:nvSpPr>
          <p:cNvPr id="37" name="Text 34"/>
          <p:cNvSpPr/>
          <p:nvPr/>
        </p:nvSpPr>
        <p:spPr>
          <a:xfrm>
            <a:off x="5972991" y="4642866"/>
            <a:ext cx="5266944" cy="493776"/>
          </a:xfrm>
          <a:prstGeom prst="rect">
            <a:avLst/>
          </a:prstGeom>
          <a:noFill/>
          <a:ln/>
        </p:spPr>
        <p:txBody>
          <a:bodyPr wrap="square" lIns="0" tIns="0" rIns="0" bIns="0" rtlCol="0" anchor="ctr">
            <a:normAutofit/>
          </a:bodyPr>
          <a:lstStyle/>
          <a:p>
            <a:pPr marL="0" indent="0">
              <a:buNone/>
            </a:pPr>
            <a:r>
              <a:rPr lang="en-US" sz="1100" dirty="0">
                <a:solidFill>
                  <a:srgbClr val="28343D"/>
                </a:solidFill>
              </a:rPr>
              <a:t>The stress proxy guided candidate sampling; it was not the final stress target and is not used as a shortcut label at deployment.</a:t>
            </a:r>
            <a:endParaRPr lang="en-US" sz="1100" dirty="0"/>
          </a:p>
        </p:txBody>
      </p:sp>
      <p:sp>
        <p:nvSpPr>
          <p:cNvPr id="38" name="Text 35"/>
          <p:cNvSpPr/>
          <p:nvPr/>
        </p:nvSpPr>
        <p:spPr>
          <a:xfrm>
            <a:off x="667512" y="5577840"/>
            <a:ext cx="1508760" cy="274320"/>
          </a:xfrm>
          <a:prstGeom prst="rect">
            <a:avLst/>
          </a:prstGeom>
          <a:noFill/>
          <a:ln/>
        </p:spPr>
        <p:txBody>
          <a:bodyPr wrap="square" lIns="0" tIns="0" rIns="0" bIns="0" rtlCol="0" anchor="ctr"/>
          <a:lstStyle/>
          <a:p>
            <a:pPr marL="0" indent="0" algn="ctr">
              <a:buNone/>
            </a:pPr>
            <a:r>
              <a:rPr lang="en-US" sz="1800" b="1" dirty="0">
                <a:solidFill>
                  <a:srgbClr val="5C7F96"/>
                </a:solidFill>
              </a:rPr>
              <a:t>362,017</a:t>
            </a:r>
            <a:endParaRPr lang="en-US" sz="1800" dirty="0"/>
          </a:p>
        </p:txBody>
      </p:sp>
      <p:sp>
        <p:nvSpPr>
          <p:cNvPr id="39" name="Text 36"/>
          <p:cNvSpPr/>
          <p:nvPr/>
        </p:nvSpPr>
        <p:spPr>
          <a:xfrm>
            <a:off x="667512" y="5888736"/>
            <a:ext cx="1508760" cy="256032"/>
          </a:xfrm>
          <a:prstGeom prst="rect">
            <a:avLst/>
          </a:prstGeom>
          <a:noFill/>
          <a:ln/>
        </p:spPr>
        <p:txBody>
          <a:bodyPr wrap="square" lIns="0" tIns="0" rIns="0" bIns="0" rtlCol="0" anchor="ctr">
            <a:normAutofit/>
          </a:bodyPr>
          <a:lstStyle/>
          <a:p>
            <a:pPr marL="0" indent="0" algn="ctr">
              <a:buNone/>
            </a:pPr>
            <a:r>
              <a:rPr lang="en-US" sz="930" dirty="0">
                <a:solidFill>
                  <a:srgbClr val="6D7774"/>
                </a:solidFill>
              </a:rPr>
              <a:t>cleaned posts</a:t>
            </a:r>
            <a:endParaRPr lang="en-US" sz="930" dirty="0"/>
          </a:p>
        </p:txBody>
      </p:sp>
      <p:sp>
        <p:nvSpPr>
          <p:cNvPr id="40" name="Text 37"/>
          <p:cNvSpPr/>
          <p:nvPr/>
        </p:nvSpPr>
        <p:spPr>
          <a:xfrm>
            <a:off x="2514600" y="5577840"/>
            <a:ext cx="1508760" cy="274320"/>
          </a:xfrm>
          <a:prstGeom prst="rect">
            <a:avLst/>
          </a:prstGeom>
          <a:noFill/>
          <a:ln/>
        </p:spPr>
        <p:txBody>
          <a:bodyPr wrap="square" lIns="0" tIns="0" rIns="0" bIns="0" rtlCol="0" anchor="ctr"/>
          <a:lstStyle/>
          <a:p>
            <a:pPr marL="0" indent="0" algn="ctr">
              <a:buNone/>
            </a:pPr>
            <a:r>
              <a:rPr lang="en-US" sz="1800" b="1" dirty="0">
                <a:solidFill>
                  <a:srgbClr val="6E8E7D"/>
                </a:solidFill>
              </a:rPr>
              <a:t>5,615</a:t>
            </a:r>
            <a:endParaRPr lang="en-US" sz="1800" dirty="0"/>
          </a:p>
        </p:txBody>
      </p:sp>
      <p:sp>
        <p:nvSpPr>
          <p:cNvPr id="41" name="Text 38"/>
          <p:cNvSpPr/>
          <p:nvPr/>
        </p:nvSpPr>
        <p:spPr>
          <a:xfrm>
            <a:off x="2514600" y="5888736"/>
            <a:ext cx="1508760" cy="256032"/>
          </a:xfrm>
          <a:prstGeom prst="rect">
            <a:avLst/>
          </a:prstGeom>
          <a:noFill/>
          <a:ln/>
        </p:spPr>
        <p:txBody>
          <a:bodyPr wrap="square" lIns="0" tIns="0" rIns="0" bIns="0" rtlCol="0" anchor="ctr">
            <a:normAutofit/>
          </a:bodyPr>
          <a:lstStyle/>
          <a:p>
            <a:pPr marL="0" indent="0" algn="ctr">
              <a:buNone/>
            </a:pPr>
            <a:r>
              <a:rPr lang="en-US" sz="930" dirty="0">
                <a:solidFill>
                  <a:srgbClr val="6D7774"/>
                </a:solidFill>
              </a:rPr>
              <a:t>final matched labels</a:t>
            </a:r>
            <a:endParaRPr lang="en-US" sz="930" dirty="0"/>
          </a:p>
        </p:txBody>
      </p:sp>
      <p:sp>
        <p:nvSpPr>
          <p:cNvPr id="42" name="Text 39"/>
          <p:cNvSpPr/>
          <p:nvPr/>
        </p:nvSpPr>
        <p:spPr>
          <a:xfrm>
            <a:off x="4361688" y="5577840"/>
            <a:ext cx="1508760" cy="274320"/>
          </a:xfrm>
          <a:prstGeom prst="rect">
            <a:avLst/>
          </a:prstGeom>
          <a:noFill/>
          <a:ln/>
        </p:spPr>
        <p:txBody>
          <a:bodyPr wrap="square" lIns="0" tIns="0" rIns="0" bIns="0" rtlCol="0" anchor="ctr"/>
          <a:lstStyle/>
          <a:p>
            <a:pPr marL="0" indent="0" algn="ctr">
              <a:buNone/>
            </a:pPr>
            <a:r>
              <a:rPr lang="en-US" sz="1800" b="1" dirty="0">
                <a:solidFill>
                  <a:srgbClr val="756D87"/>
                </a:solidFill>
              </a:rPr>
              <a:t>4,226</a:t>
            </a:r>
            <a:endParaRPr lang="en-US" sz="1800" dirty="0"/>
          </a:p>
        </p:txBody>
      </p:sp>
      <p:sp>
        <p:nvSpPr>
          <p:cNvPr id="43" name="Text 40"/>
          <p:cNvSpPr/>
          <p:nvPr/>
        </p:nvSpPr>
        <p:spPr>
          <a:xfrm>
            <a:off x="4361688" y="5888736"/>
            <a:ext cx="1508760" cy="256032"/>
          </a:xfrm>
          <a:prstGeom prst="rect">
            <a:avLst/>
          </a:prstGeom>
          <a:noFill/>
          <a:ln/>
        </p:spPr>
        <p:txBody>
          <a:bodyPr wrap="square" lIns="0" tIns="0" rIns="0" bIns="0" rtlCol="0" anchor="ctr">
            <a:normAutofit/>
          </a:bodyPr>
          <a:lstStyle/>
          <a:p>
            <a:pPr marL="0" indent="0" algn="ctr">
              <a:buNone/>
            </a:pPr>
            <a:r>
              <a:rPr lang="en-US" sz="930" dirty="0">
                <a:solidFill>
                  <a:srgbClr val="6D7774"/>
                </a:solidFill>
              </a:rPr>
              <a:t>train</a:t>
            </a:r>
            <a:endParaRPr lang="en-US" sz="930" dirty="0"/>
          </a:p>
        </p:txBody>
      </p:sp>
      <p:sp>
        <p:nvSpPr>
          <p:cNvPr id="44" name="Text 41"/>
          <p:cNvSpPr/>
          <p:nvPr/>
        </p:nvSpPr>
        <p:spPr>
          <a:xfrm>
            <a:off x="6208776" y="5577840"/>
            <a:ext cx="1508760" cy="274320"/>
          </a:xfrm>
          <a:prstGeom prst="rect">
            <a:avLst/>
          </a:prstGeom>
          <a:noFill/>
          <a:ln/>
        </p:spPr>
        <p:txBody>
          <a:bodyPr wrap="square" lIns="0" tIns="0" rIns="0" bIns="0" rtlCol="0" anchor="ctr"/>
          <a:lstStyle/>
          <a:p>
            <a:pPr marL="0" indent="0" algn="ctr">
              <a:buNone/>
            </a:pPr>
            <a:r>
              <a:rPr lang="en-US" sz="1800" b="1" dirty="0">
                <a:solidFill>
                  <a:srgbClr val="C6A25D"/>
                </a:solidFill>
              </a:rPr>
              <a:t>452</a:t>
            </a:r>
            <a:endParaRPr lang="en-US" sz="1800" dirty="0"/>
          </a:p>
        </p:txBody>
      </p:sp>
      <p:sp>
        <p:nvSpPr>
          <p:cNvPr id="45" name="Text 42"/>
          <p:cNvSpPr/>
          <p:nvPr/>
        </p:nvSpPr>
        <p:spPr>
          <a:xfrm>
            <a:off x="6208776" y="5888736"/>
            <a:ext cx="1508760" cy="256032"/>
          </a:xfrm>
          <a:prstGeom prst="rect">
            <a:avLst/>
          </a:prstGeom>
          <a:noFill/>
          <a:ln/>
        </p:spPr>
        <p:txBody>
          <a:bodyPr wrap="square" lIns="0" tIns="0" rIns="0" bIns="0" rtlCol="0" anchor="ctr">
            <a:normAutofit/>
          </a:bodyPr>
          <a:lstStyle/>
          <a:p>
            <a:pPr marL="0" indent="0" algn="ctr">
              <a:buNone/>
            </a:pPr>
            <a:r>
              <a:rPr lang="en-US" sz="930" dirty="0">
                <a:solidFill>
                  <a:srgbClr val="6D7774"/>
                </a:solidFill>
              </a:rPr>
              <a:t>validation</a:t>
            </a:r>
            <a:endParaRPr lang="en-US" sz="930" dirty="0"/>
          </a:p>
        </p:txBody>
      </p:sp>
      <p:sp>
        <p:nvSpPr>
          <p:cNvPr id="46" name="Text 43"/>
          <p:cNvSpPr/>
          <p:nvPr/>
        </p:nvSpPr>
        <p:spPr>
          <a:xfrm>
            <a:off x="8055864" y="5577840"/>
            <a:ext cx="1508760" cy="274320"/>
          </a:xfrm>
          <a:prstGeom prst="rect">
            <a:avLst/>
          </a:prstGeom>
          <a:noFill/>
          <a:ln/>
        </p:spPr>
        <p:txBody>
          <a:bodyPr wrap="square" lIns="0" tIns="0" rIns="0" bIns="0" rtlCol="0" anchor="ctr"/>
          <a:lstStyle/>
          <a:p>
            <a:pPr marL="0" indent="0" algn="ctr">
              <a:buNone/>
            </a:pPr>
            <a:r>
              <a:rPr lang="en-US" sz="1800" b="1" dirty="0">
                <a:solidFill>
                  <a:srgbClr val="B87461"/>
                </a:solidFill>
              </a:rPr>
              <a:t>453</a:t>
            </a:r>
            <a:endParaRPr lang="en-US" sz="1800" dirty="0"/>
          </a:p>
        </p:txBody>
      </p:sp>
      <p:sp>
        <p:nvSpPr>
          <p:cNvPr id="47" name="Text 44"/>
          <p:cNvSpPr/>
          <p:nvPr/>
        </p:nvSpPr>
        <p:spPr>
          <a:xfrm>
            <a:off x="8055864" y="5888736"/>
            <a:ext cx="1508760" cy="256032"/>
          </a:xfrm>
          <a:prstGeom prst="rect">
            <a:avLst/>
          </a:prstGeom>
          <a:noFill/>
          <a:ln/>
        </p:spPr>
        <p:txBody>
          <a:bodyPr wrap="square" lIns="0" tIns="0" rIns="0" bIns="0" rtlCol="0" anchor="ctr">
            <a:normAutofit/>
          </a:bodyPr>
          <a:lstStyle/>
          <a:p>
            <a:pPr marL="0" indent="0" algn="ctr">
              <a:buNone/>
            </a:pPr>
            <a:r>
              <a:rPr lang="en-US" sz="930" dirty="0">
                <a:solidFill>
                  <a:srgbClr val="6D7774"/>
                </a:solidFill>
              </a:rPr>
              <a:t>locked test</a:t>
            </a:r>
            <a:endParaRPr lang="en-US" sz="930" dirty="0"/>
          </a:p>
        </p:txBody>
      </p:sp>
      <p:sp>
        <p:nvSpPr>
          <p:cNvPr id="48" name="Text 45"/>
          <p:cNvSpPr/>
          <p:nvPr/>
        </p:nvSpPr>
        <p:spPr>
          <a:xfrm>
            <a:off x="9902952" y="5577840"/>
            <a:ext cx="1508760" cy="274320"/>
          </a:xfrm>
          <a:prstGeom prst="rect">
            <a:avLst/>
          </a:prstGeom>
          <a:noFill/>
          <a:ln/>
        </p:spPr>
        <p:txBody>
          <a:bodyPr wrap="square" lIns="0" tIns="0" rIns="0" bIns="0" rtlCol="0" anchor="ctr"/>
          <a:lstStyle/>
          <a:p>
            <a:pPr marL="0" indent="0" algn="ctr">
              <a:buNone/>
            </a:pPr>
            <a:r>
              <a:rPr lang="en-US" sz="1800" b="1" dirty="0">
                <a:solidFill>
                  <a:srgbClr val="6D7774"/>
                </a:solidFill>
              </a:rPr>
              <a:t>484</a:t>
            </a:r>
            <a:endParaRPr lang="en-US" sz="1800" dirty="0"/>
          </a:p>
        </p:txBody>
      </p:sp>
      <p:sp>
        <p:nvSpPr>
          <p:cNvPr id="49" name="Text 46"/>
          <p:cNvSpPr/>
          <p:nvPr/>
        </p:nvSpPr>
        <p:spPr>
          <a:xfrm>
            <a:off x="9902952" y="5888736"/>
            <a:ext cx="1508760" cy="256032"/>
          </a:xfrm>
          <a:prstGeom prst="rect">
            <a:avLst/>
          </a:prstGeom>
          <a:noFill/>
          <a:ln/>
        </p:spPr>
        <p:txBody>
          <a:bodyPr wrap="square" lIns="0" tIns="0" rIns="0" bIns="0" rtlCol="0" anchor="ctr">
            <a:normAutofit/>
          </a:bodyPr>
          <a:lstStyle/>
          <a:p>
            <a:pPr marL="0" indent="0" algn="ctr">
              <a:buNone/>
            </a:pPr>
            <a:r>
              <a:rPr lang="en-US" sz="930" dirty="0">
                <a:solidFill>
                  <a:srgbClr val="6D7774"/>
                </a:solidFill>
              </a:rPr>
              <a:t>embargo</a:t>
            </a:r>
            <a:endParaRPr lang="en-US" sz="930" dirty="0"/>
          </a:p>
        </p:txBody>
      </p:sp>
      <p:sp>
        <p:nvSpPr>
          <p:cNvPr id="51"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94360" y="347472"/>
            <a:ext cx="2834640" cy="164592"/>
          </a:xfrm>
          <a:prstGeom prst="rect">
            <a:avLst/>
          </a:prstGeom>
          <a:noFill/>
          <a:ln/>
        </p:spPr>
        <p:txBody>
          <a:bodyPr wrap="square" lIns="0" tIns="0" rIns="0" bIns="0" rtlCol="0" anchor="ctr"/>
          <a:lstStyle/>
          <a:p>
            <a:pPr marL="0" indent="0">
              <a:buNone/>
            </a:pPr>
            <a:r>
              <a:rPr lang="en-US" sz="850" b="1" kern="0" spc="120" dirty="0">
                <a:solidFill>
                  <a:srgbClr val="6E8E7D"/>
                </a:solidFill>
              </a:rPr>
              <a:t>APPROACH</a:t>
            </a:r>
            <a:endParaRPr lang="en-US" sz="850" dirty="0"/>
          </a:p>
        </p:txBody>
      </p:sp>
      <p:sp>
        <p:nvSpPr>
          <p:cNvPr id="3" name="Text 1"/>
          <p:cNvSpPr/>
          <p:nvPr/>
        </p:nvSpPr>
        <p:spPr>
          <a:xfrm>
            <a:off x="594360" y="566928"/>
            <a:ext cx="10698480" cy="502920"/>
          </a:xfrm>
          <a:prstGeom prst="rect">
            <a:avLst/>
          </a:prstGeom>
          <a:noFill/>
          <a:ln/>
        </p:spPr>
        <p:txBody>
          <a:bodyPr wrap="square" lIns="0" tIns="0" rIns="0" bIns="0" rtlCol="0" anchor="ctr"/>
          <a:lstStyle/>
          <a:p>
            <a:pPr marL="0" indent="0">
              <a:buNone/>
            </a:pPr>
            <a:r>
              <a:rPr lang="en-US" sz="2800" b="1" dirty="0">
                <a:solidFill>
                  <a:srgbClr val="24313A"/>
                </a:solidFill>
              </a:rPr>
              <a:t>Three-member modeling strategy</a:t>
            </a:r>
            <a:endParaRPr lang="en-US" sz="2800" dirty="0"/>
          </a:p>
        </p:txBody>
      </p:sp>
      <p:sp>
        <p:nvSpPr>
          <p:cNvPr id="4" name="Shape 2"/>
          <p:cNvSpPr/>
          <p:nvPr/>
        </p:nvSpPr>
        <p:spPr>
          <a:xfrm>
            <a:off x="594360" y="1143000"/>
            <a:ext cx="658368" cy="0"/>
          </a:xfrm>
          <a:prstGeom prst="line">
            <a:avLst/>
          </a:prstGeom>
          <a:noFill/>
          <a:ln w="27940">
            <a:solidFill>
              <a:srgbClr val="B87461"/>
            </a:solidFill>
            <a:prstDash val="solid"/>
          </a:ln>
        </p:spPr>
      </p:sp>
      <p:sp>
        <p:nvSpPr>
          <p:cNvPr id="5" name="Shape 3"/>
          <p:cNvSpPr/>
          <p:nvPr/>
        </p:nvSpPr>
        <p:spPr>
          <a:xfrm>
            <a:off x="10332720" y="384048"/>
            <a:ext cx="1234440" cy="256032"/>
          </a:xfrm>
          <a:prstGeom prst="roundRect">
            <a:avLst/>
          </a:prstGeom>
          <a:solidFill>
            <a:srgbClr val="E8EFEA"/>
          </a:solidFill>
          <a:ln w="12700">
            <a:solidFill>
              <a:srgbClr val="E8EFEA"/>
            </a:solidFill>
            <a:prstDash val="solid"/>
          </a:ln>
        </p:spPr>
      </p:sp>
      <p:sp>
        <p:nvSpPr>
          <p:cNvPr id="6" name="Text 4"/>
          <p:cNvSpPr/>
          <p:nvPr/>
        </p:nvSpPr>
        <p:spPr>
          <a:xfrm>
            <a:off x="10387584" y="416052"/>
            <a:ext cx="1124712" cy="146304"/>
          </a:xfrm>
          <a:prstGeom prst="rect">
            <a:avLst/>
          </a:prstGeom>
          <a:noFill/>
          <a:ln/>
        </p:spPr>
        <p:txBody>
          <a:bodyPr wrap="square" lIns="0" tIns="0" rIns="0" bIns="0" rtlCol="0" anchor="ctr"/>
          <a:lstStyle/>
          <a:p>
            <a:pPr marL="0" indent="0" algn="ctr">
              <a:buNone/>
            </a:pPr>
            <a:r>
              <a:rPr lang="en-US" sz="740" b="1" dirty="0">
                <a:solidFill>
                  <a:srgbClr val="6E8E7D"/>
                </a:solidFill>
              </a:rPr>
              <a:t>5 / 11</a:t>
            </a:r>
            <a:endParaRPr lang="en-US" sz="740" dirty="0"/>
          </a:p>
        </p:txBody>
      </p:sp>
      <p:sp>
        <p:nvSpPr>
          <p:cNvPr id="7" name="Text 5"/>
          <p:cNvSpPr/>
          <p:nvPr/>
        </p:nvSpPr>
        <p:spPr>
          <a:xfrm>
            <a:off x="658368" y="1298448"/>
            <a:ext cx="7772400" cy="292608"/>
          </a:xfrm>
          <a:prstGeom prst="rect">
            <a:avLst/>
          </a:prstGeom>
          <a:noFill/>
          <a:ln/>
        </p:spPr>
        <p:txBody>
          <a:bodyPr wrap="square" lIns="0" tIns="0" rIns="0" bIns="0" rtlCol="0" anchor="ctr"/>
          <a:lstStyle/>
          <a:p>
            <a:pPr marL="0" indent="0">
              <a:buNone/>
            </a:pPr>
            <a:r>
              <a:rPr lang="en-US" sz="1440" dirty="0">
                <a:solidFill>
                  <a:srgbClr val="6D7774"/>
                </a:solidFill>
              </a:rPr>
              <a:t>Complementary views of the same post are learned separately, then combined late.</a:t>
            </a:r>
            <a:endParaRPr lang="en-US" sz="1440" dirty="0"/>
          </a:p>
        </p:txBody>
      </p:sp>
      <p:sp>
        <p:nvSpPr>
          <p:cNvPr id="8" name="Shape 6"/>
          <p:cNvSpPr/>
          <p:nvPr/>
        </p:nvSpPr>
        <p:spPr>
          <a:xfrm>
            <a:off x="676656" y="1783080"/>
            <a:ext cx="3200400" cy="3474720"/>
          </a:xfrm>
          <a:prstGeom prst="roundRect">
            <a:avLst>
              <a:gd name="adj" fmla="val 3429"/>
            </a:avLst>
          </a:prstGeom>
          <a:solidFill>
            <a:srgbClr val="E9F0F4"/>
          </a:solidFill>
          <a:ln w="11430">
            <a:solidFill>
              <a:srgbClr val="E9F0F4"/>
            </a:solidFill>
            <a:prstDash val="solid"/>
          </a:ln>
        </p:spPr>
      </p:sp>
      <p:sp>
        <p:nvSpPr>
          <p:cNvPr id="9" name="Shape 7"/>
          <p:cNvSpPr/>
          <p:nvPr/>
        </p:nvSpPr>
        <p:spPr>
          <a:xfrm>
            <a:off x="676656" y="1783080"/>
            <a:ext cx="3200400" cy="73152"/>
          </a:xfrm>
          <a:prstGeom prst="rect">
            <a:avLst/>
          </a:prstGeom>
          <a:solidFill>
            <a:srgbClr val="5C7F96"/>
          </a:solidFill>
          <a:ln w="12700">
            <a:solidFill>
              <a:srgbClr val="5C7F96"/>
            </a:solidFill>
            <a:prstDash val="solid"/>
          </a:ln>
        </p:spPr>
      </p:sp>
      <p:sp>
        <p:nvSpPr>
          <p:cNvPr id="10" name="Text 8"/>
          <p:cNvSpPr/>
          <p:nvPr/>
        </p:nvSpPr>
        <p:spPr>
          <a:xfrm>
            <a:off x="932688" y="2029968"/>
            <a:ext cx="2743200" cy="292608"/>
          </a:xfrm>
          <a:prstGeom prst="rect">
            <a:avLst/>
          </a:prstGeom>
          <a:noFill/>
          <a:ln/>
        </p:spPr>
        <p:txBody>
          <a:bodyPr wrap="square" lIns="0" tIns="0" rIns="0" bIns="0" rtlCol="0" anchor="ctr">
            <a:normAutofit/>
          </a:bodyPr>
          <a:lstStyle/>
          <a:p>
            <a:pPr marL="0" indent="0">
              <a:buNone/>
            </a:pPr>
            <a:r>
              <a:rPr lang="en-US" sz="1650" b="1" dirty="0">
                <a:solidFill>
                  <a:srgbClr val="24313A"/>
                </a:solidFill>
              </a:rPr>
              <a:t>Member 1 • structured</a:t>
            </a:r>
            <a:endParaRPr lang="en-US" sz="1650" dirty="0"/>
          </a:p>
        </p:txBody>
      </p:sp>
      <p:sp>
        <p:nvSpPr>
          <p:cNvPr id="11" name="Text 9"/>
          <p:cNvSpPr/>
          <p:nvPr/>
        </p:nvSpPr>
        <p:spPr>
          <a:xfrm>
            <a:off x="932688" y="2377440"/>
            <a:ext cx="2743200" cy="219456"/>
          </a:xfrm>
          <a:prstGeom prst="rect">
            <a:avLst/>
          </a:prstGeom>
          <a:noFill/>
          <a:ln/>
        </p:spPr>
        <p:txBody>
          <a:bodyPr wrap="square" lIns="0" tIns="0" rIns="0" bIns="0" rtlCol="0" anchor="ctr"/>
          <a:lstStyle/>
          <a:p>
            <a:pPr marL="0" indent="0">
              <a:buNone/>
            </a:pPr>
            <a:r>
              <a:rPr lang="en-US" sz="1060" b="1" dirty="0">
                <a:solidFill>
                  <a:srgbClr val="5C7F96"/>
                </a:solidFill>
              </a:rPr>
              <a:t>CatBoost regression</a:t>
            </a:r>
            <a:endParaRPr lang="en-US" sz="1060" dirty="0"/>
          </a:p>
        </p:txBody>
      </p:sp>
      <p:sp>
        <p:nvSpPr>
          <p:cNvPr id="12" name="Shape 10"/>
          <p:cNvSpPr/>
          <p:nvPr/>
        </p:nvSpPr>
        <p:spPr>
          <a:xfrm>
            <a:off x="950976" y="2907792"/>
            <a:ext cx="64008" cy="64008"/>
          </a:xfrm>
          <a:prstGeom prst="ellipse">
            <a:avLst/>
          </a:prstGeom>
          <a:solidFill>
            <a:srgbClr val="5C7F96"/>
          </a:solidFill>
          <a:ln w="12700">
            <a:solidFill>
              <a:srgbClr val="5C7F96"/>
            </a:solidFill>
            <a:prstDash val="solid"/>
          </a:ln>
        </p:spPr>
      </p:sp>
      <p:sp>
        <p:nvSpPr>
          <p:cNvPr id="13" name="Text 11"/>
          <p:cNvSpPr/>
          <p:nvPr/>
        </p:nvSpPr>
        <p:spPr>
          <a:xfrm>
            <a:off x="1115568" y="2788920"/>
            <a:ext cx="2523744" cy="640080"/>
          </a:xfrm>
          <a:prstGeom prst="rect">
            <a:avLst/>
          </a:prstGeom>
          <a:noFill/>
          <a:ln/>
        </p:spPr>
        <p:txBody>
          <a:bodyPr wrap="square" lIns="0" tIns="0" rIns="0" bIns="0" rtlCol="0" anchor="ctr">
            <a:normAutofit/>
          </a:bodyPr>
          <a:lstStyle/>
          <a:p>
            <a:pPr marL="0" indent="0">
              <a:buNone/>
            </a:pPr>
            <a:r>
              <a:rPr lang="en-US" sz="1190" dirty="0">
                <a:solidFill>
                  <a:srgbClr val="28343D"/>
                </a:solidFill>
              </a:rPr>
              <a:t>Metadata + behavioral + lexical features</a:t>
            </a:r>
            <a:endParaRPr lang="en-US" sz="1190" dirty="0"/>
          </a:p>
        </p:txBody>
      </p:sp>
      <p:sp>
        <p:nvSpPr>
          <p:cNvPr id="14" name="Shape 12"/>
          <p:cNvSpPr/>
          <p:nvPr/>
        </p:nvSpPr>
        <p:spPr>
          <a:xfrm>
            <a:off x="950976" y="3575304"/>
            <a:ext cx="64008" cy="64008"/>
          </a:xfrm>
          <a:prstGeom prst="ellipse">
            <a:avLst/>
          </a:prstGeom>
          <a:solidFill>
            <a:srgbClr val="5C7F96"/>
          </a:solidFill>
          <a:ln w="12700">
            <a:solidFill>
              <a:srgbClr val="5C7F96"/>
            </a:solidFill>
            <a:prstDash val="solid"/>
          </a:ln>
        </p:spPr>
      </p:sp>
      <p:sp>
        <p:nvSpPr>
          <p:cNvPr id="15" name="Text 13"/>
          <p:cNvSpPr/>
          <p:nvPr/>
        </p:nvSpPr>
        <p:spPr>
          <a:xfrm>
            <a:off x="1115568" y="3456432"/>
            <a:ext cx="2523744" cy="640080"/>
          </a:xfrm>
          <a:prstGeom prst="rect">
            <a:avLst/>
          </a:prstGeom>
          <a:noFill/>
          <a:ln/>
        </p:spPr>
        <p:txBody>
          <a:bodyPr wrap="square" lIns="0" tIns="0" rIns="0" bIns="0" rtlCol="0" anchor="ctr">
            <a:normAutofit/>
          </a:bodyPr>
          <a:lstStyle/>
          <a:p>
            <a:pPr marL="0" indent="0">
              <a:buNone/>
            </a:pPr>
            <a:r>
              <a:rPr lang="en-US" sz="1190" dirty="0">
                <a:solidFill>
                  <a:srgbClr val="28343D"/>
                </a:solidFill>
              </a:rPr>
              <a:t>5 grouped folds → OOF train predictions</a:t>
            </a:r>
            <a:endParaRPr lang="en-US" sz="1190" dirty="0"/>
          </a:p>
        </p:txBody>
      </p:sp>
      <p:sp>
        <p:nvSpPr>
          <p:cNvPr id="16" name="Shape 14"/>
          <p:cNvSpPr/>
          <p:nvPr/>
        </p:nvSpPr>
        <p:spPr>
          <a:xfrm>
            <a:off x="950976" y="4242816"/>
            <a:ext cx="64008" cy="64008"/>
          </a:xfrm>
          <a:prstGeom prst="ellipse">
            <a:avLst/>
          </a:prstGeom>
          <a:solidFill>
            <a:srgbClr val="5C7F96"/>
          </a:solidFill>
          <a:ln w="12700">
            <a:solidFill>
              <a:srgbClr val="5C7F96"/>
            </a:solidFill>
            <a:prstDash val="solid"/>
          </a:ln>
        </p:spPr>
      </p:sp>
      <p:sp>
        <p:nvSpPr>
          <p:cNvPr id="17" name="Text 15"/>
          <p:cNvSpPr/>
          <p:nvPr/>
        </p:nvSpPr>
        <p:spPr>
          <a:xfrm>
            <a:off x="1115568" y="4123944"/>
            <a:ext cx="2523744" cy="640080"/>
          </a:xfrm>
          <a:prstGeom prst="rect">
            <a:avLst/>
          </a:prstGeom>
          <a:noFill/>
          <a:ln/>
        </p:spPr>
        <p:txBody>
          <a:bodyPr wrap="square" lIns="0" tIns="0" rIns="0" bIns="0" rtlCol="0" anchor="ctr">
            <a:normAutofit/>
          </a:bodyPr>
          <a:lstStyle/>
          <a:p>
            <a:pPr marL="0" indent="0">
              <a:buNone/>
            </a:pPr>
            <a:r>
              <a:rPr lang="en-US" sz="1190" dirty="0">
                <a:solidFill>
                  <a:srgbClr val="28343D"/>
                </a:solidFill>
              </a:rPr>
              <a:t>Fold ensemble for validation / test</a:t>
            </a:r>
            <a:endParaRPr lang="en-US" sz="1190" dirty="0"/>
          </a:p>
        </p:txBody>
      </p:sp>
      <p:sp>
        <p:nvSpPr>
          <p:cNvPr id="18" name="Shape 16"/>
          <p:cNvSpPr/>
          <p:nvPr/>
        </p:nvSpPr>
        <p:spPr>
          <a:xfrm>
            <a:off x="4160520" y="1783080"/>
            <a:ext cx="3200400" cy="3474720"/>
          </a:xfrm>
          <a:prstGeom prst="roundRect">
            <a:avLst>
              <a:gd name="adj" fmla="val 3429"/>
            </a:avLst>
          </a:prstGeom>
          <a:solidFill>
            <a:srgbClr val="E8EFEA"/>
          </a:solidFill>
          <a:ln w="11430">
            <a:solidFill>
              <a:srgbClr val="E8EFEA"/>
            </a:solidFill>
            <a:prstDash val="solid"/>
          </a:ln>
        </p:spPr>
      </p:sp>
      <p:sp>
        <p:nvSpPr>
          <p:cNvPr id="19" name="Shape 17"/>
          <p:cNvSpPr/>
          <p:nvPr/>
        </p:nvSpPr>
        <p:spPr>
          <a:xfrm>
            <a:off x="4160520" y="1783080"/>
            <a:ext cx="3200400" cy="73152"/>
          </a:xfrm>
          <a:prstGeom prst="rect">
            <a:avLst/>
          </a:prstGeom>
          <a:solidFill>
            <a:srgbClr val="6E8E7D"/>
          </a:solidFill>
          <a:ln w="12700">
            <a:solidFill>
              <a:srgbClr val="6E8E7D"/>
            </a:solidFill>
            <a:prstDash val="solid"/>
          </a:ln>
        </p:spPr>
      </p:sp>
      <p:sp>
        <p:nvSpPr>
          <p:cNvPr id="20" name="Text 18"/>
          <p:cNvSpPr/>
          <p:nvPr/>
        </p:nvSpPr>
        <p:spPr>
          <a:xfrm>
            <a:off x="4416552" y="2029968"/>
            <a:ext cx="2743200" cy="292608"/>
          </a:xfrm>
          <a:prstGeom prst="rect">
            <a:avLst/>
          </a:prstGeom>
          <a:noFill/>
          <a:ln/>
        </p:spPr>
        <p:txBody>
          <a:bodyPr wrap="square" lIns="0" tIns="0" rIns="0" bIns="0" rtlCol="0" anchor="ctr">
            <a:normAutofit/>
          </a:bodyPr>
          <a:lstStyle/>
          <a:p>
            <a:pPr marL="0" indent="0">
              <a:buNone/>
            </a:pPr>
            <a:r>
              <a:rPr lang="en-US" sz="1650" b="1" dirty="0">
                <a:solidFill>
                  <a:srgbClr val="24313A"/>
                </a:solidFill>
              </a:rPr>
              <a:t>Member 2 • text only</a:t>
            </a:r>
            <a:endParaRPr lang="en-US" sz="1650" dirty="0"/>
          </a:p>
        </p:txBody>
      </p:sp>
      <p:sp>
        <p:nvSpPr>
          <p:cNvPr id="21" name="Text 19"/>
          <p:cNvSpPr/>
          <p:nvPr/>
        </p:nvSpPr>
        <p:spPr>
          <a:xfrm>
            <a:off x="4416552" y="2377440"/>
            <a:ext cx="2743200" cy="219456"/>
          </a:xfrm>
          <a:prstGeom prst="rect">
            <a:avLst/>
          </a:prstGeom>
          <a:noFill/>
          <a:ln/>
        </p:spPr>
        <p:txBody>
          <a:bodyPr wrap="square" lIns="0" tIns="0" rIns="0" bIns="0" rtlCol="0" anchor="ctr"/>
          <a:lstStyle/>
          <a:p>
            <a:pPr marL="0" indent="0">
              <a:buNone/>
            </a:pPr>
            <a:r>
              <a:rPr lang="en-US" sz="1060" b="1" dirty="0">
                <a:solidFill>
                  <a:srgbClr val="6E8E7D"/>
                </a:solidFill>
              </a:rPr>
              <a:t>ParsBERT regression</a:t>
            </a:r>
            <a:endParaRPr lang="en-US" sz="1060" dirty="0"/>
          </a:p>
        </p:txBody>
      </p:sp>
      <p:sp>
        <p:nvSpPr>
          <p:cNvPr id="22" name="Shape 20"/>
          <p:cNvSpPr/>
          <p:nvPr/>
        </p:nvSpPr>
        <p:spPr>
          <a:xfrm>
            <a:off x="4434840" y="2907792"/>
            <a:ext cx="64008" cy="64008"/>
          </a:xfrm>
          <a:prstGeom prst="ellipse">
            <a:avLst/>
          </a:prstGeom>
          <a:solidFill>
            <a:srgbClr val="6E8E7D"/>
          </a:solidFill>
          <a:ln w="12700">
            <a:solidFill>
              <a:srgbClr val="6E8E7D"/>
            </a:solidFill>
            <a:prstDash val="solid"/>
          </a:ln>
        </p:spPr>
      </p:sp>
      <p:sp>
        <p:nvSpPr>
          <p:cNvPr id="23" name="Text 21"/>
          <p:cNvSpPr/>
          <p:nvPr/>
        </p:nvSpPr>
        <p:spPr>
          <a:xfrm>
            <a:off x="4599432" y="2788920"/>
            <a:ext cx="2523744" cy="640080"/>
          </a:xfrm>
          <a:prstGeom prst="rect">
            <a:avLst/>
          </a:prstGeom>
          <a:noFill/>
          <a:ln/>
        </p:spPr>
        <p:txBody>
          <a:bodyPr wrap="square" lIns="0" tIns="0" rIns="0" bIns="0" rtlCol="0" anchor="ctr">
            <a:normAutofit/>
          </a:bodyPr>
          <a:lstStyle/>
          <a:p>
            <a:pPr marL="0" indent="0">
              <a:buNone/>
            </a:pPr>
            <a:r>
              <a:rPr lang="en-US" sz="1190" dirty="0">
                <a:solidFill>
                  <a:srgbClr val="28343D"/>
                </a:solidFill>
              </a:rPr>
              <a:t>Raw Persian content only</a:t>
            </a:r>
            <a:endParaRPr lang="en-US" sz="1190" dirty="0"/>
          </a:p>
        </p:txBody>
      </p:sp>
      <p:sp>
        <p:nvSpPr>
          <p:cNvPr id="24" name="Shape 22"/>
          <p:cNvSpPr/>
          <p:nvPr/>
        </p:nvSpPr>
        <p:spPr>
          <a:xfrm>
            <a:off x="4434840" y="3575304"/>
            <a:ext cx="64008" cy="64008"/>
          </a:xfrm>
          <a:prstGeom prst="ellipse">
            <a:avLst/>
          </a:prstGeom>
          <a:solidFill>
            <a:srgbClr val="6E8E7D"/>
          </a:solidFill>
          <a:ln w="12700">
            <a:solidFill>
              <a:srgbClr val="6E8E7D"/>
            </a:solidFill>
            <a:prstDash val="solid"/>
          </a:ln>
        </p:spPr>
      </p:sp>
      <p:sp>
        <p:nvSpPr>
          <p:cNvPr id="25" name="Text 23"/>
          <p:cNvSpPr/>
          <p:nvPr/>
        </p:nvSpPr>
        <p:spPr>
          <a:xfrm>
            <a:off x="4599432" y="3456432"/>
            <a:ext cx="2523744" cy="640080"/>
          </a:xfrm>
          <a:prstGeom prst="rect">
            <a:avLst/>
          </a:prstGeom>
          <a:noFill/>
          <a:ln/>
        </p:spPr>
        <p:txBody>
          <a:bodyPr wrap="square" lIns="0" tIns="0" rIns="0" bIns="0" rtlCol="0" anchor="ctr">
            <a:normAutofit/>
          </a:bodyPr>
          <a:lstStyle/>
          <a:p>
            <a:pPr marL="0" indent="0">
              <a:buNone/>
            </a:pPr>
            <a:r>
              <a:rPr lang="en-US" sz="1190" dirty="0">
                <a:solidFill>
                  <a:srgbClr val="28343D"/>
                </a:solidFill>
              </a:rPr>
              <a:t>Same grouped-fold discipline</a:t>
            </a:r>
            <a:endParaRPr lang="en-US" sz="1190" dirty="0"/>
          </a:p>
        </p:txBody>
      </p:sp>
      <p:sp>
        <p:nvSpPr>
          <p:cNvPr id="26" name="Shape 24"/>
          <p:cNvSpPr/>
          <p:nvPr/>
        </p:nvSpPr>
        <p:spPr>
          <a:xfrm>
            <a:off x="4434840" y="4242816"/>
            <a:ext cx="64008" cy="64008"/>
          </a:xfrm>
          <a:prstGeom prst="ellipse">
            <a:avLst/>
          </a:prstGeom>
          <a:solidFill>
            <a:srgbClr val="6E8E7D"/>
          </a:solidFill>
          <a:ln w="12700">
            <a:solidFill>
              <a:srgbClr val="6E8E7D"/>
            </a:solidFill>
            <a:prstDash val="solid"/>
          </a:ln>
        </p:spPr>
      </p:sp>
      <p:sp>
        <p:nvSpPr>
          <p:cNvPr id="27" name="Text 25"/>
          <p:cNvSpPr/>
          <p:nvPr/>
        </p:nvSpPr>
        <p:spPr>
          <a:xfrm>
            <a:off x="4599432" y="4123944"/>
            <a:ext cx="2523744" cy="640080"/>
          </a:xfrm>
          <a:prstGeom prst="rect">
            <a:avLst/>
          </a:prstGeom>
          <a:noFill/>
          <a:ln/>
        </p:spPr>
        <p:txBody>
          <a:bodyPr wrap="square" lIns="0" tIns="0" rIns="0" bIns="0" rtlCol="0" anchor="ctr">
            <a:normAutofit/>
          </a:bodyPr>
          <a:lstStyle/>
          <a:p>
            <a:pPr marL="0" indent="0">
              <a:buNone/>
            </a:pPr>
            <a:r>
              <a:rPr lang="en-US" sz="1190" dirty="0">
                <a:solidFill>
                  <a:srgbClr val="28343D"/>
                </a:solidFill>
              </a:rPr>
              <a:t>Scalar stress prediction for fusion</a:t>
            </a:r>
            <a:endParaRPr lang="en-US" sz="1190" dirty="0"/>
          </a:p>
        </p:txBody>
      </p:sp>
      <p:sp>
        <p:nvSpPr>
          <p:cNvPr id="28" name="Shape 26"/>
          <p:cNvSpPr/>
          <p:nvPr/>
        </p:nvSpPr>
        <p:spPr>
          <a:xfrm>
            <a:off x="7671816" y="1783080"/>
            <a:ext cx="3840480" cy="3474720"/>
          </a:xfrm>
          <a:prstGeom prst="roundRect">
            <a:avLst>
              <a:gd name="adj" fmla="val 3158"/>
            </a:avLst>
          </a:prstGeom>
          <a:solidFill>
            <a:srgbClr val="EEEAF2"/>
          </a:solidFill>
          <a:ln w="11430">
            <a:solidFill>
              <a:srgbClr val="EEEAF2"/>
            </a:solidFill>
            <a:prstDash val="solid"/>
          </a:ln>
        </p:spPr>
      </p:sp>
      <p:sp>
        <p:nvSpPr>
          <p:cNvPr id="29" name="Shape 27"/>
          <p:cNvSpPr/>
          <p:nvPr/>
        </p:nvSpPr>
        <p:spPr>
          <a:xfrm>
            <a:off x="7690104" y="1783080"/>
            <a:ext cx="3840480" cy="73152"/>
          </a:xfrm>
          <a:prstGeom prst="rect">
            <a:avLst/>
          </a:prstGeom>
          <a:solidFill>
            <a:srgbClr val="756D87"/>
          </a:solidFill>
          <a:ln w="12700">
            <a:solidFill>
              <a:srgbClr val="756D87"/>
            </a:solidFill>
            <a:prstDash val="solid"/>
          </a:ln>
        </p:spPr>
      </p:sp>
      <p:sp>
        <p:nvSpPr>
          <p:cNvPr id="30" name="Text 28"/>
          <p:cNvSpPr/>
          <p:nvPr/>
        </p:nvSpPr>
        <p:spPr>
          <a:xfrm>
            <a:off x="7900416" y="2029968"/>
            <a:ext cx="3383280" cy="292608"/>
          </a:xfrm>
          <a:prstGeom prst="rect">
            <a:avLst/>
          </a:prstGeom>
          <a:noFill/>
          <a:ln/>
        </p:spPr>
        <p:txBody>
          <a:bodyPr wrap="square" lIns="0" tIns="0" rIns="0" bIns="0" rtlCol="0" anchor="ctr">
            <a:normAutofit/>
          </a:bodyPr>
          <a:lstStyle/>
          <a:p>
            <a:pPr marL="0" indent="0">
              <a:buNone/>
            </a:pPr>
            <a:r>
              <a:rPr lang="en-US" sz="1650" b="1" dirty="0">
                <a:solidFill>
                  <a:srgbClr val="24313A"/>
                </a:solidFill>
              </a:rPr>
              <a:t>Member 3 • late fusion</a:t>
            </a:r>
            <a:endParaRPr lang="en-US" sz="1650" dirty="0"/>
          </a:p>
        </p:txBody>
      </p:sp>
      <p:sp>
        <p:nvSpPr>
          <p:cNvPr id="31" name="Text 29"/>
          <p:cNvSpPr/>
          <p:nvPr/>
        </p:nvSpPr>
        <p:spPr>
          <a:xfrm>
            <a:off x="7900416" y="2377440"/>
            <a:ext cx="3383280" cy="219456"/>
          </a:xfrm>
          <a:prstGeom prst="rect">
            <a:avLst/>
          </a:prstGeom>
          <a:noFill/>
          <a:ln/>
        </p:spPr>
        <p:txBody>
          <a:bodyPr wrap="square" lIns="0" tIns="0" rIns="0" bIns="0" rtlCol="0" anchor="ctr"/>
          <a:lstStyle/>
          <a:p>
            <a:pPr marL="0" indent="0">
              <a:buNone/>
            </a:pPr>
            <a:r>
              <a:rPr lang="en-US" sz="1060" b="1" dirty="0">
                <a:solidFill>
                  <a:srgbClr val="756D87"/>
                </a:solidFill>
              </a:rPr>
              <a:t>hybrid_catboost_rmse_depth3</a:t>
            </a:r>
            <a:endParaRPr lang="en-US" sz="1060" dirty="0"/>
          </a:p>
        </p:txBody>
      </p:sp>
      <p:sp>
        <p:nvSpPr>
          <p:cNvPr id="32" name="Shape 30"/>
          <p:cNvSpPr/>
          <p:nvPr/>
        </p:nvSpPr>
        <p:spPr>
          <a:xfrm>
            <a:off x="7918704" y="2907792"/>
            <a:ext cx="64008" cy="64008"/>
          </a:xfrm>
          <a:prstGeom prst="ellipse">
            <a:avLst/>
          </a:prstGeom>
          <a:solidFill>
            <a:srgbClr val="756D87"/>
          </a:solidFill>
          <a:ln w="12700">
            <a:solidFill>
              <a:srgbClr val="756D87"/>
            </a:solidFill>
            <a:prstDash val="solid"/>
          </a:ln>
        </p:spPr>
      </p:sp>
      <p:sp>
        <p:nvSpPr>
          <p:cNvPr id="33" name="Text 31"/>
          <p:cNvSpPr/>
          <p:nvPr/>
        </p:nvSpPr>
        <p:spPr>
          <a:xfrm>
            <a:off x="8083296" y="2788920"/>
            <a:ext cx="3163824" cy="640080"/>
          </a:xfrm>
          <a:prstGeom prst="rect">
            <a:avLst/>
          </a:prstGeom>
          <a:noFill/>
          <a:ln/>
        </p:spPr>
        <p:txBody>
          <a:bodyPr wrap="square" lIns="0" tIns="0" rIns="0" bIns="0" rtlCol="0" anchor="ctr">
            <a:normAutofit/>
          </a:bodyPr>
          <a:lstStyle/>
          <a:p>
            <a:pPr marL="0" indent="0">
              <a:buNone/>
            </a:pPr>
            <a:r>
              <a:rPr lang="en-US" sz="1190" dirty="0">
                <a:solidFill>
                  <a:srgbClr val="28343D"/>
                </a:solidFill>
              </a:rPr>
              <a:t>Member 1 prediction + Member 2 prediction</a:t>
            </a:r>
            <a:endParaRPr lang="en-US" sz="1190" dirty="0"/>
          </a:p>
        </p:txBody>
      </p:sp>
      <p:sp>
        <p:nvSpPr>
          <p:cNvPr id="34" name="Shape 32"/>
          <p:cNvSpPr/>
          <p:nvPr/>
        </p:nvSpPr>
        <p:spPr>
          <a:xfrm>
            <a:off x="7918704" y="3575304"/>
            <a:ext cx="64008" cy="64008"/>
          </a:xfrm>
          <a:prstGeom prst="ellipse">
            <a:avLst/>
          </a:prstGeom>
          <a:solidFill>
            <a:srgbClr val="756D87"/>
          </a:solidFill>
          <a:ln w="12700">
            <a:solidFill>
              <a:srgbClr val="756D87"/>
            </a:solidFill>
            <a:prstDash val="solid"/>
          </a:ln>
        </p:spPr>
      </p:sp>
      <p:sp>
        <p:nvSpPr>
          <p:cNvPr id="35" name="Text 33"/>
          <p:cNvSpPr/>
          <p:nvPr/>
        </p:nvSpPr>
        <p:spPr>
          <a:xfrm>
            <a:off x="8083296" y="3456432"/>
            <a:ext cx="3163824" cy="640080"/>
          </a:xfrm>
          <a:prstGeom prst="rect">
            <a:avLst/>
          </a:prstGeom>
          <a:noFill/>
          <a:ln/>
        </p:spPr>
        <p:txBody>
          <a:bodyPr wrap="square" lIns="0" tIns="0" rIns="0" bIns="0" rtlCol="0" anchor="ctr">
            <a:normAutofit/>
          </a:bodyPr>
          <a:lstStyle/>
          <a:p>
            <a:pPr marL="0" indent="0">
              <a:buNone/>
            </a:pPr>
            <a:r>
              <a:rPr lang="en-US" sz="1190" dirty="0">
                <a:solidFill>
                  <a:srgbClr val="28343D"/>
                </a:solidFill>
              </a:rPr>
              <a:t>Base mean / difference / |difference|</a:t>
            </a:r>
            <a:endParaRPr lang="en-US" sz="1190" dirty="0"/>
          </a:p>
        </p:txBody>
      </p:sp>
      <p:sp>
        <p:nvSpPr>
          <p:cNvPr id="36" name="Shape 34"/>
          <p:cNvSpPr/>
          <p:nvPr/>
        </p:nvSpPr>
        <p:spPr>
          <a:xfrm>
            <a:off x="7918704" y="4242816"/>
            <a:ext cx="64008" cy="64008"/>
          </a:xfrm>
          <a:prstGeom prst="ellipse">
            <a:avLst/>
          </a:prstGeom>
          <a:solidFill>
            <a:srgbClr val="756D87"/>
          </a:solidFill>
          <a:ln w="12700">
            <a:solidFill>
              <a:srgbClr val="756D87"/>
            </a:solidFill>
            <a:prstDash val="solid"/>
          </a:ln>
        </p:spPr>
      </p:sp>
      <p:sp>
        <p:nvSpPr>
          <p:cNvPr id="37" name="Text 35"/>
          <p:cNvSpPr/>
          <p:nvPr/>
        </p:nvSpPr>
        <p:spPr>
          <a:xfrm>
            <a:off x="8083296" y="4123944"/>
            <a:ext cx="3163824" cy="640080"/>
          </a:xfrm>
          <a:prstGeom prst="rect">
            <a:avLst/>
          </a:prstGeom>
          <a:noFill/>
          <a:ln/>
        </p:spPr>
        <p:txBody>
          <a:bodyPr wrap="square" lIns="0" tIns="0" rIns="0" bIns="0" rtlCol="0" anchor="ctr">
            <a:normAutofit/>
          </a:bodyPr>
          <a:lstStyle/>
          <a:p>
            <a:pPr marL="0" indent="0">
              <a:buNone/>
            </a:pPr>
            <a:r>
              <a:rPr lang="en-US" sz="1190" dirty="0">
                <a:solidFill>
                  <a:srgbClr val="28343D"/>
                </a:solidFill>
              </a:rPr>
              <a:t>Plus engineered tabular signals</a:t>
            </a:r>
            <a:endParaRPr lang="en-US" sz="1190" dirty="0"/>
          </a:p>
        </p:txBody>
      </p:sp>
      <p:sp>
        <p:nvSpPr>
          <p:cNvPr id="38" name="Shape 36"/>
          <p:cNvSpPr/>
          <p:nvPr/>
        </p:nvSpPr>
        <p:spPr>
          <a:xfrm>
            <a:off x="3877056" y="3342132"/>
            <a:ext cx="292608" cy="411480"/>
          </a:xfrm>
          <a:prstGeom prst="chevron">
            <a:avLst/>
          </a:prstGeom>
          <a:solidFill>
            <a:srgbClr val="CFCAC2"/>
          </a:solidFill>
          <a:ln w="12700">
            <a:solidFill>
              <a:srgbClr val="CFCAC2"/>
            </a:solidFill>
            <a:prstDash val="solid"/>
          </a:ln>
        </p:spPr>
      </p:sp>
      <p:sp>
        <p:nvSpPr>
          <p:cNvPr id="39" name="Shape 37"/>
          <p:cNvSpPr/>
          <p:nvPr/>
        </p:nvSpPr>
        <p:spPr>
          <a:xfrm>
            <a:off x="7388352" y="3314700"/>
            <a:ext cx="292608" cy="411480"/>
          </a:xfrm>
          <a:prstGeom prst="chevron">
            <a:avLst/>
          </a:prstGeom>
          <a:solidFill>
            <a:srgbClr val="CFCAC2"/>
          </a:solidFill>
          <a:ln w="12700">
            <a:solidFill>
              <a:srgbClr val="CFCAC2"/>
            </a:solidFill>
            <a:prstDash val="solid"/>
          </a:ln>
        </p:spPr>
      </p:sp>
      <p:sp>
        <p:nvSpPr>
          <p:cNvPr id="40" name="Shape 38"/>
          <p:cNvSpPr/>
          <p:nvPr/>
        </p:nvSpPr>
        <p:spPr>
          <a:xfrm>
            <a:off x="786384" y="5504688"/>
            <a:ext cx="6858000" cy="566928"/>
          </a:xfrm>
          <a:prstGeom prst="roundRect">
            <a:avLst>
              <a:gd name="adj" fmla="val 19355"/>
            </a:avLst>
          </a:prstGeom>
          <a:solidFill>
            <a:srgbClr val="FFFFFF"/>
          </a:solidFill>
          <a:ln w="11430">
            <a:solidFill>
              <a:srgbClr val="FFFFFF"/>
            </a:solidFill>
            <a:prstDash val="solid"/>
          </a:ln>
        </p:spPr>
      </p:sp>
      <p:sp>
        <p:nvSpPr>
          <p:cNvPr id="41" name="Shape 39"/>
          <p:cNvSpPr/>
          <p:nvPr/>
        </p:nvSpPr>
        <p:spPr>
          <a:xfrm>
            <a:off x="786384" y="5504688"/>
            <a:ext cx="50292" cy="566928"/>
          </a:xfrm>
          <a:prstGeom prst="rect">
            <a:avLst/>
          </a:prstGeom>
          <a:solidFill>
            <a:srgbClr val="C6A25D"/>
          </a:solidFill>
          <a:ln w="12700">
            <a:solidFill>
              <a:srgbClr val="C6A25D"/>
            </a:solidFill>
            <a:prstDash val="solid"/>
          </a:ln>
        </p:spPr>
      </p:sp>
      <p:sp>
        <p:nvSpPr>
          <p:cNvPr id="42" name="Text 40"/>
          <p:cNvSpPr/>
          <p:nvPr/>
        </p:nvSpPr>
        <p:spPr>
          <a:xfrm>
            <a:off x="941832" y="5577840"/>
            <a:ext cx="6620256" cy="420624"/>
          </a:xfrm>
          <a:prstGeom prst="rect">
            <a:avLst/>
          </a:prstGeom>
          <a:noFill/>
          <a:ln/>
        </p:spPr>
        <p:txBody>
          <a:bodyPr wrap="square" lIns="0" tIns="0" rIns="0" bIns="0" rtlCol="0" anchor="ctr">
            <a:normAutofit/>
          </a:bodyPr>
          <a:lstStyle/>
          <a:p>
            <a:pPr marL="0" indent="0">
              <a:buNone/>
            </a:pPr>
            <a:r>
              <a:rPr lang="en-US" sz="1160" dirty="0">
                <a:solidFill>
                  <a:srgbClr val="28343D"/>
                </a:solidFill>
              </a:rPr>
              <a:t>Ground-truth stress classes use 3 / 5 / 7. Prediction thresholds were calibrated on validation only: 3.10 / 4.91 / 6.46.</a:t>
            </a:r>
            <a:endParaRPr lang="en-US" sz="1160" dirty="0"/>
          </a:p>
        </p:txBody>
      </p:sp>
      <p:sp>
        <p:nvSpPr>
          <p:cNvPr id="43" name="Shape 41"/>
          <p:cNvSpPr/>
          <p:nvPr/>
        </p:nvSpPr>
        <p:spPr>
          <a:xfrm>
            <a:off x="7845552" y="5504688"/>
            <a:ext cx="3584448" cy="566928"/>
          </a:xfrm>
          <a:prstGeom prst="roundRect">
            <a:avLst>
              <a:gd name="adj" fmla="val 19355"/>
            </a:avLst>
          </a:prstGeom>
          <a:solidFill>
            <a:srgbClr val="FFFFFF"/>
          </a:solidFill>
          <a:ln w="11430">
            <a:solidFill>
              <a:srgbClr val="FFFFFF"/>
            </a:solidFill>
            <a:prstDash val="solid"/>
          </a:ln>
        </p:spPr>
      </p:sp>
      <p:sp>
        <p:nvSpPr>
          <p:cNvPr id="44" name="Shape 42"/>
          <p:cNvSpPr/>
          <p:nvPr/>
        </p:nvSpPr>
        <p:spPr>
          <a:xfrm>
            <a:off x="7845552" y="5504688"/>
            <a:ext cx="50292" cy="566928"/>
          </a:xfrm>
          <a:prstGeom prst="rect">
            <a:avLst/>
          </a:prstGeom>
          <a:solidFill>
            <a:srgbClr val="B87461"/>
          </a:solidFill>
          <a:ln w="12700">
            <a:solidFill>
              <a:srgbClr val="B87461"/>
            </a:solidFill>
            <a:prstDash val="solid"/>
          </a:ln>
        </p:spPr>
      </p:sp>
      <p:sp>
        <p:nvSpPr>
          <p:cNvPr id="45" name="Text 43"/>
          <p:cNvSpPr/>
          <p:nvPr/>
        </p:nvSpPr>
        <p:spPr>
          <a:xfrm>
            <a:off x="8001000" y="5577840"/>
            <a:ext cx="3346704" cy="420624"/>
          </a:xfrm>
          <a:prstGeom prst="rect">
            <a:avLst/>
          </a:prstGeom>
          <a:noFill/>
          <a:ln/>
        </p:spPr>
        <p:txBody>
          <a:bodyPr wrap="square" lIns="0" tIns="0" rIns="0" bIns="0" rtlCol="0" anchor="ctr">
            <a:normAutofit fontScale="92500" lnSpcReduction="10000"/>
          </a:bodyPr>
          <a:lstStyle/>
          <a:p>
            <a:pPr marL="0" indent="0">
              <a:buNone/>
            </a:pPr>
            <a:r>
              <a:rPr lang="en-US" sz="1060" dirty="0">
                <a:solidFill>
                  <a:srgbClr val="28343D"/>
                </a:solidFill>
              </a:rPr>
              <a:t>Leakage control: OOF train predictions + grouped folds; the locked test was opened once and is never reused for tuning.</a:t>
            </a:r>
            <a:endParaRPr lang="en-US" sz="1060" dirty="0"/>
          </a:p>
        </p:txBody>
      </p:sp>
      <p:sp>
        <p:nvSpPr>
          <p:cNvPr id="46"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94360" y="347472"/>
            <a:ext cx="2834640" cy="164592"/>
          </a:xfrm>
          <a:prstGeom prst="rect">
            <a:avLst/>
          </a:prstGeom>
          <a:noFill/>
          <a:ln/>
        </p:spPr>
        <p:txBody>
          <a:bodyPr wrap="square" lIns="0" tIns="0" rIns="0" bIns="0" rtlCol="0" anchor="ctr"/>
          <a:lstStyle/>
          <a:p>
            <a:pPr marL="0" indent="0">
              <a:buNone/>
            </a:pPr>
            <a:r>
              <a:rPr lang="en-US" sz="850" b="1" kern="0" spc="120" dirty="0">
                <a:solidFill>
                  <a:srgbClr val="6E8E7D"/>
                </a:solidFill>
              </a:rPr>
              <a:t>LEARNING LOOP</a:t>
            </a:r>
            <a:endParaRPr lang="en-US" sz="850" dirty="0"/>
          </a:p>
        </p:txBody>
      </p:sp>
      <p:sp>
        <p:nvSpPr>
          <p:cNvPr id="3" name="Text 1"/>
          <p:cNvSpPr/>
          <p:nvPr/>
        </p:nvSpPr>
        <p:spPr>
          <a:xfrm>
            <a:off x="594360" y="566928"/>
            <a:ext cx="10698480" cy="502920"/>
          </a:xfrm>
          <a:prstGeom prst="rect">
            <a:avLst/>
          </a:prstGeom>
          <a:noFill/>
          <a:ln/>
        </p:spPr>
        <p:txBody>
          <a:bodyPr wrap="square" lIns="0" tIns="0" rIns="0" bIns="0" rtlCol="0" anchor="ctr"/>
          <a:lstStyle/>
          <a:p>
            <a:pPr marL="0" indent="0">
              <a:buNone/>
            </a:pPr>
            <a:r>
              <a:rPr lang="en-US" sz="2800" b="1" dirty="0">
                <a:solidFill>
                  <a:srgbClr val="24313A"/>
                </a:solidFill>
              </a:rPr>
              <a:t>Active learning expanded the useful label space</a:t>
            </a:r>
            <a:endParaRPr lang="en-US" sz="2800" dirty="0"/>
          </a:p>
        </p:txBody>
      </p:sp>
      <p:sp>
        <p:nvSpPr>
          <p:cNvPr id="4" name="Shape 2"/>
          <p:cNvSpPr/>
          <p:nvPr/>
        </p:nvSpPr>
        <p:spPr>
          <a:xfrm>
            <a:off x="594360" y="1143000"/>
            <a:ext cx="658368" cy="0"/>
          </a:xfrm>
          <a:prstGeom prst="line">
            <a:avLst/>
          </a:prstGeom>
          <a:noFill/>
          <a:ln w="27940">
            <a:solidFill>
              <a:srgbClr val="B87461"/>
            </a:solidFill>
            <a:prstDash val="solid"/>
          </a:ln>
        </p:spPr>
      </p:sp>
      <p:sp>
        <p:nvSpPr>
          <p:cNvPr id="5" name="Shape 3"/>
          <p:cNvSpPr/>
          <p:nvPr/>
        </p:nvSpPr>
        <p:spPr>
          <a:xfrm>
            <a:off x="10332720" y="384048"/>
            <a:ext cx="1234440" cy="256032"/>
          </a:xfrm>
          <a:prstGeom prst="roundRect">
            <a:avLst/>
          </a:prstGeom>
          <a:solidFill>
            <a:srgbClr val="E8EFEA"/>
          </a:solidFill>
          <a:ln w="12700">
            <a:solidFill>
              <a:srgbClr val="E8EFEA"/>
            </a:solidFill>
            <a:prstDash val="solid"/>
          </a:ln>
        </p:spPr>
      </p:sp>
      <p:sp>
        <p:nvSpPr>
          <p:cNvPr id="6" name="Text 4"/>
          <p:cNvSpPr/>
          <p:nvPr/>
        </p:nvSpPr>
        <p:spPr>
          <a:xfrm>
            <a:off x="10387584" y="416052"/>
            <a:ext cx="1124712" cy="146304"/>
          </a:xfrm>
          <a:prstGeom prst="rect">
            <a:avLst/>
          </a:prstGeom>
          <a:noFill/>
          <a:ln/>
        </p:spPr>
        <p:txBody>
          <a:bodyPr wrap="square" lIns="0" tIns="0" rIns="0" bIns="0" rtlCol="0" anchor="ctr"/>
          <a:lstStyle/>
          <a:p>
            <a:pPr marL="0" indent="0" algn="ctr">
              <a:buNone/>
            </a:pPr>
            <a:r>
              <a:rPr lang="en-US" sz="740" b="1" dirty="0">
                <a:solidFill>
                  <a:srgbClr val="6E8E7D"/>
                </a:solidFill>
              </a:rPr>
              <a:t>6 / 11</a:t>
            </a:r>
            <a:endParaRPr lang="en-US" sz="740" dirty="0"/>
          </a:p>
        </p:txBody>
      </p:sp>
      <p:sp>
        <p:nvSpPr>
          <p:cNvPr id="7" name="Shape 5"/>
          <p:cNvSpPr/>
          <p:nvPr/>
        </p:nvSpPr>
        <p:spPr>
          <a:xfrm>
            <a:off x="640079" y="1389888"/>
            <a:ext cx="6784847" cy="4745729"/>
          </a:xfrm>
          <a:prstGeom prst="roundRect">
            <a:avLst>
              <a:gd name="adj" fmla="val 2526"/>
            </a:avLst>
          </a:prstGeom>
          <a:solidFill>
            <a:srgbClr val="FFFFFF"/>
          </a:solidFill>
          <a:ln w="11430">
            <a:solidFill>
              <a:srgbClr val="DDD8D0"/>
            </a:solidFill>
            <a:prstDash val="solid"/>
          </a:ln>
        </p:spPr>
      </p:sp>
      <p:pic>
        <p:nvPicPr>
          <p:cNvPr id="8" name="Image 0" descr="/mnt/data/fusion_phase4_8_project_visuals/outputs/report_figures/mae_before_after_active_learning_grouped.png"/>
          <p:cNvPicPr>
            <a:picLocks noChangeAspect="1"/>
          </p:cNvPicPr>
          <p:nvPr/>
        </p:nvPicPr>
        <p:blipFill>
          <a:blip r:embed="rId3"/>
          <a:stretch>
            <a:fillRect/>
          </a:stretch>
        </p:blipFill>
        <p:spPr>
          <a:xfrm>
            <a:off x="713231" y="1607875"/>
            <a:ext cx="6624309" cy="4298403"/>
          </a:xfrm>
          <a:prstGeom prst="rect">
            <a:avLst/>
          </a:prstGeom>
        </p:spPr>
      </p:pic>
      <p:sp>
        <p:nvSpPr>
          <p:cNvPr id="10" name="Text 7"/>
          <p:cNvSpPr/>
          <p:nvPr/>
        </p:nvSpPr>
        <p:spPr>
          <a:xfrm>
            <a:off x="7635240" y="1481328"/>
            <a:ext cx="3566160" cy="274320"/>
          </a:xfrm>
          <a:prstGeom prst="rect">
            <a:avLst/>
          </a:prstGeom>
          <a:noFill/>
          <a:ln/>
        </p:spPr>
        <p:txBody>
          <a:bodyPr wrap="square" lIns="0" tIns="0" rIns="0" bIns="0" rtlCol="0" anchor="ctr"/>
          <a:lstStyle/>
          <a:p>
            <a:pPr marL="0" indent="0">
              <a:buNone/>
            </a:pPr>
            <a:r>
              <a:rPr lang="en-US" sz="1650" b="1" dirty="0">
                <a:solidFill>
                  <a:srgbClr val="24313A"/>
                </a:solidFill>
              </a:rPr>
              <a:t>Active-learning loop</a:t>
            </a:r>
            <a:endParaRPr lang="en-US" sz="1650" dirty="0"/>
          </a:p>
        </p:txBody>
      </p:sp>
      <p:sp>
        <p:nvSpPr>
          <p:cNvPr id="11" name="Shape 8"/>
          <p:cNvSpPr/>
          <p:nvPr/>
        </p:nvSpPr>
        <p:spPr>
          <a:xfrm>
            <a:off x="7680960" y="1901952"/>
            <a:ext cx="384048" cy="384048"/>
          </a:xfrm>
          <a:prstGeom prst="ellipse">
            <a:avLst/>
          </a:prstGeom>
          <a:solidFill>
            <a:srgbClr val="6E8E7D"/>
          </a:solidFill>
          <a:ln w="12700">
            <a:solidFill>
              <a:srgbClr val="6E8E7D"/>
            </a:solidFill>
            <a:prstDash val="solid"/>
          </a:ln>
        </p:spPr>
      </p:sp>
      <p:sp>
        <p:nvSpPr>
          <p:cNvPr id="12" name="Text 9"/>
          <p:cNvSpPr/>
          <p:nvPr/>
        </p:nvSpPr>
        <p:spPr>
          <a:xfrm>
            <a:off x="7786116" y="1997964"/>
            <a:ext cx="173736" cy="118872"/>
          </a:xfrm>
          <a:prstGeom prst="rect">
            <a:avLst/>
          </a:prstGeom>
          <a:noFill/>
          <a:ln/>
        </p:spPr>
        <p:txBody>
          <a:bodyPr wrap="square" lIns="0" tIns="0" rIns="0" bIns="0" rtlCol="0" anchor="ctr"/>
          <a:lstStyle/>
          <a:p>
            <a:pPr marL="0" indent="0" algn="ctr">
              <a:buNone/>
            </a:pPr>
            <a:r>
              <a:rPr lang="en-US" sz="880" b="1" dirty="0">
                <a:solidFill>
                  <a:srgbClr val="FFFFFF"/>
                </a:solidFill>
              </a:rPr>
              <a:t>1</a:t>
            </a:r>
            <a:endParaRPr lang="en-US" sz="880" dirty="0"/>
          </a:p>
        </p:txBody>
      </p:sp>
      <p:sp>
        <p:nvSpPr>
          <p:cNvPr id="13" name="Shape 10"/>
          <p:cNvSpPr/>
          <p:nvPr/>
        </p:nvSpPr>
        <p:spPr>
          <a:xfrm>
            <a:off x="8183880" y="1874520"/>
            <a:ext cx="3163824" cy="438912"/>
          </a:xfrm>
          <a:prstGeom prst="roundRect">
            <a:avLst>
              <a:gd name="adj" fmla="val 25000"/>
            </a:avLst>
          </a:prstGeom>
          <a:solidFill>
            <a:srgbClr val="FFFFFF"/>
          </a:solidFill>
          <a:ln w="11430">
            <a:solidFill>
              <a:srgbClr val="DED9D1"/>
            </a:solidFill>
            <a:prstDash val="solid"/>
          </a:ln>
        </p:spPr>
      </p:sp>
      <p:sp>
        <p:nvSpPr>
          <p:cNvPr id="14" name="Text 11"/>
          <p:cNvSpPr/>
          <p:nvPr/>
        </p:nvSpPr>
        <p:spPr>
          <a:xfrm>
            <a:off x="8339328" y="1984248"/>
            <a:ext cx="2816352" cy="219456"/>
          </a:xfrm>
          <a:prstGeom prst="rect">
            <a:avLst/>
          </a:prstGeom>
          <a:noFill/>
          <a:ln/>
        </p:spPr>
        <p:txBody>
          <a:bodyPr wrap="square" lIns="0" tIns="0" rIns="0" bIns="0" rtlCol="0" anchor="ctr">
            <a:normAutofit/>
          </a:bodyPr>
          <a:lstStyle/>
          <a:p>
            <a:pPr marL="0" indent="0">
              <a:buNone/>
            </a:pPr>
            <a:r>
              <a:rPr lang="en-US" sz="1150" dirty="0">
                <a:solidFill>
                  <a:srgbClr val="28343D"/>
                </a:solidFill>
              </a:rPr>
              <a:t>Train initial M1 + M2 + fusion</a:t>
            </a:r>
            <a:endParaRPr lang="en-US" sz="1150" dirty="0"/>
          </a:p>
        </p:txBody>
      </p:sp>
      <p:sp>
        <p:nvSpPr>
          <p:cNvPr id="15" name="Shape 12"/>
          <p:cNvSpPr/>
          <p:nvPr/>
        </p:nvSpPr>
        <p:spPr>
          <a:xfrm>
            <a:off x="7863840" y="2304288"/>
            <a:ext cx="0" cy="365760"/>
          </a:xfrm>
          <a:prstGeom prst="line">
            <a:avLst/>
          </a:prstGeom>
          <a:noFill/>
          <a:ln w="15240">
            <a:solidFill>
              <a:srgbClr val="6E8E7D"/>
            </a:solidFill>
            <a:prstDash val="solid"/>
            <a:tailEnd type="triangle"/>
          </a:ln>
        </p:spPr>
      </p:sp>
      <p:sp>
        <p:nvSpPr>
          <p:cNvPr id="16" name="Shape 13"/>
          <p:cNvSpPr/>
          <p:nvPr/>
        </p:nvSpPr>
        <p:spPr>
          <a:xfrm>
            <a:off x="7680960" y="2724912"/>
            <a:ext cx="384048" cy="384048"/>
          </a:xfrm>
          <a:prstGeom prst="ellipse">
            <a:avLst/>
          </a:prstGeom>
          <a:solidFill>
            <a:srgbClr val="6E8E7D"/>
          </a:solidFill>
          <a:ln w="12700">
            <a:solidFill>
              <a:srgbClr val="6E8E7D"/>
            </a:solidFill>
            <a:prstDash val="solid"/>
          </a:ln>
        </p:spPr>
      </p:sp>
      <p:sp>
        <p:nvSpPr>
          <p:cNvPr id="17" name="Text 14"/>
          <p:cNvSpPr/>
          <p:nvPr/>
        </p:nvSpPr>
        <p:spPr>
          <a:xfrm>
            <a:off x="7786116" y="2820924"/>
            <a:ext cx="173736" cy="118872"/>
          </a:xfrm>
          <a:prstGeom prst="rect">
            <a:avLst/>
          </a:prstGeom>
          <a:noFill/>
          <a:ln/>
        </p:spPr>
        <p:txBody>
          <a:bodyPr wrap="square" lIns="0" tIns="0" rIns="0" bIns="0" rtlCol="0" anchor="ctr"/>
          <a:lstStyle/>
          <a:p>
            <a:pPr marL="0" indent="0" algn="ctr">
              <a:buNone/>
            </a:pPr>
            <a:r>
              <a:rPr lang="en-US" sz="880" b="1" dirty="0">
                <a:solidFill>
                  <a:srgbClr val="FFFFFF"/>
                </a:solidFill>
              </a:rPr>
              <a:t>2</a:t>
            </a:r>
            <a:endParaRPr lang="en-US" sz="880" dirty="0"/>
          </a:p>
        </p:txBody>
      </p:sp>
      <p:sp>
        <p:nvSpPr>
          <p:cNvPr id="18" name="Shape 15"/>
          <p:cNvSpPr/>
          <p:nvPr/>
        </p:nvSpPr>
        <p:spPr>
          <a:xfrm>
            <a:off x="8183880" y="2697480"/>
            <a:ext cx="3163824" cy="438912"/>
          </a:xfrm>
          <a:prstGeom prst="roundRect">
            <a:avLst>
              <a:gd name="adj" fmla="val 25000"/>
            </a:avLst>
          </a:prstGeom>
          <a:solidFill>
            <a:srgbClr val="FFFFFF"/>
          </a:solidFill>
          <a:ln w="11430">
            <a:solidFill>
              <a:srgbClr val="DED9D1"/>
            </a:solidFill>
            <a:prstDash val="solid"/>
          </a:ln>
        </p:spPr>
      </p:sp>
      <p:sp>
        <p:nvSpPr>
          <p:cNvPr id="19" name="Text 16"/>
          <p:cNvSpPr/>
          <p:nvPr/>
        </p:nvSpPr>
        <p:spPr>
          <a:xfrm>
            <a:off x="8339328" y="2798064"/>
            <a:ext cx="2816352" cy="219456"/>
          </a:xfrm>
          <a:prstGeom prst="rect">
            <a:avLst/>
          </a:prstGeom>
          <a:noFill/>
          <a:ln/>
        </p:spPr>
        <p:txBody>
          <a:bodyPr wrap="square" lIns="0" tIns="0" rIns="0" bIns="0" rtlCol="0" anchor="ctr">
            <a:normAutofit/>
          </a:bodyPr>
          <a:lstStyle/>
          <a:p>
            <a:pPr marL="0" indent="0">
              <a:buNone/>
            </a:pPr>
            <a:r>
              <a:rPr lang="en-US" sz="1150" dirty="0">
                <a:solidFill>
                  <a:srgbClr val="28343D"/>
                </a:solidFill>
              </a:rPr>
              <a:t>Score the large unlabeled pool</a:t>
            </a:r>
            <a:endParaRPr lang="en-US" sz="1150" dirty="0"/>
          </a:p>
        </p:txBody>
      </p:sp>
      <p:sp>
        <p:nvSpPr>
          <p:cNvPr id="20" name="Shape 17"/>
          <p:cNvSpPr/>
          <p:nvPr/>
        </p:nvSpPr>
        <p:spPr>
          <a:xfrm>
            <a:off x="7863840" y="3127248"/>
            <a:ext cx="0" cy="365760"/>
          </a:xfrm>
          <a:prstGeom prst="line">
            <a:avLst/>
          </a:prstGeom>
          <a:noFill/>
          <a:ln w="15240">
            <a:solidFill>
              <a:srgbClr val="6E8E7D"/>
            </a:solidFill>
            <a:prstDash val="solid"/>
            <a:tailEnd type="triangle"/>
          </a:ln>
        </p:spPr>
      </p:sp>
      <p:sp>
        <p:nvSpPr>
          <p:cNvPr id="21" name="Shape 18"/>
          <p:cNvSpPr/>
          <p:nvPr/>
        </p:nvSpPr>
        <p:spPr>
          <a:xfrm>
            <a:off x="7680960" y="3547872"/>
            <a:ext cx="384048" cy="384048"/>
          </a:xfrm>
          <a:prstGeom prst="ellipse">
            <a:avLst/>
          </a:prstGeom>
          <a:solidFill>
            <a:srgbClr val="6E8E7D"/>
          </a:solidFill>
          <a:ln w="12700">
            <a:solidFill>
              <a:srgbClr val="6E8E7D"/>
            </a:solidFill>
            <a:prstDash val="solid"/>
          </a:ln>
        </p:spPr>
      </p:sp>
      <p:sp>
        <p:nvSpPr>
          <p:cNvPr id="22" name="Text 19"/>
          <p:cNvSpPr/>
          <p:nvPr/>
        </p:nvSpPr>
        <p:spPr>
          <a:xfrm>
            <a:off x="7786116" y="3643884"/>
            <a:ext cx="173736" cy="118872"/>
          </a:xfrm>
          <a:prstGeom prst="rect">
            <a:avLst/>
          </a:prstGeom>
          <a:noFill/>
          <a:ln/>
        </p:spPr>
        <p:txBody>
          <a:bodyPr wrap="square" lIns="0" tIns="0" rIns="0" bIns="0" rtlCol="0" anchor="ctr"/>
          <a:lstStyle/>
          <a:p>
            <a:pPr marL="0" indent="0" algn="ctr">
              <a:buNone/>
            </a:pPr>
            <a:r>
              <a:rPr lang="en-US" sz="880" b="1" dirty="0">
                <a:solidFill>
                  <a:srgbClr val="FFFFFF"/>
                </a:solidFill>
              </a:rPr>
              <a:t>3</a:t>
            </a:r>
            <a:endParaRPr lang="en-US" sz="880" dirty="0"/>
          </a:p>
        </p:txBody>
      </p:sp>
      <p:sp>
        <p:nvSpPr>
          <p:cNvPr id="23" name="Shape 20"/>
          <p:cNvSpPr/>
          <p:nvPr/>
        </p:nvSpPr>
        <p:spPr>
          <a:xfrm>
            <a:off x="8183880" y="3520440"/>
            <a:ext cx="3163824" cy="438912"/>
          </a:xfrm>
          <a:prstGeom prst="roundRect">
            <a:avLst>
              <a:gd name="adj" fmla="val 25000"/>
            </a:avLst>
          </a:prstGeom>
          <a:solidFill>
            <a:srgbClr val="FFFFFF"/>
          </a:solidFill>
          <a:ln w="11430">
            <a:solidFill>
              <a:srgbClr val="DED9D1"/>
            </a:solidFill>
            <a:prstDash val="solid"/>
          </a:ln>
        </p:spPr>
      </p:sp>
      <p:sp>
        <p:nvSpPr>
          <p:cNvPr id="24" name="Text 21"/>
          <p:cNvSpPr/>
          <p:nvPr/>
        </p:nvSpPr>
        <p:spPr>
          <a:xfrm>
            <a:off x="8339328" y="3621024"/>
            <a:ext cx="2816352" cy="219456"/>
          </a:xfrm>
          <a:prstGeom prst="rect">
            <a:avLst/>
          </a:prstGeom>
          <a:noFill/>
          <a:ln/>
        </p:spPr>
        <p:txBody>
          <a:bodyPr wrap="square" lIns="0" tIns="0" rIns="0" bIns="0" rtlCol="0" anchor="ctr">
            <a:normAutofit/>
          </a:bodyPr>
          <a:lstStyle/>
          <a:p>
            <a:pPr marL="0" indent="0">
              <a:buNone/>
            </a:pPr>
            <a:r>
              <a:rPr lang="en-US" sz="1150" dirty="0">
                <a:solidFill>
                  <a:srgbClr val="28343D"/>
                </a:solidFill>
              </a:rPr>
              <a:t>Select difficult / high-signal candidates</a:t>
            </a:r>
            <a:endParaRPr lang="en-US" sz="1150" dirty="0"/>
          </a:p>
        </p:txBody>
      </p:sp>
      <p:sp>
        <p:nvSpPr>
          <p:cNvPr id="25" name="Shape 22"/>
          <p:cNvSpPr/>
          <p:nvPr/>
        </p:nvSpPr>
        <p:spPr>
          <a:xfrm>
            <a:off x="7863840" y="3950208"/>
            <a:ext cx="0" cy="365760"/>
          </a:xfrm>
          <a:prstGeom prst="line">
            <a:avLst/>
          </a:prstGeom>
          <a:noFill/>
          <a:ln w="15240">
            <a:solidFill>
              <a:srgbClr val="6E8E7D"/>
            </a:solidFill>
            <a:prstDash val="solid"/>
            <a:tailEnd type="triangle"/>
          </a:ln>
        </p:spPr>
      </p:sp>
      <p:sp>
        <p:nvSpPr>
          <p:cNvPr id="26" name="Shape 23"/>
          <p:cNvSpPr/>
          <p:nvPr/>
        </p:nvSpPr>
        <p:spPr>
          <a:xfrm>
            <a:off x="7680960" y="4370832"/>
            <a:ext cx="384048" cy="384048"/>
          </a:xfrm>
          <a:prstGeom prst="ellipse">
            <a:avLst/>
          </a:prstGeom>
          <a:solidFill>
            <a:srgbClr val="6E8E7D"/>
          </a:solidFill>
          <a:ln w="12700">
            <a:solidFill>
              <a:srgbClr val="6E8E7D"/>
            </a:solidFill>
            <a:prstDash val="solid"/>
          </a:ln>
        </p:spPr>
      </p:sp>
      <p:sp>
        <p:nvSpPr>
          <p:cNvPr id="27" name="Text 24"/>
          <p:cNvSpPr/>
          <p:nvPr/>
        </p:nvSpPr>
        <p:spPr>
          <a:xfrm>
            <a:off x="7786116" y="4466844"/>
            <a:ext cx="173736" cy="118872"/>
          </a:xfrm>
          <a:prstGeom prst="rect">
            <a:avLst/>
          </a:prstGeom>
          <a:noFill/>
          <a:ln/>
        </p:spPr>
        <p:txBody>
          <a:bodyPr wrap="square" lIns="0" tIns="0" rIns="0" bIns="0" rtlCol="0" anchor="ctr"/>
          <a:lstStyle/>
          <a:p>
            <a:pPr marL="0" indent="0" algn="ctr">
              <a:buNone/>
            </a:pPr>
            <a:r>
              <a:rPr lang="en-US" sz="880" b="1" dirty="0">
                <a:solidFill>
                  <a:srgbClr val="FFFFFF"/>
                </a:solidFill>
              </a:rPr>
              <a:t>4</a:t>
            </a:r>
            <a:endParaRPr lang="en-US" sz="880" dirty="0"/>
          </a:p>
        </p:txBody>
      </p:sp>
      <p:sp>
        <p:nvSpPr>
          <p:cNvPr id="28" name="Shape 25"/>
          <p:cNvSpPr/>
          <p:nvPr/>
        </p:nvSpPr>
        <p:spPr>
          <a:xfrm>
            <a:off x="8183880" y="4343400"/>
            <a:ext cx="3163824" cy="438912"/>
          </a:xfrm>
          <a:prstGeom prst="roundRect">
            <a:avLst>
              <a:gd name="adj" fmla="val 25000"/>
            </a:avLst>
          </a:prstGeom>
          <a:solidFill>
            <a:srgbClr val="FFFFFF"/>
          </a:solidFill>
          <a:ln w="11430">
            <a:solidFill>
              <a:srgbClr val="DED9D1"/>
            </a:solidFill>
            <a:prstDash val="solid"/>
          </a:ln>
        </p:spPr>
      </p:sp>
      <p:sp>
        <p:nvSpPr>
          <p:cNvPr id="29" name="Text 26"/>
          <p:cNvSpPr/>
          <p:nvPr/>
        </p:nvSpPr>
        <p:spPr>
          <a:xfrm>
            <a:off x="8339328" y="4438199"/>
            <a:ext cx="2816352" cy="219456"/>
          </a:xfrm>
          <a:prstGeom prst="rect">
            <a:avLst/>
          </a:prstGeom>
          <a:noFill/>
          <a:ln/>
        </p:spPr>
        <p:txBody>
          <a:bodyPr wrap="square" lIns="0" tIns="0" rIns="0" bIns="0" rtlCol="0" anchor="ctr">
            <a:normAutofit/>
          </a:bodyPr>
          <a:lstStyle/>
          <a:p>
            <a:pPr marL="0" indent="0">
              <a:buNone/>
            </a:pPr>
            <a:r>
              <a:rPr lang="en-US" sz="1150" dirty="0">
                <a:solidFill>
                  <a:srgbClr val="28343D"/>
                </a:solidFill>
              </a:rPr>
              <a:t>Dual-annotate, merge, retrain</a:t>
            </a:r>
            <a:endParaRPr lang="en-US" sz="1150" dirty="0"/>
          </a:p>
        </p:txBody>
      </p:sp>
      <p:sp>
        <p:nvSpPr>
          <p:cNvPr id="30" name="Shape 27"/>
          <p:cNvSpPr/>
          <p:nvPr/>
        </p:nvSpPr>
        <p:spPr>
          <a:xfrm>
            <a:off x="7616952" y="5330952"/>
            <a:ext cx="3794760" cy="804672"/>
          </a:xfrm>
          <a:prstGeom prst="roundRect">
            <a:avLst>
              <a:gd name="adj" fmla="val 13636"/>
            </a:avLst>
          </a:prstGeom>
          <a:solidFill>
            <a:srgbClr val="F4E9E4"/>
          </a:solidFill>
          <a:ln w="11430">
            <a:solidFill>
              <a:srgbClr val="F4E9E4"/>
            </a:solidFill>
            <a:prstDash val="solid"/>
          </a:ln>
        </p:spPr>
      </p:sp>
      <p:sp>
        <p:nvSpPr>
          <p:cNvPr id="31" name="Shape 28"/>
          <p:cNvSpPr/>
          <p:nvPr/>
        </p:nvSpPr>
        <p:spPr>
          <a:xfrm>
            <a:off x="7616952" y="5330952"/>
            <a:ext cx="50292" cy="804672"/>
          </a:xfrm>
          <a:prstGeom prst="rect">
            <a:avLst/>
          </a:prstGeom>
          <a:solidFill>
            <a:srgbClr val="B87461"/>
          </a:solidFill>
          <a:ln w="12700">
            <a:solidFill>
              <a:srgbClr val="B87461"/>
            </a:solidFill>
            <a:prstDash val="solid"/>
          </a:ln>
        </p:spPr>
      </p:sp>
      <p:sp>
        <p:nvSpPr>
          <p:cNvPr id="32" name="Text 29"/>
          <p:cNvSpPr/>
          <p:nvPr/>
        </p:nvSpPr>
        <p:spPr>
          <a:xfrm>
            <a:off x="7772400" y="5404104"/>
            <a:ext cx="3557016" cy="658368"/>
          </a:xfrm>
          <a:prstGeom prst="rect">
            <a:avLst/>
          </a:prstGeom>
          <a:noFill/>
          <a:ln/>
        </p:spPr>
        <p:txBody>
          <a:bodyPr wrap="square" lIns="0" tIns="0" rIns="0" bIns="0" rtlCol="0" anchor="ctr">
            <a:normAutofit/>
          </a:bodyPr>
          <a:lstStyle/>
          <a:p>
            <a:pPr marL="0" indent="0">
              <a:buNone/>
            </a:pPr>
            <a:r>
              <a:rPr lang="en-US" sz="1020" dirty="0">
                <a:solidFill>
                  <a:srgbClr val="28343D"/>
                </a:solidFill>
              </a:rPr>
              <a:t>What changed: the transformer and fusion benefited substantially; the tabular model did not improve uniformly. This is why we report the comparison as project-stage evidence, not a causal claim.</a:t>
            </a:r>
            <a:endParaRPr lang="en-US" sz="1020" dirty="0"/>
          </a:p>
        </p:txBody>
      </p:sp>
      <p:sp>
        <p:nvSpPr>
          <p:cNvPr id="33"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94360" y="347472"/>
            <a:ext cx="2834640" cy="164592"/>
          </a:xfrm>
          <a:prstGeom prst="rect">
            <a:avLst/>
          </a:prstGeom>
          <a:noFill/>
          <a:ln/>
        </p:spPr>
        <p:txBody>
          <a:bodyPr wrap="square" lIns="0" tIns="0" rIns="0" bIns="0" rtlCol="0" anchor="ctr"/>
          <a:lstStyle/>
          <a:p>
            <a:pPr marL="0" indent="0">
              <a:buNone/>
            </a:pPr>
            <a:r>
              <a:rPr lang="en-US" sz="850" b="1" kern="0" spc="120" dirty="0">
                <a:solidFill>
                  <a:srgbClr val="6E8E7D"/>
                </a:solidFill>
              </a:rPr>
              <a:t>EXPLAINABILITY</a:t>
            </a:r>
            <a:endParaRPr lang="en-US" sz="850" dirty="0"/>
          </a:p>
        </p:txBody>
      </p:sp>
      <p:sp>
        <p:nvSpPr>
          <p:cNvPr id="3" name="Text 1"/>
          <p:cNvSpPr/>
          <p:nvPr/>
        </p:nvSpPr>
        <p:spPr>
          <a:xfrm>
            <a:off x="594360" y="566928"/>
            <a:ext cx="10698480" cy="502920"/>
          </a:xfrm>
          <a:prstGeom prst="rect">
            <a:avLst/>
          </a:prstGeom>
          <a:noFill/>
          <a:ln/>
        </p:spPr>
        <p:txBody>
          <a:bodyPr wrap="square" lIns="0" tIns="0" rIns="0" bIns="0" rtlCol="0" anchor="ctr"/>
          <a:lstStyle/>
          <a:p>
            <a:pPr marL="0" indent="0">
              <a:buNone/>
            </a:pPr>
            <a:r>
              <a:rPr lang="en-US" sz="2800" b="1" dirty="0">
                <a:solidFill>
                  <a:srgbClr val="24313A"/>
                </a:solidFill>
              </a:rPr>
              <a:t>What drives the final fusion prediction?</a:t>
            </a:r>
            <a:endParaRPr lang="en-US" sz="2800" dirty="0"/>
          </a:p>
        </p:txBody>
      </p:sp>
      <p:sp>
        <p:nvSpPr>
          <p:cNvPr id="4" name="Shape 2"/>
          <p:cNvSpPr/>
          <p:nvPr/>
        </p:nvSpPr>
        <p:spPr>
          <a:xfrm>
            <a:off x="594360" y="1143000"/>
            <a:ext cx="658368" cy="0"/>
          </a:xfrm>
          <a:prstGeom prst="line">
            <a:avLst/>
          </a:prstGeom>
          <a:noFill/>
          <a:ln w="27940">
            <a:solidFill>
              <a:srgbClr val="B87461"/>
            </a:solidFill>
            <a:prstDash val="solid"/>
          </a:ln>
        </p:spPr>
      </p:sp>
      <p:sp>
        <p:nvSpPr>
          <p:cNvPr id="5" name="Shape 3"/>
          <p:cNvSpPr/>
          <p:nvPr/>
        </p:nvSpPr>
        <p:spPr>
          <a:xfrm>
            <a:off x="10332720" y="384048"/>
            <a:ext cx="1234440" cy="256032"/>
          </a:xfrm>
          <a:prstGeom prst="roundRect">
            <a:avLst/>
          </a:prstGeom>
          <a:solidFill>
            <a:srgbClr val="E8EFEA"/>
          </a:solidFill>
          <a:ln w="12700">
            <a:solidFill>
              <a:srgbClr val="E8EFEA"/>
            </a:solidFill>
            <a:prstDash val="solid"/>
          </a:ln>
        </p:spPr>
      </p:sp>
      <p:sp>
        <p:nvSpPr>
          <p:cNvPr id="6" name="Text 4"/>
          <p:cNvSpPr/>
          <p:nvPr/>
        </p:nvSpPr>
        <p:spPr>
          <a:xfrm>
            <a:off x="10387584" y="416052"/>
            <a:ext cx="1124712" cy="146304"/>
          </a:xfrm>
          <a:prstGeom prst="rect">
            <a:avLst/>
          </a:prstGeom>
          <a:noFill/>
          <a:ln/>
        </p:spPr>
        <p:txBody>
          <a:bodyPr wrap="square" lIns="0" tIns="0" rIns="0" bIns="0" rtlCol="0" anchor="ctr"/>
          <a:lstStyle/>
          <a:p>
            <a:pPr marL="0" indent="0" algn="ctr">
              <a:buNone/>
            </a:pPr>
            <a:r>
              <a:rPr lang="en-US" sz="740" b="1" dirty="0">
                <a:solidFill>
                  <a:srgbClr val="6E8E7D"/>
                </a:solidFill>
              </a:rPr>
              <a:t>7 / 11</a:t>
            </a:r>
            <a:endParaRPr lang="en-US" sz="740" dirty="0"/>
          </a:p>
        </p:txBody>
      </p:sp>
      <p:sp>
        <p:nvSpPr>
          <p:cNvPr id="7" name="Shape 5"/>
          <p:cNvSpPr/>
          <p:nvPr/>
        </p:nvSpPr>
        <p:spPr>
          <a:xfrm>
            <a:off x="640080" y="1389888"/>
            <a:ext cx="7818120" cy="4736592"/>
          </a:xfrm>
          <a:prstGeom prst="roundRect">
            <a:avLst>
              <a:gd name="adj" fmla="val 2317"/>
            </a:avLst>
          </a:prstGeom>
          <a:solidFill>
            <a:srgbClr val="FFFFFF"/>
          </a:solidFill>
          <a:ln w="11430">
            <a:solidFill>
              <a:srgbClr val="DDD8D0"/>
            </a:solidFill>
            <a:prstDash val="solid"/>
          </a:ln>
        </p:spPr>
      </p:sp>
      <p:pic>
        <p:nvPicPr>
          <p:cNvPr id="8" name="Image 0" descr="/mnt/data/fusion_phase4_8_project_visuals/outputs/report_figures/shap_importance_top20_report.png"/>
          <p:cNvPicPr>
            <a:picLocks noChangeAspect="1"/>
          </p:cNvPicPr>
          <p:nvPr/>
        </p:nvPicPr>
        <p:blipFill>
          <a:blip r:embed="rId3"/>
          <a:stretch>
            <a:fillRect/>
          </a:stretch>
        </p:blipFill>
        <p:spPr>
          <a:xfrm>
            <a:off x="1364628" y="1463040"/>
            <a:ext cx="6369025" cy="4590288"/>
          </a:xfrm>
          <a:prstGeom prst="rect">
            <a:avLst/>
          </a:prstGeom>
        </p:spPr>
      </p:pic>
      <p:sp>
        <p:nvSpPr>
          <p:cNvPr id="10" name="Shape 7"/>
          <p:cNvSpPr/>
          <p:nvPr/>
        </p:nvSpPr>
        <p:spPr>
          <a:xfrm>
            <a:off x="8778240" y="1600200"/>
            <a:ext cx="2560320" cy="749808"/>
          </a:xfrm>
          <a:prstGeom prst="roundRect">
            <a:avLst>
              <a:gd name="adj" fmla="val 14634"/>
            </a:avLst>
          </a:prstGeom>
          <a:solidFill>
            <a:srgbClr val="E8EFEA"/>
          </a:solidFill>
          <a:ln w="11430">
            <a:solidFill>
              <a:srgbClr val="E8EFEA"/>
            </a:solidFill>
            <a:prstDash val="solid"/>
          </a:ln>
        </p:spPr>
      </p:sp>
      <p:sp>
        <p:nvSpPr>
          <p:cNvPr id="11" name="Shape 8"/>
          <p:cNvSpPr/>
          <p:nvPr/>
        </p:nvSpPr>
        <p:spPr>
          <a:xfrm>
            <a:off x="8778240" y="1600200"/>
            <a:ext cx="50292" cy="749808"/>
          </a:xfrm>
          <a:prstGeom prst="rect">
            <a:avLst/>
          </a:prstGeom>
          <a:solidFill>
            <a:srgbClr val="6E8E7D"/>
          </a:solidFill>
          <a:ln w="12700">
            <a:solidFill>
              <a:srgbClr val="6E8E7D"/>
            </a:solidFill>
            <a:prstDash val="solid"/>
          </a:ln>
        </p:spPr>
      </p:sp>
      <p:sp>
        <p:nvSpPr>
          <p:cNvPr id="12" name="Text 9"/>
          <p:cNvSpPr/>
          <p:nvPr/>
        </p:nvSpPr>
        <p:spPr>
          <a:xfrm>
            <a:off x="8933688" y="1673352"/>
            <a:ext cx="2322576" cy="603504"/>
          </a:xfrm>
          <a:prstGeom prst="rect">
            <a:avLst/>
          </a:prstGeom>
          <a:noFill/>
          <a:ln/>
        </p:spPr>
        <p:txBody>
          <a:bodyPr wrap="square" lIns="0" tIns="0" rIns="0" bIns="0" rtlCol="0" anchor="ctr">
            <a:normAutofit/>
          </a:bodyPr>
          <a:lstStyle/>
          <a:p>
            <a:pPr marL="0" indent="0">
              <a:buNone/>
            </a:pPr>
            <a:r>
              <a:rPr lang="en-US" sz="1170" dirty="0">
                <a:solidFill>
                  <a:srgbClr val="28343D"/>
                </a:solidFill>
              </a:rPr>
              <a:t>1  Member 2’s text prediction is the strongest single signal.</a:t>
            </a:r>
            <a:endParaRPr lang="en-US" sz="1170" dirty="0"/>
          </a:p>
        </p:txBody>
      </p:sp>
      <p:sp>
        <p:nvSpPr>
          <p:cNvPr id="13" name="Shape 10"/>
          <p:cNvSpPr/>
          <p:nvPr/>
        </p:nvSpPr>
        <p:spPr>
          <a:xfrm>
            <a:off x="8778240" y="2578608"/>
            <a:ext cx="2560320" cy="950976"/>
          </a:xfrm>
          <a:prstGeom prst="roundRect">
            <a:avLst>
              <a:gd name="adj" fmla="val 11538"/>
            </a:avLst>
          </a:prstGeom>
          <a:solidFill>
            <a:srgbClr val="E9F0F4"/>
          </a:solidFill>
          <a:ln w="11430">
            <a:solidFill>
              <a:srgbClr val="E9F0F4"/>
            </a:solidFill>
            <a:prstDash val="solid"/>
          </a:ln>
        </p:spPr>
      </p:sp>
      <p:sp>
        <p:nvSpPr>
          <p:cNvPr id="14" name="Shape 11"/>
          <p:cNvSpPr/>
          <p:nvPr/>
        </p:nvSpPr>
        <p:spPr>
          <a:xfrm>
            <a:off x="8778240" y="2578608"/>
            <a:ext cx="50292" cy="950976"/>
          </a:xfrm>
          <a:prstGeom prst="rect">
            <a:avLst/>
          </a:prstGeom>
          <a:solidFill>
            <a:srgbClr val="5C7F96"/>
          </a:solidFill>
          <a:ln w="12700">
            <a:solidFill>
              <a:srgbClr val="5C7F96"/>
            </a:solidFill>
            <a:prstDash val="solid"/>
          </a:ln>
        </p:spPr>
      </p:sp>
      <p:sp>
        <p:nvSpPr>
          <p:cNvPr id="15" name="Text 12"/>
          <p:cNvSpPr/>
          <p:nvPr/>
        </p:nvSpPr>
        <p:spPr>
          <a:xfrm>
            <a:off x="8933688" y="2651760"/>
            <a:ext cx="2322576" cy="804672"/>
          </a:xfrm>
          <a:prstGeom prst="rect">
            <a:avLst/>
          </a:prstGeom>
          <a:noFill/>
          <a:ln/>
        </p:spPr>
        <p:txBody>
          <a:bodyPr wrap="square" lIns="0" tIns="0" rIns="0" bIns="0" rtlCol="0" anchor="ctr">
            <a:normAutofit/>
          </a:bodyPr>
          <a:lstStyle/>
          <a:p>
            <a:pPr marL="0" indent="0">
              <a:buNone/>
            </a:pPr>
            <a:r>
              <a:rPr lang="en-US" sz="1100" dirty="0">
                <a:solidFill>
                  <a:srgbClr val="28343D"/>
                </a:solidFill>
              </a:rPr>
              <a:t>2  The fusion also uses base-model agreement/disagreement and lexical emotion signals.</a:t>
            </a:r>
            <a:endParaRPr lang="en-US" sz="1100" dirty="0"/>
          </a:p>
        </p:txBody>
      </p:sp>
      <p:sp>
        <p:nvSpPr>
          <p:cNvPr id="16" name="Shape 13"/>
          <p:cNvSpPr/>
          <p:nvPr/>
        </p:nvSpPr>
        <p:spPr>
          <a:xfrm>
            <a:off x="8778240" y="3749040"/>
            <a:ext cx="2560320" cy="950976"/>
          </a:xfrm>
          <a:prstGeom prst="roundRect">
            <a:avLst>
              <a:gd name="adj" fmla="val 11538"/>
            </a:avLst>
          </a:prstGeom>
          <a:solidFill>
            <a:srgbClr val="F3EEDC"/>
          </a:solidFill>
          <a:ln w="11430">
            <a:solidFill>
              <a:srgbClr val="F3EEDC"/>
            </a:solidFill>
            <a:prstDash val="solid"/>
          </a:ln>
        </p:spPr>
      </p:sp>
      <p:sp>
        <p:nvSpPr>
          <p:cNvPr id="17" name="Shape 14"/>
          <p:cNvSpPr/>
          <p:nvPr/>
        </p:nvSpPr>
        <p:spPr>
          <a:xfrm>
            <a:off x="8778240" y="3749040"/>
            <a:ext cx="50292" cy="950976"/>
          </a:xfrm>
          <a:prstGeom prst="rect">
            <a:avLst/>
          </a:prstGeom>
          <a:solidFill>
            <a:srgbClr val="C6A25D"/>
          </a:solidFill>
          <a:ln w="12700">
            <a:solidFill>
              <a:srgbClr val="C6A25D"/>
            </a:solidFill>
            <a:prstDash val="solid"/>
          </a:ln>
        </p:spPr>
      </p:sp>
      <p:sp>
        <p:nvSpPr>
          <p:cNvPr id="18" name="Text 15"/>
          <p:cNvSpPr/>
          <p:nvPr/>
        </p:nvSpPr>
        <p:spPr>
          <a:xfrm>
            <a:off x="8933688" y="3822192"/>
            <a:ext cx="2322576" cy="804672"/>
          </a:xfrm>
          <a:prstGeom prst="rect">
            <a:avLst/>
          </a:prstGeom>
          <a:noFill/>
          <a:ln/>
        </p:spPr>
        <p:txBody>
          <a:bodyPr wrap="square" lIns="0" tIns="0" rIns="0" bIns="0" rtlCol="0" anchor="ctr">
            <a:normAutofit/>
          </a:bodyPr>
          <a:lstStyle/>
          <a:p>
            <a:pPr marL="0" indent="0">
              <a:buNone/>
            </a:pPr>
            <a:r>
              <a:rPr lang="en-US" sz="1100" dirty="0">
                <a:solidFill>
                  <a:srgbClr val="28343D"/>
                </a:solidFill>
              </a:rPr>
              <a:t>3  SHAP is post-training explanation—not feature selection or causal interpretation.</a:t>
            </a:r>
            <a:endParaRPr lang="en-US" sz="1100" dirty="0"/>
          </a:p>
        </p:txBody>
      </p:sp>
      <p:sp>
        <p:nvSpPr>
          <p:cNvPr id="19" name="Shape 16"/>
          <p:cNvSpPr/>
          <p:nvPr/>
        </p:nvSpPr>
        <p:spPr>
          <a:xfrm>
            <a:off x="8778240" y="4919472"/>
            <a:ext cx="2560320" cy="1024128"/>
          </a:xfrm>
          <a:prstGeom prst="roundRect">
            <a:avLst>
              <a:gd name="adj" fmla="val 10714"/>
            </a:avLst>
          </a:prstGeom>
          <a:solidFill>
            <a:srgbClr val="FFFFFF"/>
          </a:solidFill>
          <a:ln w="11430">
            <a:solidFill>
              <a:srgbClr val="FFFFFF"/>
            </a:solidFill>
            <a:prstDash val="solid"/>
          </a:ln>
        </p:spPr>
      </p:sp>
      <p:sp>
        <p:nvSpPr>
          <p:cNvPr id="20" name="Shape 17"/>
          <p:cNvSpPr/>
          <p:nvPr/>
        </p:nvSpPr>
        <p:spPr>
          <a:xfrm>
            <a:off x="8778240" y="4919472"/>
            <a:ext cx="50292" cy="1024128"/>
          </a:xfrm>
          <a:prstGeom prst="rect">
            <a:avLst/>
          </a:prstGeom>
          <a:solidFill>
            <a:srgbClr val="756D87"/>
          </a:solidFill>
          <a:ln w="12700">
            <a:solidFill>
              <a:srgbClr val="756D87"/>
            </a:solidFill>
            <a:prstDash val="solid"/>
          </a:ln>
        </p:spPr>
      </p:sp>
      <p:sp>
        <p:nvSpPr>
          <p:cNvPr id="21" name="Text 18"/>
          <p:cNvSpPr/>
          <p:nvPr/>
        </p:nvSpPr>
        <p:spPr>
          <a:xfrm>
            <a:off x="8933688" y="4992624"/>
            <a:ext cx="2322576" cy="877824"/>
          </a:xfrm>
          <a:prstGeom prst="rect">
            <a:avLst/>
          </a:prstGeom>
          <a:noFill/>
          <a:ln/>
        </p:spPr>
        <p:txBody>
          <a:bodyPr wrap="square" lIns="0" tIns="0" rIns="0" bIns="0" rtlCol="0" anchor="ctr">
            <a:normAutofit/>
          </a:bodyPr>
          <a:lstStyle/>
          <a:p>
            <a:pPr marL="0" indent="0">
              <a:buNone/>
            </a:pPr>
            <a:r>
              <a:rPr lang="en-US" sz="1080" dirty="0">
                <a:solidFill>
                  <a:srgbClr val="28343D"/>
                </a:solidFill>
              </a:rPr>
              <a:t>Interpretation: text carries the strongest signal, but structured features add complementary evidence and help the fusion model resolve some cases.</a:t>
            </a:r>
            <a:endParaRPr lang="en-US" sz="1080" dirty="0"/>
          </a:p>
        </p:txBody>
      </p:sp>
      <p:sp>
        <p:nvSpPr>
          <p:cNvPr id="25"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94360" y="347472"/>
            <a:ext cx="2834640" cy="164592"/>
          </a:xfrm>
          <a:prstGeom prst="rect">
            <a:avLst/>
          </a:prstGeom>
          <a:noFill/>
          <a:ln/>
        </p:spPr>
        <p:txBody>
          <a:bodyPr wrap="square" lIns="0" tIns="0" rIns="0" bIns="0" rtlCol="0" anchor="ctr"/>
          <a:lstStyle/>
          <a:p>
            <a:pPr marL="0" indent="0">
              <a:buNone/>
            </a:pPr>
            <a:r>
              <a:rPr lang="en-US" sz="850" b="1" kern="0" spc="120" dirty="0">
                <a:solidFill>
                  <a:srgbClr val="6E8E7D"/>
                </a:solidFill>
              </a:rPr>
              <a:t>RESULTS</a:t>
            </a:r>
            <a:endParaRPr lang="en-US" sz="850" dirty="0"/>
          </a:p>
        </p:txBody>
      </p:sp>
      <p:sp>
        <p:nvSpPr>
          <p:cNvPr id="3" name="Text 1"/>
          <p:cNvSpPr/>
          <p:nvPr/>
        </p:nvSpPr>
        <p:spPr>
          <a:xfrm>
            <a:off x="594360" y="566928"/>
            <a:ext cx="10698480" cy="502920"/>
          </a:xfrm>
          <a:prstGeom prst="rect">
            <a:avLst/>
          </a:prstGeom>
          <a:noFill/>
          <a:ln/>
        </p:spPr>
        <p:txBody>
          <a:bodyPr wrap="square" lIns="0" tIns="0" rIns="0" bIns="0" rtlCol="0" anchor="ctr"/>
          <a:lstStyle/>
          <a:p>
            <a:pPr marL="0" indent="0">
              <a:buNone/>
            </a:pPr>
            <a:r>
              <a:rPr lang="en-US" sz="2800" b="1" dirty="0">
                <a:solidFill>
                  <a:srgbClr val="24313A"/>
                </a:solidFill>
              </a:rPr>
              <a:t>Locked-test performance</a:t>
            </a:r>
            <a:endParaRPr lang="en-US" sz="2800" dirty="0"/>
          </a:p>
        </p:txBody>
      </p:sp>
      <p:sp>
        <p:nvSpPr>
          <p:cNvPr id="4" name="Shape 2"/>
          <p:cNvSpPr/>
          <p:nvPr/>
        </p:nvSpPr>
        <p:spPr>
          <a:xfrm>
            <a:off x="594360" y="1143000"/>
            <a:ext cx="658368" cy="0"/>
          </a:xfrm>
          <a:prstGeom prst="line">
            <a:avLst/>
          </a:prstGeom>
          <a:noFill/>
          <a:ln w="27940">
            <a:solidFill>
              <a:srgbClr val="B87461"/>
            </a:solidFill>
            <a:prstDash val="solid"/>
          </a:ln>
        </p:spPr>
      </p:sp>
      <p:sp>
        <p:nvSpPr>
          <p:cNvPr id="5" name="Shape 3"/>
          <p:cNvSpPr/>
          <p:nvPr/>
        </p:nvSpPr>
        <p:spPr>
          <a:xfrm>
            <a:off x="10332720" y="384048"/>
            <a:ext cx="1234440" cy="256032"/>
          </a:xfrm>
          <a:prstGeom prst="roundRect">
            <a:avLst/>
          </a:prstGeom>
          <a:solidFill>
            <a:srgbClr val="E8EFEA"/>
          </a:solidFill>
          <a:ln w="12700">
            <a:solidFill>
              <a:srgbClr val="E8EFEA"/>
            </a:solidFill>
            <a:prstDash val="solid"/>
          </a:ln>
        </p:spPr>
      </p:sp>
      <p:sp>
        <p:nvSpPr>
          <p:cNvPr id="6" name="Text 4"/>
          <p:cNvSpPr/>
          <p:nvPr/>
        </p:nvSpPr>
        <p:spPr>
          <a:xfrm>
            <a:off x="10387584" y="416052"/>
            <a:ext cx="1124712" cy="146304"/>
          </a:xfrm>
          <a:prstGeom prst="rect">
            <a:avLst/>
          </a:prstGeom>
          <a:noFill/>
          <a:ln/>
        </p:spPr>
        <p:txBody>
          <a:bodyPr wrap="square" lIns="0" tIns="0" rIns="0" bIns="0" rtlCol="0" anchor="ctr"/>
          <a:lstStyle/>
          <a:p>
            <a:pPr marL="0" indent="0" algn="ctr">
              <a:buNone/>
            </a:pPr>
            <a:r>
              <a:rPr lang="en-US" sz="740" b="1" dirty="0">
                <a:solidFill>
                  <a:srgbClr val="6E8E7D"/>
                </a:solidFill>
              </a:rPr>
              <a:t>8 / 11</a:t>
            </a:r>
            <a:endParaRPr lang="en-US" sz="740" dirty="0"/>
          </a:p>
        </p:txBody>
      </p:sp>
      <p:sp>
        <p:nvSpPr>
          <p:cNvPr id="7" name="Shape 5"/>
          <p:cNvSpPr/>
          <p:nvPr/>
        </p:nvSpPr>
        <p:spPr>
          <a:xfrm>
            <a:off x="566928" y="1353312"/>
            <a:ext cx="6629400" cy="4846320"/>
          </a:xfrm>
          <a:prstGeom prst="roundRect">
            <a:avLst>
              <a:gd name="adj" fmla="val 2264"/>
            </a:avLst>
          </a:prstGeom>
          <a:solidFill>
            <a:srgbClr val="FFFFFF"/>
          </a:solidFill>
          <a:ln w="11430">
            <a:solidFill>
              <a:srgbClr val="DDD8D0"/>
            </a:solidFill>
            <a:prstDash val="solid"/>
          </a:ln>
        </p:spPr>
      </p:sp>
      <p:pic>
        <p:nvPicPr>
          <p:cNvPr id="8" name="Image 0" descr="/mnt/data/test_confusion_matrix_row_normalized(1).png"/>
          <p:cNvPicPr>
            <a:picLocks noChangeAspect="1"/>
          </p:cNvPicPr>
          <p:nvPr/>
        </p:nvPicPr>
        <p:blipFill>
          <a:blip r:embed="rId3"/>
          <a:stretch>
            <a:fillRect/>
          </a:stretch>
        </p:blipFill>
        <p:spPr>
          <a:xfrm>
            <a:off x="1023356" y="1426464"/>
            <a:ext cx="5716544" cy="4700016"/>
          </a:xfrm>
          <a:prstGeom prst="rect">
            <a:avLst/>
          </a:prstGeom>
        </p:spPr>
      </p:pic>
      <p:sp>
        <p:nvSpPr>
          <p:cNvPr id="10" name="Shape 7"/>
          <p:cNvSpPr/>
          <p:nvPr/>
        </p:nvSpPr>
        <p:spPr>
          <a:xfrm>
            <a:off x="7498080" y="1417320"/>
            <a:ext cx="1901952" cy="530352"/>
          </a:xfrm>
          <a:prstGeom prst="roundRect">
            <a:avLst>
              <a:gd name="adj" fmla="val 20690"/>
            </a:avLst>
          </a:prstGeom>
          <a:solidFill>
            <a:srgbClr val="FFFFFF"/>
          </a:solidFill>
          <a:ln w="11430">
            <a:solidFill>
              <a:srgbClr val="E2DED7"/>
            </a:solidFill>
            <a:prstDash val="solid"/>
          </a:ln>
        </p:spPr>
      </p:sp>
      <p:sp>
        <p:nvSpPr>
          <p:cNvPr id="11" name="Shape 8"/>
          <p:cNvSpPr/>
          <p:nvPr/>
        </p:nvSpPr>
        <p:spPr>
          <a:xfrm>
            <a:off x="7498080" y="1417320"/>
            <a:ext cx="50292" cy="530352"/>
          </a:xfrm>
          <a:prstGeom prst="rect">
            <a:avLst/>
          </a:prstGeom>
          <a:solidFill>
            <a:srgbClr val="5C7F96"/>
          </a:solidFill>
          <a:ln w="12700">
            <a:solidFill>
              <a:srgbClr val="5C7F96"/>
            </a:solidFill>
            <a:prstDash val="solid"/>
          </a:ln>
        </p:spPr>
      </p:sp>
      <p:sp>
        <p:nvSpPr>
          <p:cNvPr id="12" name="Text 9"/>
          <p:cNvSpPr/>
          <p:nvPr/>
        </p:nvSpPr>
        <p:spPr>
          <a:xfrm>
            <a:off x="7662672" y="1527048"/>
            <a:ext cx="912937" cy="201168"/>
          </a:xfrm>
          <a:prstGeom prst="rect">
            <a:avLst/>
          </a:prstGeom>
          <a:noFill/>
          <a:ln/>
        </p:spPr>
        <p:txBody>
          <a:bodyPr wrap="square" lIns="0" tIns="0" rIns="0" bIns="0" rtlCol="0" anchor="ctr"/>
          <a:lstStyle/>
          <a:p>
            <a:pPr marL="0" indent="0">
              <a:buNone/>
            </a:pPr>
            <a:r>
              <a:rPr lang="en-US" sz="1050" b="1" dirty="0">
                <a:solidFill>
                  <a:srgbClr val="6D7774"/>
                </a:solidFill>
              </a:rPr>
              <a:t>Test MAE</a:t>
            </a:r>
            <a:endParaRPr lang="en-US" sz="1050" dirty="0"/>
          </a:p>
        </p:txBody>
      </p:sp>
      <p:sp>
        <p:nvSpPr>
          <p:cNvPr id="13" name="Text 10"/>
          <p:cNvSpPr/>
          <p:nvPr/>
        </p:nvSpPr>
        <p:spPr>
          <a:xfrm>
            <a:off x="8544154" y="1499616"/>
            <a:ext cx="741761" cy="237744"/>
          </a:xfrm>
          <a:prstGeom prst="rect">
            <a:avLst/>
          </a:prstGeom>
          <a:noFill/>
          <a:ln/>
        </p:spPr>
        <p:txBody>
          <a:bodyPr wrap="square" lIns="0" tIns="0" rIns="0" bIns="0" rtlCol="0" anchor="ctr"/>
          <a:lstStyle/>
          <a:p>
            <a:pPr marL="0" indent="0" algn="r">
              <a:buNone/>
            </a:pPr>
            <a:r>
              <a:rPr lang="en-US" sz="1700" b="1" dirty="0">
                <a:solidFill>
                  <a:srgbClr val="24313A"/>
                </a:solidFill>
              </a:rPr>
              <a:t>0.917</a:t>
            </a:r>
            <a:endParaRPr lang="en-US" sz="1700" dirty="0"/>
          </a:p>
        </p:txBody>
      </p:sp>
      <p:sp>
        <p:nvSpPr>
          <p:cNvPr id="14" name="Shape 11"/>
          <p:cNvSpPr/>
          <p:nvPr/>
        </p:nvSpPr>
        <p:spPr>
          <a:xfrm>
            <a:off x="9573768" y="1417320"/>
            <a:ext cx="1901952" cy="530352"/>
          </a:xfrm>
          <a:prstGeom prst="roundRect">
            <a:avLst>
              <a:gd name="adj" fmla="val 20690"/>
            </a:avLst>
          </a:prstGeom>
          <a:solidFill>
            <a:srgbClr val="FFFFFF"/>
          </a:solidFill>
          <a:ln w="11430">
            <a:solidFill>
              <a:srgbClr val="E2DED7"/>
            </a:solidFill>
            <a:prstDash val="solid"/>
          </a:ln>
        </p:spPr>
      </p:sp>
      <p:sp>
        <p:nvSpPr>
          <p:cNvPr id="15" name="Shape 12"/>
          <p:cNvSpPr/>
          <p:nvPr/>
        </p:nvSpPr>
        <p:spPr>
          <a:xfrm>
            <a:off x="9573768" y="1417320"/>
            <a:ext cx="50292" cy="530352"/>
          </a:xfrm>
          <a:prstGeom prst="rect">
            <a:avLst/>
          </a:prstGeom>
          <a:solidFill>
            <a:srgbClr val="6E8E7D"/>
          </a:solidFill>
          <a:ln w="12700">
            <a:solidFill>
              <a:srgbClr val="6E8E7D"/>
            </a:solidFill>
            <a:prstDash val="solid"/>
          </a:ln>
        </p:spPr>
      </p:sp>
      <p:sp>
        <p:nvSpPr>
          <p:cNvPr id="16" name="Text 13"/>
          <p:cNvSpPr/>
          <p:nvPr/>
        </p:nvSpPr>
        <p:spPr>
          <a:xfrm>
            <a:off x="9738360" y="1527048"/>
            <a:ext cx="912937" cy="201168"/>
          </a:xfrm>
          <a:prstGeom prst="rect">
            <a:avLst/>
          </a:prstGeom>
          <a:noFill/>
          <a:ln/>
        </p:spPr>
        <p:txBody>
          <a:bodyPr wrap="square" lIns="0" tIns="0" rIns="0" bIns="0" rtlCol="0" anchor="ctr"/>
          <a:lstStyle/>
          <a:p>
            <a:pPr marL="0" indent="0">
              <a:buNone/>
            </a:pPr>
            <a:r>
              <a:rPr lang="en-US" sz="1050" b="1" dirty="0">
                <a:solidFill>
                  <a:srgbClr val="6D7774"/>
                </a:solidFill>
              </a:rPr>
              <a:t>Accuracy</a:t>
            </a:r>
            <a:endParaRPr lang="en-US" sz="1050" dirty="0"/>
          </a:p>
        </p:txBody>
      </p:sp>
      <p:sp>
        <p:nvSpPr>
          <p:cNvPr id="17" name="Text 14"/>
          <p:cNvSpPr/>
          <p:nvPr/>
        </p:nvSpPr>
        <p:spPr>
          <a:xfrm>
            <a:off x="10619842" y="1499616"/>
            <a:ext cx="741761" cy="237744"/>
          </a:xfrm>
          <a:prstGeom prst="rect">
            <a:avLst/>
          </a:prstGeom>
          <a:noFill/>
          <a:ln/>
        </p:spPr>
        <p:txBody>
          <a:bodyPr wrap="square" lIns="0" tIns="0" rIns="0" bIns="0" rtlCol="0" anchor="ctr"/>
          <a:lstStyle/>
          <a:p>
            <a:pPr marL="0" indent="0" algn="r">
              <a:buNone/>
            </a:pPr>
            <a:r>
              <a:rPr lang="en-US" sz="1700" b="1" dirty="0">
                <a:solidFill>
                  <a:srgbClr val="24313A"/>
                </a:solidFill>
              </a:rPr>
              <a:t>75.3%</a:t>
            </a:r>
            <a:endParaRPr lang="en-US" sz="1700" dirty="0"/>
          </a:p>
        </p:txBody>
      </p:sp>
      <p:sp>
        <p:nvSpPr>
          <p:cNvPr id="18" name="Shape 15"/>
          <p:cNvSpPr/>
          <p:nvPr/>
        </p:nvSpPr>
        <p:spPr>
          <a:xfrm>
            <a:off x="7498080" y="2103120"/>
            <a:ext cx="1901952" cy="530352"/>
          </a:xfrm>
          <a:prstGeom prst="roundRect">
            <a:avLst>
              <a:gd name="adj" fmla="val 20690"/>
            </a:avLst>
          </a:prstGeom>
          <a:solidFill>
            <a:srgbClr val="FFFFFF"/>
          </a:solidFill>
          <a:ln w="11430">
            <a:solidFill>
              <a:srgbClr val="E2DED7"/>
            </a:solidFill>
            <a:prstDash val="solid"/>
          </a:ln>
        </p:spPr>
      </p:sp>
      <p:sp>
        <p:nvSpPr>
          <p:cNvPr id="19" name="Shape 16"/>
          <p:cNvSpPr/>
          <p:nvPr/>
        </p:nvSpPr>
        <p:spPr>
          <a:xfrm>
            <a:off x="7498080" y="2103120"/>
            <a:ext cx="50292" cy="530352"/>
          </a:xfrm>
          <a:prstGeom prst="rect">
            <a:avLst/>
          </a:prstGeom>
          <a:solidFill>
            <a:srgbClr val="756D87"/>
          </a:solidFill>
          <a:ln w="12700">
            <a:solidFill>
              <a:srgbClr val="756D87"/>
            </a:solidFill>
            <a:prstDash val="solid"/>
          </a:ln>
        </p:spPr>
      </p:sp>
      <p:sp>
        <p:nvSpPr>
          <p:cNvPr id="20" name="Text 17"/>
          <p:cNvSpPr/>
          <p:nvPr/>
        </p:nvSpPr>
        <p:spPr>
          <a:xfrm>
            <a:off x="7662672" y="2212848"/>
            <a:ext cx="912937" cy="201168"/>
          </a:xfrm>
          <a:prstGeom prst="rect">
            <a:avLst/>
          </a:prstGeom>
          <a:noFill/>
          <a:ln/>
        </p:spPr>
        <p:txBody>
          <a:bodyPr wrap="square" lIns="0" tIns="0" rIns="0" bIns="0" rtlCol="0" anchor="ctr"/>
          <a:lstStyle/>
          <a:p>
            <a:pPr marL="0" indent="0">
              <a:buNone/>
            </a:pPr>
            <a:r>
              <a:rPr lang="en-US" sz="1050" b="1" dirty="0">
                <a:solidFill>
                  <a:srgbClr val="6D7774"/>
                </a:solidFill>
              </a:rPr>
              <a:t>Macro F1</a:t>
            </a:r>
            <a:endParaRPr lang="en-US" sz="1050" dirty="0"/>
          </a:p>
        </p:txBody>
      </p:sp>
      <p:sp>
        <p:nvSpPr>
          <p:cNvPr id="21" name="Text 18"/>
          <p:cNvSpPr/>
          <p:nvPr/>
        </p:nvSpPr>
        <p:spPr>
          <a:xfrm>
            <a:off x="8544154" y="2185416"/>
            <a:ext cx="741761" cy="237744"/>
          </a:xfrm>
          <a:prstGeom prst="rect">
            <a:avLst/>
          </a:prstGeom>
          <a:noFill/>
          <a:ln/>
        </p:spPr>
        <p:txBody>
          <a:bodyPr wrap="square" lIns="0" tIns="0" rIns="0" bIns="0" rtlCol="0" anchor="ctr"/>
          <a:lstStyle/>
          <a:p>
            <a:pPr marL="0" indent="0" algn="r">
              <a:buNone/>
            </a:pPr>
            <a:r>
              <a:rPr lang="en-US" sz="1700" b="1" dirty="0">
                <a:solidFill>
                  <a:srgbClr val="24313A"/>
                </a:solidFill>
              </a:rPr>
              <a:t>0.628</a:t>
            </a:r>
            <a:endParaRPr lang="en-US" sz="1700" dirty="0"/>
          </a:p>
        </p:txBody>
      </p:sp>
      <p:sp>
        <p:nvSpPr>
          <p:cNvPr id="22" name="Shape 19"/>
          <p:cNvSpPr/>
          <p:nvPr/>
        </p:nvSpPr>
        <p:spPr>
          <a:xfrm>
            <a:off x="9573768" y="2103120"/>
            <a:ext cx="1901952" cy="530352"/>
          </a:xfrm>
          <a:prstGeom prst="roundRect">
            <a:avLst>
              <a:gd name="adj" fmla="val 20690"/>
            </a:avLst>
          </a:prstGeom>
          <a:solidFill>
            <a:srgbClr val="FFFFFF"/>
          </a:solidFill>
          <a:ln w="11430">
            <a:solidFill>
              <a:srgbClr val="E2DED7"/>
            </a:solidFill>
            <a:prstDash val="solid"/>
          </a:ln>
        </p:spPr>
      </p:sp>
      <p:sp>
        <p:nvSpPr>
          <p:cNvPr id="23" name="Shape 20"/>
          <p:cNvSpPr/>
          <p:nvPr/>
        </p:nvSpPr>
        <p:spPr>
          <a:xfrm>
            <a:off x="9573768" y="2103120"/>
            <a:ext cx="50292" cy="530352"/>
          </a:xfrm>
          <a:prstGeom prst="rect">
            <a:avLst/>
          </a:prstGeom>
          <a:solidFill>
            <a:srgbClr val="C6A25D"/>
          </a:solidFill>
          <a:ln w="12700">
            <a:solidFill>
              <a:srgbClr val="C6A25D"/>
            </a:solidFill>
            <a:prstDash val="solid"/>
          </a:ln>
        </p:spPr>
      </p:sp>
      <p:sp>
        <p:nvSpPr>
          <p:cNvPr id="24" name="Text 21"/>
          <p:cNvSpPr/>
          <p:nvPr/>
        </p:nvSpPr>
        <p:spPr>
          <a:xfrm>
            <a:off x="9738360" y="2212848"/>
            <a:ext cx="912937" cy="201168"/>
          </a:xfrm>
          <a:prstGeom prst="rect">
            <a:avLst/>
          </a:prstGeom>
          <a:noFill/>
          <a:ln/>
        </p:spPr>
        <p:txBody>
          <a:bodyPr wrap="square" lIns="0" tIns="0" rIns="0" bIns="0" rtlCol="0" anchor="ctr"/>
          <a:lstStyle/>
          <a:p>
            <a:pPr marL="0" indent="0">
              <a:buNone/>
            </a:pPr>
            <a:r>
              <a:rPr lang="en-US" sz="1050" b="1" dirty="0">
                <a:solidFill>
                  <a:srgbClr val="6D7774"/>
                </a:solidFill>
              </a:rPr>
              <a:t>Test n</a:t>
            </a:r>
            <a:endParaRPr lang="en-US" sz="1050" dirty="0"/>
          </a:p>
        </p:txBody>
      </p:sp>
      <p:sp>
        <p:nvSpPr>
          <p:cNvPr id="25" name="Text 22"/>
          <p:cNvSpPr/>
          <p:nvPr/>
        </p:nvSpPr>
        <p:spPr>
          <a:xfrm>
            <a:off x="10619842" y="2185416"/>
            <a:ext cx="741761" cy="237744"/>
          </a:xfrm>
          <a:prstGeom prst="rect">
            <a:avLst/>
          </a:prstGeom>
          <a:noFill/>
          <a:ln/>
        </p:spPr>
        <p:txBody>
          <a:bodyPr wrap="square" lIns="0" tIns="0" rIns="0" bIns="0" rtlCol="0" anchor="ctr"/>
          <a:lstStyle/>
          <a:p>
            <a:pPr marL="0" indent="0" algn="r">
              <a:buNone/>
            </a:pPr>
            <a:r>
              <a:rPr lang="en-US" sz="1700" b="1" dirty="0">
                <a:solidFill>
                  <a:srgbClr val="24313A"/>
                </a:solidFill>
              </a:rPr>
              <a:t>453</a:t>
            </a:r>
            <a:endParaRPr lang="en-US" sz="1700" dirty="0"/>
          </a:p>
        </p:txBody>
      </p:sp>
      <p:sp>
        <p:nvSpPr>
          <p:cNvPr id="26" name="Text 23"/>
          <p:cNvSpPr/>
          <p:nvPr/>
        </p:nvSpPr>
        <p:spPr>
          <a:xfrm>
            <a:off x="7498080" y="2834640"/>
            <a:ext cx="3931920" cy="274320"/>
          </a:xfrm>
          <a:prstGeom prst="rect">
            <a:avLst/>
          </a:prstGeom>
          <a:noFill/>
          <a:ln/>
        </p:spPr>
        <p:txBody>
          <a:bodyPr wrap="square" lIns="0" tIns="0" rIns="0" bIns="0" rtlCol="0" anchor="ctr"/>
          <a:lstStyle/>
          <a:p>
            <a:pPr marL="0" indent="0">
              <a:buNone/>
            </a:pPr>
            <a:r>
              <a:rPr lang="en-US" sz="1530" b="1" dirty="0">
                <a:solidFill>
                  <a:srgbClr val="24313A"/>
                </a:solidFill>
              </a:rPr>
              <a:t>Internal recall objectives</a:t>
            </a:r>
            <a:endParaRPr lang="en-US" sz="1530" dirty="0"/>
          </a:p>
        </p:txBody>
      </p:sp>
      <p:graphicFrame>
        <p:nvGraphicFramePr>
          <p:cNvPr id="27" name="Table 0"/>
          <p:cNvGraphicFramePr>
            <a:graphicFrameLocks noGrp="1"/>
          </p:cNvGraphicFramePr>
          <p:nvPr>
            <p:extLst>
              <p:ext uri="{D42A27DB-BD31-4B8C-83A1-F6EECF244321}">
                <p14:modId xmlns:p14="http://schemas.microsoft.com/office/powerpoint/2010/main" val="1579011935"/>
              </p:ext>
            </p:extLst>
          </p:nvPr>
        </p:nvGraphicFramePr>
        <p:xfrm>
          <a:off x="7498080" y="3200400"/>
          <a:ext cx="3950208" cy="1645920"/>
        </p:xfrm>
        <a:graphic>
          <a:graphicData uri="http://schemas.openxmlformats.org/drawingml/2006/table">
            <a:tbl>
              <a:tblPr/>
              <a:tblGrid>
                <a:gridCol w="1325880">
                  <a:extLst>
                    <a:ext uri="{9D8B030D-6E8A-4147-A177-3AD203B41FA5}">
                      <a16:colId xmlns:a16="http://schemas.microsoft.com/office/drawing/2014/main" val="20000"/>
                    </a:ext>
                  </a:extLst>
                </a:gridCol>
                <a:gridCol w="877824">
                  <a:extLst>
                    <a:ext uri="{9D8B030D-6E8A-4147-A177-3AD203B41FA5}">
                      <a16:colId xmlns:a16="http://schemas.microsoft.com/office/drawing/2014/main" val="20001"/>
                    </a:ext>
                  </a:extLst>
                </a:gridCol>
                <a:gridCol w="877824">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tblGrid>
              <a:tr h="329184">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Class</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Recall</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Target</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Status</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29184">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Low</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87.5%</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 75%</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29184">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Moderate</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41.8%</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 50%</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MISS</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329184">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High</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52.4%</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 50%</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29184">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Very High</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76.9%</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 75%</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tc>
                  <a:txBody>
                    <a:bodyPr/>
                    <a:lstStyle/>
                    <a:p>
                      <a:pPr marL="0" indent="0" algn="ctr">
                        <a:buNone/>
                      </a:pPr>
                      <a:r>
                        <a:rPr lang="en-US" sz="1050" dirty="0">
                          <a:solidFill>
                            <a:srgbClr val="28343D"/>
                          </a:solidFill>
                          <a:latin typeface="Arial" pitchFamily="34" charset="0"/>
                          <a:ea typeface="Arial" pitchFamily="34" charset="-122"/>
                          <a:cs typeface="Arial" pitchFamily="34" charset="-120"/>
                        </a:rPr>
                        <a:t>PASS</a:t>
                      </a:r>
                      <a:endParaRPr lang="en-US" sz="1050" dirty="0">
                        <a:latin typeface="Arial" charset="0"/>
                        <a:ea typeface="Arial" charset="0"/>
                        <a:cs typeface="Arial" charset="0"/>
                      </a:endParaRPr>
                    </a:p>
                  </a:txBody>
                  <a:tcPr marL="64008" marR="64008" marT="64008" marB="64008">
                    <a:lnL w="10160" cap="flat" cmpd="sng" algn="ctr">
                      <a:solidFill>
                        <a:srgbClr val="D9D5CE"/>
                      </a:solidFill>
                      <a:prstDash val="solid"/>
                      <a:round/>
                      <a:headEnd type="none" w="med" len="med"/>
                      <a:tailEnd type="none" w="med" len="med"/>
                    </a:lnL>
                    <a:lnR w="10160" cap="flat" cmpd="sng" algn="ctr">
                      <a:solidFill>
                        <a:srgbClr val="D9D5CE"/>
                      </a:solidFill>
                      <a:prstDash val="solid"/>
                      <a:round/>
                      <a:headEnd type="none" w="med" len="med"/>
                      <a:tailEnd type="none" w="med" len="med"/>
                    </a:lnR>
                    <a:lnT w="10160" cap="flat" cmpd="sng" algn="ctr">
                      <a:solidFill>
                        <a:srgbClr val="D9D5CE"/>
                      </a:solidFill>
                      <a:prstDash val="solid"/>
                      <a:round/>
                      <a:headEnd type="none" w="med" len="med"/>
                      <a:tailEnd type="none" w="med" len="med"/>
                    </a:lnT>
                    <a:lnB w="10160" cap="flat" cmpd="sng" algn="ctr">
                      <a:solidFill>
                        <a:srgbClr val="D9D5CE"/>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bl>
          </a:graphicData>
        </a:graphic>
      </p:graphicFrame>
      <p:sp>
        <p:nvSpPr>
          <p:cNvPr id="28" name="Shape 24"/>
          <p:cNvSpPr/>
          <p:nvPr/>
        </p:nvSpPr>
        <p:spPr>
          <a:xfrm>
            <a:off x="7498080" y="3529584"/>
            <a:ext cx="41148" cy="310896"/>
          </a:xfrm>
          <a:prstGeom prst="rect">
            <a:avLst/>
          </a:prstGeom>
          <a:solidFill>
            <a:srgbClr val="5C7F96"/>
          </a:solidFill>
          <a:ln w="12700">
            <a:solidFill>
              <a:srgbClr val="5C7F96"/>
            </a:solidFill>
            <a:prstDash val="solid"/>
          </a:ln>
        </p:spPr>
      </p:sp>
      <p:sp>
        <p:nvSpPr>
          <p:cNvPr id="29" name="Shape 25"/>
          <p:cNvSpPr/>
          <p:nvPr/>
        </p:nvSpPr>
        <p:spPr>
          <a:xfrm>
            <a:off x="7498080" y="3858768"/>
            <a:ext cx="41148" cy="310896"/>
          </a:xfrm>
          <a:prstGeom prst="rect">
            <a:avLst/>
          </a:prstGeom>
          <a:solidFill>
            <a:srgbClr val="B87461"/>
          </a:solidFill>
          <a:ln w="12700">
            <a:solidFill>
              <a:srgbClr val="B87461"/>
            </a:solidFill>
            <a:prstDash val="solid"/>
          </a:ln>
        </p:spPr>
      </p:sp>
      <p:sp>
        <p:nvSpPr>
          <p:cNvPr id="30" name="Shape 26"/>
          <p:cNvSpPr/>
          <p:nvPr/>
        </p:nvSpPr>
        <p:spPr>
          <a:xfrm>
            <a:off x="7498080" y="4187952"/>
            <a:ext cx="41148" cy="310896"/>
          </a:xfrm>
          <a:prstGeom prst="rect">
            <a:avLst/>
          </a:prstGeom>
          <a:solidFill>
            <a:srgbClr val="C6A25D"/>
          </a:solidFill>
          <a:ln w="12700">
            <a:solidFill>
              <a:srgbClr val="C6A25D"/>
            </a:solidFill>
            <a:prstDash val="solid"/>
          </a:ln>
        </p:spPr>
      </p:sp>
      <p:sp>
        <p:nvSpPr>
          <p:cNvPr id="31" name="Shape 27"/>
          <p:cNvSpPr/>
          <p:nvPr/>
        </p:nvSpPr>
        <p:spPr>
          <a:xfrm>
            <a:off x="7498080" y="4517136"/>
            <a:ext cx="41148" cy="310896"/>
          </a:xfrm>
          <a:prstGeom prst="rect">
            <a:avLst/>
          </a:prstGeom>
          <a:solidFill>
            <a:srgbClr val="756D87"/>
          </a:solidFill>
          <a:ln w="12700">
            <a:solidFill>
              <a:srgbClr val="756D87"/>
            </a:solidFill>
            <a:prstDash val="solid"/>
          </a:ln>
        </p:spPr>
      </p:sp>
      <p:sp>
        <p:nvSpPr>
          <p:cNvPr id="32" name="Shape 28"/>
          <p:cNvSpPr/>
          <p:nvPr/>
        </p:nvSpPr>
        <p:spPr>
          <a:xfrm>
            <a:off x="7498080" y="5358384"/>
            <a:ext cx="3950208" cy="768096"/>
          </a:xfrm>
          <a:prstGeom prst="roundRect">
            <a:avLst>
              <a:gd name="adj" fmla="val 14286"/>
            </a:avLst>
          </a:prstGeom>
          <a:solidFill>
            <a:srgbClr val="F4E9E4"/>
          </a:solidFill>
          <a:ln w="11430">
            <a:solidFill>
              <a:srgbClr val="F4E9E4"/>
            </a:solidFill>
            <a:prstDash val="solid"/>
          </a:ln>
        </p:spPr>
      </p:sp>
      <p:sp>
        <p:nvSpPr>
          <p:cNvPr id="33" name="Shape 29"/>
          <p:cNvSpPr/>
          <p:nvPr/>
        </p:nvSpPr>
        <p:spPr>
          <a:xfrm>
            <a:off x="7498080" y="5358384"/>
            <a:ext cx="50292" cy="768096"/>
          </a:xfrm>
          <a:prstGeom prst="rect">
            <a:avLst/>
          </a:prstGeom>
          <a:solidFill>
            <a:srgbClr val="B87461"/>
          </a:solidFill>
          <a:ln w="12700">
            <a:solidFill>
              <a:srgbClr val="B87461"/>
            </a:solidFill>
            <a:prstDash val="solid"/>
          </a:ln>
        </p:spPr>
      </p:sp>
      <p:sp>
        <p:nvSpPr>
          <p:cNvPr id="34" name="Text 30"/>
          <p:cNvSpPr/>
          <p:nvPr/>
        </p:nvSpPr>
        <p:spPr>
          <a:xfrm>
            <a:off x="7653528" y="5431536"/>
            <a:ext cx="3712464" cy="621792"/>
          </a:xfrm>
          <a:prstGeom prst="rect">
            <a:avLst/>
          </a:prstGeom>
          <a:noFill/>
          <a:ln/>
        </p:spPr>
        <p:txBody>
          <a:bodyPr wrap="square" lIns="0" tIns="0" rIns="0" bIns="0" rtlCol="0" anchor="ctr">
            <a:normAutofit/>
          </a:bodyPr>
          <a:lstStyle/>
          <a:p>
            <a:pPr marL="0" indent="0">
              <a:buNone/>
            </a:pPr>
            <a:r>
              <a:rPr lang="en-US" sz="1060" dirty="0">
                <a:solidFill>
                  <a:srgbClr val="28343D"/>
                </a:solidFill>
              </a:rPr>
              <a:t>3 of 4 internal recall targets were met. Moderate is the main improvement area; Very High recall met the primary project objective.</a:t>
            </a:r>
            <a:endParaRPr lang="en-US" sz="1060" dirty="0"/>
          </a:p>
        </p:txBody>
      </p:sp>
      <p:sp>
        <p:nvSpPr>
          <p:cNvPr id="35"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94360" y="347472"/>
            <a:ext cx="2834640" cy="164592"/>
          </a:xfrm>
          <a:prstGeom prst="rect">
            <a:avLst/>
          </a:prstGeom>
          <a:noFill/>
          <a:ln/>
        </p:spPr>
        <p:txBody>
          <a:bodyPr wrap="square" lIns="0" tIns="0" rIns="0" bIns="0" rtlCol="0" anchor="ctr"/>
          <a:lstStyle/>
          <a:p>
            <a:pPr marL="0" indent="0">
              <a:buNone/>
            </a:pPr>
            <a:r>
              <a:rPr lang="en-US" sz="850" b="1" kern="0" spc="120" dirty="0">
                <a:solidFill>
                  <a:srgbClr val="6E8E7D"/>
                </a:solidFill>
              </a:rPr>
              <a:t>RESULTS</a:t>
            </a:r>
            <a:endParaRPr lang="en-US" sz="850" dirty="0"/>
          </a:p>
        </p:txBody>
      </p:sp>
      <p:sp>
        <p:nvSpPr>
          <p:cNvPr id="3" name="Text 1"/>
          <p:cNvSpPr/>
          <p:nvPr/>
        </p:nvSpPr>
        <p:spPr>
          <a:xfrm>
            <a:off x="594360" y="566928"/>
            <a:ext cx="10698480" cy="502920"/>
          </a:xfrm>
          <a:prstGeom prst="rect">
            <a:avLst/>
          </a:prstGeom>
          <a:noFill/>
          <a:ln/>
        </p:spPr>
        <p:txBody>
          <a:bodyPr wrap="square" lIns="0" tIns="0" rIns="0" bIns="0" rtlCol="0" anchor="ctr"/>
          <a:lstStyle/>
          <a:p>
            <a:pPr marL="0" indent="0">
              <a:buNone/>
            </a:pPr>
            <a:r>
              <a:rPr lang="en-US" sz="2800" b="1" dirty="0">
                <a:solidFill>
                  <a:srgbClr val="24313A"/>
                </a:solidFill>
              </a:rPr>
              <a:t>How the fusion score behaves</a:t>
            </a:r>
            <a:endParaRPr lang="en-US" sz="2800" dirty="0"/>
          </a:p>
        </p:txBody>
      </p:sp>
      <p:sp>
        <p:nvSpPr>
          <p:cNvPr id="4" name="Shape 2"/>
          <p:cNvSpPr/>
          <p:nvPr/>
        </p:nvSpPr>
        <p:spPr>
          <a:xfrm>
            <a:off x="594360" y="1143000"/>
            <a:ext cx="658368" cy="0"/>
          </a:xfrm>
          <a:prstGeom prst="line">
            <a:avLst/>
          </a:prstGeom>
          <a:noFill/>
          <a:ln w="27940">
            <a:solidFill>
              <a:srgbClr val="B87461"/>
            </a:solidFill>
            <a:prstDash val="solid"/>
          </a:ln>
        </p:spPr>
      </p:sp>
      <p:sp>
        <p:nvSpPr>
          <p:cNvPr id="5" name="Shape 3"/>
          <p:cNvSpPr/>
          <p:nvPr/>
        </p:nvSpPr>
        <p:spPr>
          <a:xfrm>
            <a:off x="10332720" y="384048"/>
            <a:ext cx="1234440" cy="256032"/>
          </a:xfrm>
          <a:prstGeom prst="roundRect">
            <a:avLst/>
          </a:prstGeom>
          <a:solidFill>
            <a:srgbClr val="E8EFEA"/>
          </a:solidFill>
          <a:ln w="12700">
            <a:solidFill>
              <a:srgbClr val="E8EFEA"/>
            </a:solidFill>
            <a:prstDash val="solid"/>
          </a:ln>
        </p:spPr>
        <p:txBody>
          <a:bodyPr/>
          <a:lstStyle/>
          <a:p>
            <a:endParaRPr lang="en-US" dirty="0"/>
          </a:p>
        </p:txBody>
      </p:sp>
      <p:sp>
        <p:nvSpPr>
          <p:cNvPr id="6" name="Text 4"/>
          <p:cNvSpPr/>
          <p:nvPr/>
        </p:nvSpPr>
        <p:spPr>
          <a:xfrm>
            <a:off x="10387584" y="416052"/>
            <a:ext cx="1124712" cy="146304"/>
          </a:xfrm>
          <a:prstGeom prst="rect">
            <a:avLst/>
          </a:prstGeom>
          <a:noFill/>
          <a:ln/>
        </p:spPr>
        <p:txBody>
          <a:bodyPr wrap="square" lIns="0" tIns="0" rIns="0" bIns="0" rtlCol="0" anchor="ctr"/>
          <a:lstStyle/>
          <a:p>
            <a:pPr marL="0" indent="0" algn="ctr">
              <a:buNone/>
            </a:pPr>
            <a:r>
              <a:rPr lang="en-US" sz="740" b="1" dirty="0">
                <a:solidFill>
                  <a:srgbClr val="6E8E7D"/>
                </a:solidFill>
              </a:rPr>
              <a:t>9 / 11</a:t>
            </a:r>
            <a:endParaRPr lang="en-US" sz="740" dirty="0"/>
          </a:p>
        </p:txBody>
      </p:sp>
      <p:sp>
        <p:nvSpPr>
          <p:cNvPr id="7" name="Shape 5"/>
          <p:cNvSpPr/>
          <p:nvPr/>
        </p:nvSpPr>
        <p:spPr>
          <a:xfrm>
            <a:off x="530352" y="1243584"/>
            <a:ext cx="5577840" cy="4315968"/>
          </a:xfrm>
          <a:prstGeom prst="roundRect">
            <a:avLst>
              <a:gd name="adj" fmla="val 2542"/>
            </a:avLst>
          </a:prstGeom>
          <a:solidFill>
            <a:srgbClr val="FFFFFF"/>
          </a:solidFill>
          <a:ln w="11430">
            <a:solidFill>
              <a:srgbClr val="DDD8D0"/>
            </a:solidFill>
            <a:prstDash val="solid"/>
          </a:ln>
        </p:spPr>
      </p:sp>
      <p:pic>
        <p:nvPicPr>
          <p:cNvPr id="8" name="Image 0" descr="/mnt/data/test_true_vs_predicted_by_class(1).png"/>
          <p:cNvPicPr>
            <a:picLocks noChangeAspect="1"/>
          </p:cNvPicPr>
          <p:nvPr/>
        </p:nvPicPr>
        <p:blipFill>
          <a:blip r:embed="rId3"/>
          <a:stretch>
            <a:fillRect/>
          </a:stretch>
        </p:blipFill>
        <p:spPr>
          <a:xfrm>
            <a:off x="971230" y="1316736"/>
            <a:ext cx="4696084" cy="4169664"/>
          </a:xfrm>
          <a:prstGeom prst="rect">
            <a:avLst/>
          </a:prstGeom>
        </p:spPr>
      </p:pic>
      <p:sp>
        <p:nvSpPr>
          <p:cNvPr id="10" name="Shape 7"/>
          <p:cNvSpPr/>
          <p:nvPr/>
        </p:nvSpPr>
        <p:spPr>
          <a:xfrm>
            <a:off x="6266688" y="1243584"/>
            <a:ext cx="5394960" cy="4315968"/>
          </a:xfrm>
          <a:prstGeom prst="roundRect">
            <a:avLst>
              <a:gd name="adj" fmla="val 2542"/>
            </a:avLst>
          </a:prstGeom>
          <a:solidFill>
            <a:srgbClr val="FFFFFF"/>
          </a:solidFill>
          <a:ln w="11430">
            <a:solidFill>
              <a:srgbClr val="DDD8D0"/>
            </a:solidFill>
            <a:prstDash val="solid"/>
          </a:ln>
        </p:spPr>
      </p:sp>
      <p:pic>
        <p:nvPicPr>
          <p:cNvPr id="11" name="Image 1" descr="/mnt/data/test_score_distribution_with_thresholds(1).png"/>
          <p:cNvPicPr>
            <a:picLocks noChangeAspect="1"/>
          </p:cNvPicPr>
          <p:nvPr/>
        </p:nvPicPr>
        <p:blipFill>
          <a:blip r:embed="rId4"/>
          <a:stretch>
            <a:fillRect/>
          </a:stretch>
        </p:blipFill>
        <p:spPr>
          <a:xfrm>
            <a:off x="6339840" y="1904881"/>
            <a:ext cx="5248656" cy="2993374"/>
          </a:xfrm>
          <a:prstGeom prst="rect">
            <a:avLst/>
          </a:prstGeom>
        </p:spPr>
      </p:pic>
      <p:sp>
        <p:nvSpPr>
          <p:cNvPr id="13" name="Shape 9"/>
          <p:cNvSpPr/>
          <p:nvPr/>
        </p:nvSpPr>
        <p:spPr>
          <a:xfrm>
            <a:off x="694944" y="5815584"/>
            <a:ext cx="10972800" cy="566928"/>
          </a:xfrm>
          <a:prstGeom prst="roundRect">
            <a:avLst>
              <a:gd name="adj" fmla="val 19355"/>
            </a:avLst>
          </a:prstGeom>
          <a:solidFill>
            <a:srgbClr val="FFFFFF"/>
          </a:solidFill>
          <a:ln w="11430">
            <a:solidFill>
              <a:srgbClr val="DDD8D0"/>
            </a:solidFill>
            <a:prstDash val="solid"/>
          </a:ln>
        </p:spPr>
      </p:sp>
      <p:sp>
        <p:nvSpPr>
          <p:cNvPr id="14" name="Text 10"/>
          <p:cNvSpPr/>
          <p:nvPr/>
        </p:nvSpPr>
        <p:spPr>
          <a:xfrm>
            <a:off x="905256" y="6016752"/>
            <a:ext cx="1005840" cy="164592"/>
          </a:xfrm>
          <a:prstGeom prst="rect">
            <a:avLst/>
          </a:prstGeom>
          <a:noFill/>
          <a:ln/>
        </p:spPr>
        <p:txBody>
          <a:bodyPr wrap="square" lIns="0" tIns="0" rIns="0" bIns="0" rtlCol="0" anchor="ctr"/>
          <a:lstStyle/>
          <a:p>
            <a:pPr marL="0" indent="0">
              <a:buNone/>
            </a:pPr>
            <a:r>
              <a:rPr lang="en-US" sz="980" b="1" dirty="0">
                <a:solidFill>
                  <a:srgbClr val="6D7774"/>
                </a:solidFill>
              </a:rPr>
              <a:t>True-label bins</a:t>
            </a:r>
            <a:endParaRPr lang="en-US" sz="980" dirty="0"/>
          </a:p>
        </p:txBody>
      </p:sp>
      <p:sp>
        <p:nvSpPr>
          <p:cNvPr id="15" name="Text 11"/>
          <p:cNvSpPr/>
          <p:nvPr/>
        </p:nvSpPr>
        <p:spPr>
          <a:xfrm>
            <a:off x="1874520" y="5980176"/>
            <a:ext cx="777240" cy="219456"/>
          </a:xfrm>
          <a:prstGeom prst="rect">
            <a:avLst/>
          </a:prstGeom>
          <a:noFill/>
          <a:ln/>
        </p:spPr>
        <p:txBody>
          <a:bodyPr wrap="square" lIns="0" tIns="0" rIns="0" bIns="0" rtlCol="0" anchor="ctr"/>
          <a:lstStyle/>
          <a:p>
            <a:pPr marL="0" indent="0">
              <a:buNone/>
            </a:pPr>
            <a:r>
              <a:rPr lang="en-US" sz="1350" b="1" dirty="0">
                <a:solidFill>
                  <a:srgbClr val="24313A"/>
                </a:solidFill>
              </a:rPr>
              <a:t>3 / 5 / 7</a:t>
            </a:r>
            <a:endParaRPr lang="en-US" sz="1350" dirty="0"/>
          </a:p>
        </p:txBody>
      </p:sp>
      <p:sp>
        <p:nvSpPr>
          <p:cNvPr id="16" name="Text 12"/>
          <p:cNvSpPr/>
          <p:nvPr/>
        </p:nvSpPr>
        <p:spPr>
          <a:xfrm>
            <a:off x="3232404" y="6016752"/>
            <a:ext cx="2148840" cy="164592"/>
          </a:xfrm>
          <a:prstGeom prst="rect">
            <a:avLst/>
          </a:prstGeom>
          <a:noFill/>
          <a:ln/>
        </p:spPr>
        <p:txBody>
          <a:bodyPr wrap="square" lIns="0" tIns="0" rIns="0" bIns="0" rtlCol="0" anchor="ctr"/>
          <a:lstStyle/>
          <a:p>
            <a:pPr marL="0" indent="0">
              <a:buNone/>
            </a:pPr>
            <a:r>
              <a:rPr lang="en-US" sz="980" b="1" dirty="0">
                <a:solidFill>
                  <a:srgbClr val="6D7774"/>
                </a:solidFill>
              </a:rPr>
              <a:t>Calibrated prediction thresholds</a:t>
            </a:r>
            <a:endParaRPr lang="en-US" sz="980" dirty="0"/>
          </a:p>
        </p:txBody>
      </p:sp>
      <p:sp>
        <p:nvSpPr>
          <p:cNvPr id="17" name="Text 13"/>
          <p:cNvSpPr/>
          <p:nvPr/>
        </p:nvSpPr>
        <p:spPr>
          <a:xfrm>
            <a:off x="5281686" y="5980176"/>
            <a:ext cx="1965960" cy="219456"/>
          </a:xfrm>
          <a:prstGeom prst="rect">
            <a:avLst/>
          </a:prstGeom>
          <a:noFill/>
          <a:ln/>
        </p:spPr>
        <p:txBody>
          <a:bodyPr wrap="square" lIns="0" tIns="0" rIns="0" bIns="0" rtlCol="0" anchor="ctr"/>
          <a:lstStyle/>
          <a:p>
            <a:pPr marL="0" indent="0">
              <a:buNone/>
            </a:pPr>
            <a:r>
              <a:rPr lang="en-US" sz="1350" b="1" dirty="0">
                <a:solidFill>
                  <a:srgbClr val="24313A"/>
                </a:solidFill>
              </a:rPr>
              <a:t>3.10  /  4.91  /  6.46</a:t>
            </a:r>
            <a:endParaRPr lang="en-US" sz="1350" dirty="0"/>
          </a:p>
        </p:txBody>
      </p:sp>
      <p:sp>
        <p:nvSpPr>
          <p:cNvPr id="18" name="Text 14"/>
          <p:cNvSpPr/>
          <p:nvPr/>
        </p:nvSpPr>
        <p:spPr>
          <a:xfrm>
            <a:off x="7479792" y="5989320"/>
            <a:ext cx="749808" cy="164592"/>
          </a:xfrm>
          <a:prstGeom prst="rect">
            <a:avLst/>
          </a:prstGeom>
          <a:noFill/>
          <a:ln/>
        </p:spPr>
        <p:txBody>
          <a:bodyPr wrap="square" lIns="0" tIns="0" rIns="0" bIns="0" rtlCol="0" anchor="ctr"/>
          <a:lstStyle/>
          <a:p>
            <a:pPr marL="0" indent="0">
              <a:buNone/>
            </a:pPr>
            <a:r>
              <a:rPr lang="en-US" sz="980" b="1" dirty="0">
                <a:solidFill>
                  <a:srgbClr val="6D7774"/>
                </a:solidFill>
              </a:rPr>
              <a:t>Takeaway</a:t>
            </a:r>
            <a:endParaRPr lang="en-US" sz="980" dirty="0"/>
          </a:p>
        </p:txBody>
      </p:sp>
      <p:sp>
        <p:nvSpPr>
          <p:cNvPr id="19" name="Text 15"/>
          <p:cNvSpPr/>
          <p:nvPr/>
        </p:nvSpPr>
        <p:spPr>
          <a:xfrm>
            <a:off x="8229600" y="5971592"/>
            <a:ext cx="3310128" cy="274320"/>
          </a:xfrm>
          <a:prstGeom prst="rect">
            <a:avLst/>
          </a:prstGeom>
          <a:noFill/>
          <a:ln/>
        </p:spPr>
        <p:txBody>
          <a:bodyPr wrap="square" lIns="0" tIns="0" rIns="0" bIns="0" rtlCol="0" anchor="ctr">
            <a:normAutofit fontScale="92500" lnSpcReduction="10000"/>
          </a:bodyPr>
          <a:lstStyle/>
          <a:p>
            <a:pPr marL="0" indent="0">
              <a:buNone/>
            </a:pPr>
            <a:r>
              <a:rPr lang="en-US" sz="1070" dirty="0">
                <a:solidFill>
                  <a:srgbClr val="28343D"/>
                </a:solidFill>
              </a:rPr>
              <a:t>Low and Very High separate better; Moderate overlaps both neighboring classes.</a:t>
            </a:r>
            <a:endParaRPr lang="en-US" sz="1070" dirty="0"/>
          </a:p>
        </p:txBody>
      </p:sp>
      <p:sp>
        <p:nvSpPr>
          <p:cNvPr id="25"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1842BF-3835-22EC-50FC-12374959A35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B8A7E3E-4AF6-C9CD-5C0E-0C5D328506B1}"/>
              </a:ext>
            </a:extLst>
          </p:cNvPr>
          <p:cNvSpPr/>
          <p:nvPr/>
        </p:nvSpPr>
        <p:spPr>
          <a:xfrm>
            <a:off x="594360" y="347472"/>
            <a:ext cx="2834640" cy="164592"/>
          </a:xfrm>
          <a:prstGeom prst="rect">
            <a:avLst/>
          </a:prstGeom>
          <a:noFill/>
          <a:ln/>
        </p:spPr>
        <p:txBody>
          <a:bodyPr wrap="square" lIns="0" tIns="0" rIns="0" bIns="0" rtlCol="0" anchor="ctr"/>
          <a:lstStyle/>
          <a:p>
            <a:pPr marL="0" indent="0">
              <a:buNone/>
            </a:pPr>
            <a:r>
              <a:rPr lang="en-US" sz="850" b="1" kern="0" spc="120" dirty="0">
                <a:solidFill>
                  <a:srgbClr val="6E8E7D"/>
                </a:solidFill>
              </a:rPr>
              <a:t>TAKEAWAYS</a:t>
            </a:r>
            <a:endParaRPr lang="en-US" sz="850" dirty="0"/>
          </a:p>
        </p:txBody>
      </p:sp>
      <p:sp>
        <p:nvSpPr>
          <p:cNvPr id="3" name="Text 1">
            <a:extLst>
              <a:ext uri="{FF2B5EF4-FFF2-40B4-BE49-F238E27FC236}">
                <a16:creationId xmlns:a16="http://schemas.microsoft.com/office/drawing/2014/main" id="{662478D9-011F-6797-BE51-98D882CA8430}"/>
              </a:ext>
            </a:extLst>
          </p:cNvPr>
          <p:cNvSpPr/>
          <p:nvPr/>
        </p:nvSpPr>
        <p:spPr>
          <a:xfrm>
            <a:off x="594360" y="566928"/>
            <a:ext cx="10698480" cy="502920"/>
          </a:xfrm>
          <a:prstGeom prst="rect">
            <a:avLst/>
          </a:prstGeom>
          <a:noFill/>
          <a:ln/>
        </p:spPr>
        <p:txBody>
          <a:bodyPr wrap="square" lIns="0" tIns="0" rIns="0" bIns="0" rtlCol="0" anchor="ctr"/>
          <a:lstStyle/>
          <a:p>
            <a:pPr marL="0" indent="0">
              <a:buNone/>
            </a:pPr>
            <a:r>
              <a:rPr lang="en-US" sz="2800" b="1" dirty="0">
                <a:solidFill>
                  <a:srgbClr val="24313A"/>
                </a:solidFill>
              </a:rPr>
              <a:t>Conclusion</a:t>
            </a:r>
            <a:endParaRPr lang="en-US" sz="2800" dirty="0"/>
          </a:p>
        </p:txBody>
      </p:sp>
      <p:sp>
        <p:nvSpPr>
          <p:cNvPr id="4" name="Shape 2">
            <a:extLst>
              <a:ext uri="{FF2B5EF4-FFF2-40B4-BE49-F238E27FC236}">
                <a16:creationId xmlns:a16="http://schemas.microsoft.com/office/drawing/2014/main" id="{BCBE29F8-FA63-1080-2119-8452C5A0C92D}"/>
              </a:ext>
            </a:extLst>
          </p:cNvPr>
          <p:cNvSpPr/>
          <p:nvPr/>
        </p:nvSpPr>
        <p:spPr>
          <a:xfrm>
            <a:off x="594360" y="1143000"/>
            <a:ext cx="658368" cy="0"/>
          </a:xfrm>
          <a:prstGeom prst="line">
            <a:avLst/>
          </a:prstGeom>
          <a:noFill/>
          <a:ln w="27940">
            <a:solidFill>
              <a:srgbClr val="B87461"/>
            </a:solidFill>
            <a:prstDash val="solid"/>
          </a:ln>
        </p:spPr>
      </p:sp>
      <p:sp>
        <p:nvSpPr>
          <p:cNvPr id="5" name="Shape 3">
            <a:extLst>
              <a:ext uri="{FF2B5EF4-FFF2-40B4-BE49-F238E27FC236}">
                <a16:creationId xmlns:a16="http://schemas.microsoft.com/office/drawing/2014/main" id="{290F9A10-C6D8-1E3D-81ED-2A2D1337A591}"/>
              </a:ext>
            </a:extLst>
          </p:cNvPr>
          <p:cNvSpPr/>
          <p:nvPr/>
        </p:nvSpPr>
        <p:spPr>
          <a:xfrm>
            <a:off x="10332720" y="384048"/>
            <a:ext cx="1234440" cy="256032"/>
          </a:xfrm>
          <a:prstGeom prst="roundRect">
            <a:avLst/>
          </a:prstGeom>
          <a:solidFill>
            <a:srgbClr val="E8EFEA"/>
          </a:solidFill>
          <a:ln w="12700">
            <a:solidFill>
              <a:srgbClr val="E8EFEA"/>
            </a:solidFill>
            <a:prstDash val="solid"/>
          </a:ln>
        </p:spPr>
        <p:txBody>
          <a:bodyPr/>
          <a:lstStyle/>
          <a:p>
            <a:endParaRPr lang="en-US" dirty="0"/>
          </a:p>
        </p:txBody>
      </p:sp>
      <p:sp>
        <p:nvSpPr>
          <p:cNvPr id="6" name="Text 4">
            <a:extLst>
              <a:ext uri="{FF2B5EF4-FFF2-40B4-BE49-F238E27FC236}">
                <a16:creationId xmlns:a16="http://schemas.microsoft.com/office/drawing/2014/main" id="{AC4CA767-E418-9C17-5B63-3D5A120BFBA7}"/>
              </a:ext>
            </a:extLst>
          </p:cNvPr>
          <p:cNvSpPr/>
          <p:nvPr/>
        </p:nvSpPr>
        <p:spPr>
          <a:xfrm>
            <a:off x="10387584" y="416052"/>
            <a:ext cx="1124712" cy="146304"/>
          </a:xfrm>
          <a:prstGeom prst="rect">
            <a:avLst/>
          </a:prstGeom>
          <a:noFill/>
          <a:ln/>
        </p:spPr>
        <p:txBody>
          <a:bodyPr wrap="square" lIns="0" tIns="0" rIns="0" bIns="0" rtlCol="0" anchor="ctr"/>
          <a:lstStyle/>
          <a:p>
            <a:pPr marL="0" indent="0" algn="ctr">
              <a:buNone/>
            </a:pPr>
            <a:r>
              <a:rPr lang="en-US" sz="740" b="1" dirty="0">
                <a:solidFill>
                  <a:srgbClr val="6E8E7D"/>
                </a:solidFill>
              </a:rPr>
              <a:t>10 / 11</a:t>
            </a:r>
            <a:endParaRPr lang="en-US" sz="740" dirty="0"/>
          </a:p>
        </p:txBody>
      </p:sp>
      <p:sp>
        <p:nvSpPr>
          <p:cNvPr id="7" name="Shape 5">
            <a:extLst>
              <a:ext uri="{FF2B5EF4-FFF2-40B4-BE49-F238E27FC236}">
                <a16:creationId xmlns:a16="http://schemas.microsoft.com/office/drawing/2014/main" id="{F9706FC9-48A5-667E-89AC-D2A30C170EE3}"/>
              </a:ext>
            </a:extLst>
          </p:cNvPr>
          <p:cNvSpPr/>
          <p:nvPr/>
        </p:nvSpPr>
        <p:spPr>
          <a:xfrm>
            <a:off x="1881051" y="2066544"/>
            <a:ext cx="3383280" cy="3547872"/>
          </a:xfrm>
          <a:prstGeom prst="roundRect">
            <a:avLst>
              <a:gd name="adj" fmla="val 3243"/>
            </a:avLst>
          </a:prstGeom>
          <a:solidFill>
            <a:srgbClr val="E8EFEA"/>
          </a:solidFill>
          <a:ln w="11430">
            <a:solidFill>
              <a:srgbClr val="E8EFEA"/>
            </a:solidFill>
            <a:prstDash val="solid"/>
          </a:ln>
        </p:spPr>
      </p:sp>
      <p:sp>
        <p:nvSpPr>
          <p:cNvPr id="8" name="Shape 6">
            <a:extLst>
              <a:ext uri="{FF2B5EF4-FFF2-40B4-BE49-F238E27FC236}">
                <a16:creationId xmlns:a16="http://schemas.microsoft.com/office/drawing/2014/main" id="{6766C9A6-F1E1-584B-1195-B56906365616}"/>
              </a:ext>
            </a:extLst>
          </p:cNvPr>
          <p:cNvSpPr/>
          <p:nvPr/>
        </p:nvSpPr>
        <p:spPr>
          <a:xfrm>
            <a:off x="1881051" y="2066544"/>
            <a:ext cx="50292" cy="3547872"/>
          </a:xfrm>
          <a:prstGeom prst="rect">
            <a:avLst/>
          </a:prstGeom>
          <a:solidFill>
            <a:srgbClr val="6E8E7D"/>
          </a:solidFill>
          <a:ln w="12700">
            <a:solidFill>
              <a:srgbClr val="6E8E7D"/>
            </a:solidFill>
            <a:prstDash val="solid"/>
          </a:ln>
        </p:spPr>
      </p:sp>
      <p:sp>
        <p:nvSpPr>
          <p:cNvPr id="9" name="Text 7">
            <a:extLst>
              <a:ext uri="{FF2B5EF4-FFF2-40B4-BE49-F238E27FC236}">
                <a16:creationId xmlns:a16="http://schemas.microsoft.com/office/drawing/2014/main" id="{91BDDF03-5FC8-122D-92D1-EFDF936133E6}"/>
              </a:ext>
            </a:extLst>
          </p:cNvPr>
          <p:cNvSpPr/>
          <p:nvPr/>
        </p:nvSpPr>
        <p:spPr>
          <a:xfrm>
            <a:off x="2155371" y="2359152"/>
            <a:ext cx="2926080" cy="310896"/>
          </a:xfrm>
          <a:prstGeom prst="rect">
            <a:avLst/>
          </a:prstGeom>
          <a:noFill/>
          <a:ln/>
        </p:spPr>
        <p:txBody>
          <a:bodyPr wrap="square" lIns="0" tIns="0" rIns="0" bIns="0" rtlCol="0" anchor="ctr"/>
          <a:lstStyle/>
          <a:p>
            <a:pPr marL="0" indent="0">
              <a:buNone/>
            </a:pPr>
            <a:r>
              <a:rPr lang="en-US" sz="1700" b="1" dirty="0">
                <a:solidFill>
                  <a:srgbClr val="24313A"/>
                </a:solidFill>
              </a:rPr>
              <a:t>What we achieved</a:t>
            </a:r>
            <a:endParaRPr lang="en-US" sz="1700" dirty="0"/>
          </a:p>
        </p:txBody>
      </p:sp>
      <p:sp>
        <p:nvSpPr>
          <p:cNvPr id="10" name="Shape 8">
            <a:extLst>
              <a:ext uri="{FF2B5EF4-FFF2-40B4-BE49-F238E27FC236}">
                <a16:creationId xmlns:a16="http://schemas.microsoft.com/office/drawing/2014/main" id="{9E64223D-794E-E895-76DB-86116EED7EC8}"/>
              </a:ext>
            </a:extLst>
          </p:cNvPr>
          <p:cNvSpPr/>
          <p:nvPr/>
        </p:nvSpPr>
        <p:spPr>
          <a:xfrm>
            <a:off x="2155371" y="3035808"/>
            <a:ext cx="64008" cy="64008"/>
          </a:xfrm>
          <a:prstGeom prst="ellipse">
            <a:avLst/>
          </a:prstGeom>
          <a:solidFill>
            <a:srgbClr val="6E8E7D"/>
          </a:solidFill>
          <a:ln w="12700">
            <a:solidFill>
              <a:srgbClr val="6E8E7D"/>
            </a:solidFill>
            <a:prstDash val="solid"/>
          </a:ln>
        </p:spPr>
      </p:sp>
      <p:sp>
        <p:nvSpPr>
          <p:cNvPr id="11" name="Text 9">
            <a:extLst>
              <a:ext uri="{FF2B5EF4-FFF2-40B4-BE49-F238E27FC236}">
                <a16:creationId xmlns:a16="http://schemas.microsoft.com/office/drawing/2014/main" id="{A6083BFA-5733-F8A0-07CD-A5E167486CBB}"/>
              </a:ext>
            </a:extLst>
          </p:cNvPr>
          <p:cNvSpPr/>
          <p:nvPr/>
        </p:nvSpPr>
        <p:spPr>
          <a:xfrm>
            <a:off x="2319963" y="2916936"/>
            <a:ext cx="2706624" cy="758952"/>
          </a:xfrm>
          <a:prstGeom prst="rect">
            <a:avLst/>
          </a:prstGeom>
          <a:noFill/>
          <a:ln/>
        </p:spPr>
        <p:txBody>
          <a:bodyPr wrap="square" lIns="0" tIns="0" rIns="0" bIns="0" rtlCol="0" anchor="ctr">
            <a:normAutofit/>
          </a:bodyPr>
          <a:lstStyle/>
          <a:p>
            <a:pPr marL="0" indent="0">
              <a:buNone/>
            </a:pPr>
            <a:r>
              <a:rPr lang="en-US" sz="1150" dirty="0">
                <a:solidFill>
                  <a:srgbClr val="28343D"/>
                </a:solidFill>
              </a:rPr>
              <a:t>End-to-end Persian pipeline: scraping → labels → two base models → fusion</a:t>
            </a:r>
            <a:endParaRPr lang="en-US" sz="1150" dirty="0"/>
          </a:p>
        </p:txBody>
      </p:sp>
      <p:sp>
        <p:nvSpPr>
          <p:cNvPr id="12" name="Shape 10">
            <a:extLst>
              <a:ext uri="{FF2B5EF4-FFF2-40B4-BE49-F238E27FC236}">
                <a16:creationId xmlns:a16="http://schemas.microsoft.com/office/drawing/2014/main" id="{32CA5739-C749-DDE0-5591-AD6525CDF7D9}"/>
              </a:ext>
            </a:extLst>
          </p:cNvPr>
          <p:cNvSpPr/>
          <p:nvPr/>
        </p:nvSpPr>
        <p:spPr>
          <a:xfrm>
            <a:off x="2155371" y="3822192"/>
            <a:ext cx="64008" cy="64008"/>
          </a:xfrm>
          <a:prstGeom prst="ellipse">
            <a:avLst/>
          </a:prstGeom>
          <a:solidFill>
            <a:srgbClr val="6E8E7D"/>
          </a:solidFill>
          <a:ln w="12700">
            <a:solidFill>
              <a:srgbClr val="6E8E7D"/>
            </a:solidFill>
            <a:prstDash val="solid"/>
          </a:ln>
        </p:spPr>
      </p:sp>
      <p:sp>
        <p:nvSpPr>
          <p:cNvPr id="13" name="Text 11">
            <a:extLst>
              <a:ext uri="{FF2B5EF4-FFF2-40B4-BE49-F238E27FC236}">
                <a16:creationId xmlns:a16="http://schemas.microsoft.com/office/drawing/2014/main" id="{13586A65-52EF-FD10-09F7-037E8EDE75FC}"/>
              </a:ext>
            </a:extLst>
          </p:cNvPr>
          <p:cNvSpPr/>
          <p:nvPr/>
        </p:nvSpPr>
        <p:spPr>
          <a:xfrm>
            <a:off x="2319963" y="3703320"/>
            <a:ext cx="2706624" cy="758952"/>
          </a:xfrm>
          <a:prstGeom prst="rect">
            <a:avLst/>
          </a:prstGeom>
          <a:noFill/>
          <a:ln/>
        </p:spPr>
        <p:txBody>
          <a:bodyPr wrap="square" lIns="0" tIns="0" rIns="0" bIns="0" rtlCol="0" anchor="ctr">
            <a:normAutofit/>
          </a:bodyPr>
          <a:lstStyle/>
          <a:p>
            <a:pPr marL="0" indent="0">
              <a:buNone/>
            </a:pPr>
            <a:r>
              <a:rPr lang="en-US" sz="1150" dirty="0">
                <a:solidFill>
                  <a:srgbClr val="28343D"/>
                </a:solidFill>
              </a:rPr>
              <a:t>Locked-test MAE 0.917 and 3 / 4 internal recall targets met</a:t>
            </a:r>
            <a:endParaRPr lang="en-US" sz="1150" dirty="0"/>
          </a:p>
        </p:txBody>
      </p:sp>
      <p:sp>
        <p:nvSpPr>
          <p:cNvPr id="14" name="Shape 12">
            <a:extLst>
              <a:ext uri="{FF2B5EF4-FFF2-40B4-BE49-F238E27FC236}">
                <a16:creationId xmlns:a16="http://schemas.microsoft.com/office/drawing/2014/main" id="{15EAC528-5208-3BAD-50C3-2A96CDED4F5F}"/>
              </a:ext>
            </a:extLst>
          </p:cNvPr>
          <p:cNvSpPr/>
          <p:nvPr/>
        </p:nvSpPr>
        <p:spPr>
          <a:xfrm>
            <a:off x="2155371" y="4608576"/>
            <a:ext cx="64008" cy="64008"/>
          </a:xfrm>
          <a:prstGeom prst="ellipse">
            <a:avLst/>
          </a:prstGeom>
          <a:solidFill>
            <a:srgbClr val="6E8E7D"/>
          </a:solidFill>
          <a:ln w="12700">
            <a:solidFill>
              <a:srgbClr val="6E8E7D"/>
            </a:solidFill>
            <a:prstDash val="solid"/>
          </a:ln>
        </p:spPr>
      </p:sp>
      <p:sp>
        <p:nvSpPr>
          <p:cNvPr id="15" name="Text 13">
            <a:extLst>
              <a:ext uri="{FF2B5EF4-FFF2-40B4-BE49-F238E27FC236}">
                <a16:creationId xmlns:a16="http://schemas.microsoft.com/office/drawing/2014/main" id="{E45000BA-5C7D-50A6-0531-C0B297954759}"/>
              </a:ext>
            </a:extLst>
          </p:cNvPr>
          <p:cNvSpPr/>
          <p:nvPr/>
        </p:nvSpPr>
        <p:spPr>
          <a:xfrm>
            <a:off x="2319963" y="4489704"/>
            <a:ext cx="2706624" cy="758952"/>
          </a:xfrm>
          <a:prstGeom prst="rect">
            <a:avLst/>
          </a:prstGeom>
          <a:noFill/>
          <a:ln/>
        </p:spPr>
        <p:txBody>
          <a:bodyPr wrap="square" lIns="0" tIns="0" rIns="0" bIns="0" rtlCol="0" anchor="ctr">
            <a:normAutofit/>
          </a:bodyPr>
          <a:lstStyle/>
          <a:p>
            <a:pPr marL="0" indent="0">
              <a:buNone/>
            </a:pPr>
            <a:r>
              <a:rPr lang="en-US" sz="1150" dirty="0">
                <a:solidFill>
                  <a:srgbClr val="28343D"/>
                </a:solidFill>
              </a:rPr>
              <a:t>Very High recall 76.9% for prioritizing severe signals</a:t>
            </a:r>
            <a:endParaRPr lang="en-US" sz="1150" dirty="0"/>
          </a:p>
        </p:txBody>
      </p:sp>
      <p:sp>
        <p:nvSpPr>
          <p:cNvPr id="16" name="Shape 14">
            <a:extLst>
              <a:ext uri="{FF2B5EF4-FFF2-40B4-BE49-F238E27FC236}">
                <a16:creationId xmlns:a16="http://schemas.microsoft.com/office/drawing/2014/main" id="{4065CC9C-AC2A-5646-35CE-0D6E7EBA04BE}"/>
              </a:ext>
            </a:extLst>
          </p:cNvPr>
          <p:cNvSpPr/>
          <p:nvPr/>
        </p:nvSpPr>
        <p:spPr>
          <a:xfrm>
            <a:off x="6653349" y="2066544"/>
            <a:ext cx="3383280" cy="3547872"/>
          </a:xfrm>
          <a:prstGeom prst="roundRect">
            <a:avLst>
              <a:gd name="adj" fmla="val 3243"/>
            </a:avLst>
          </a:prstGeom>
          <a:solidFill>
            <a:srgbClr val="F4E9E4"/>
          </a:solidFill>
          <a:ln w="11430">
            <a:solidFill>
              <a:srgbClr val="F4E9E4"/>
            </a:solidFill>
            <a:prstDash val="solid"/>
          </a:ln>
        </p:spPr>
      </p:sp>
      <p:sp>
        <p:nvSpPr>
          <p:cNvPr id="17" name="Shape 15">
            <a:extLst>
              <a:ext uri="{FF2B5EF4-FFF2-40B4-BE49-F238E27FC236}">
                <a16:creationId xmlns:a16="http://schemas.microsoft.com/office/drawing/2014/main" id="{4DC23335-FC8A-148E-C959-AF124CAC5A30}"/>
              </a:ext>
            </a:extLst>
          </p:cNvPr>
          <p:cNvSpPr/>
          <p:nvPr/>
        </p:nvSpPr>
        <p:spPr>
          <a:xfrm>
            <a:off x="6653349" y="2066544"/>
            <a:ext cx="50292" cy="3547872"/>
          </a:xfrm>
          <a:prstGeom prst="rect">
            <a:avLst/>
          </a:prstGeom>
          <a:solidFill>
            <a:srgbClr val="B87461"/>
          </a:solidFill>
          <a:ln w="12700">
            <a:solidFill>
              <a:srgbClr val="B87461"/>
            </a:solidFill>
            <a:prstDash val="solid"/>
          </a:ln>
        </p:spPr>
      </p:sp>
      <p:sp>
        <p:nvSpPr>
          <p:cNvPr id="18" name="Text 16">
            <a:extLst>
              <a:ext uri="{FF2B5EF4-FFF2-40B4-BE49-F238E27FC236}">
                <a16:creationId xmlns:a16="http://schemas.microsoft.com/office/drawing/2014/main" id="{3F45EB91-119C-3FE3-1534-E8D8909BD5C3}"/>
              </a:ext>
            </a:extLst>
          </p:cNvPr>
          <p:cNvSpPr/>
          <p:nvPr/>
        </p:nvSpPr>
        <p:spPr>
          <a:xfrm>
            <a:off x="6927669" y="2359152"/>
            <a:ext cx="2926080" cy="310896"/>
          </a:xfrm>
          <a:prstGeom prst="rect">
            <a:avLst/>
          </a:prstGeom>
          <a:noFill/>
          <a:ln/>
        </p:spPr>
        <p:txBody>
          <a:bodyPr wrap="square" lIns="0" tIns="0" rIns="0" bIns="0" rtlCol="0" anchor="ctr"/>
          <a:lstStyle/>
          <a:p>
            <a:pPr marL="0" indent="0">
              <a:buNone/>
            </a:pPr>
            <a:r>
              <a:rPr lang="en-US" sz="1700" b="1" dirty="0">
                <a:solidFill>
                  <a:srgbClr val="24313A"/>
                </a:solidFill>
              </a:rPr>
              <a:t>Main limitation</a:t>
            </a:r>
            <a:endParaRPr lang="en-US" sz="1700" dirty="0"/>
          </a:p>
        </p:txBody>
      </p:sp>
      <p:sp>
        <p:nvSpPr>
          <p:cNvPr id="19" name="Shape 17">
            <a:extLst>
              <a:ext uri="{FF2B5EF4-FFF2-40B4-BE49-F238E27FC236}">
                <a16:creationId xmlns:a16="http://schemas.microsoft.com/office/drawing/2014/main" id="{3197BEC8-0A7E-CBDC-B55A-93F4CD3E96EE}"/>
              </a:ext>
            </a:extLst>
          </p:cNvPr>
          <p:cNvSpPr/>
          <p:nvPr/>
        </p:nvSpPr>
        <p:spPr>
          <a:xfrm>
            <a:off x="6927669" y="3035808"/>
            <a:ext cx="64008" cy="64008"/>
          </a:xfrm>
          <a:prstGeom prst="ellipse">
            <a:avLst/>
          </a:prstGeom>
          <a:solidFill>
            <a:srgbClr val="B87461"/>
          </a:solidFill>
          <a:ln w="12700">
            <a:solidFill>
              <a:srgbClr val="B87461"/>
            </a:solidFill>
            <a:prstDash val="solid"/>
          </a:ln>
        </p:spPr>
      </p:sp>
      <p:sp>
        <p:nvSpPr>
          <p:cNvPr id="20" name="Text 18">
            <a:extLst>
              <a:ext uri="{FF2B5EF4-FFF2-40B4-BE49-F238E27FC236}">
                <a16:creationId xmlns:a16="http://schemas.microsoft.com/office/drawing/2014/main" id="{CEE41BC9-2007-4CF2-27B9-B63C5E58AE8F}"/>
              </a:ext>
            </a:extLst>
          </p:cNvPr>
          <p:cNvSpPr/>
          <p:nvPr/>
        </p:nvSpPr>
        <p:spPr>
          <a:xfrm>
            <a:off x="7092261" y="2916936"/>
            <a:ext cx="2706624" cy="758952"/>
          </a:xfrm>
          <a:prstGeom prst="rect">
            <a:avLst/>
          </a:prstGeom>
          <a:noFill/>
          <a:ln/>
        </p:spPr>
        <p:txBody>
          <a:bodyPr wrap="square" lIns="0" tIns="0" rIns="0" bIns="0" rtlCol="0" anchor="ctr">
            <a:normAutofit/>
          </a:bodyPr>
          <a:lstStyle/>
          <a:p>
            <a:pPr marL="0" indent="0">
              <a:buNone/>
            </a:pPr>
            <a:r>
              <a:rPr lang="en-US" sz="1150" dirty="0">
                <a:solidFill>
                  <a:srgbClr val="28343D"/>
                </a:solidFill>
              </a:rPr>
              <a:t>Moderate recall is 41.8% and misses the 50% internal target</a:t>
            </a:r>
            <a:endParaRPr lang="en-US" sz="1150" dirty="0"/>
          </a:p>
        </p:txBody>
      </p:sp>
      <p:sp>
        <p:nvSpPr>
          <p:cNvPr id="21" name="Shape 19">
            <a:extLst>
              <a:ext uri="{FF2B5EF4-FFF2-40B4-BE49-F238E27FC236}">
                <a16:creationId xmlns:a16="http://schemas.microsoft.com/office/drawing/2014/main" id="{58E99DC2-9E31-C125-0DBC-B98C05DC6261}"/>
              </a:ext>
            </a:extLst>
          </p:cNvPr>
          <p:cNvSpPr/>
          <p:nvPr/>
        </p:nvSpPr>
        <p:spPr>
          <a:xfrm>
            <a:off x="6927669" y="3822192"/>
            <a:ext cx="64008" cy="64008"/>
          </a:xfrm>
          <a:prstGeom prst="ellipse">
            <a:avLst/>
          </a:prstGeom>
          <a:solidFill>
            <a:srgbClr val="B87461"/>
          </a:solidFill>
          <a:ln w="12700">
            <a:solidFill>
              <a:srgbClr val="B87461"/>
            </a:solidFill>
            <a:prstDash val="solid"/>
          </a:ln>
        </p:spPr>
      </p:sp>
      <p:sp>
        <p:nvSpPr>
          <p:cNvPr id="22" name="Text 20">
            <a:extLst>
              <a:ext uri="{FF2B5EF4-FFF2-40B4-BE49-F238E27FC236}">
                <a16:creationId xmlns:a16="http://schemas.microsoft.com/office/drawing/2014/main" id="{930EEB52-0C6E-D7F3-E7DF-DE882FE92D67}"/>
              </a:ext>
            </a:extLst>
          </p:cNvPr>
          <p:cNvSpPr/>
          <p:nvPr/>
        </p:nvSpPr>
        <p:spPr>
          <a:xfrm>
            <a:off x="7092261" y="3703320"/>
            <a:ext cx="2706624" cy="758952"/>
          </a:xfrm>
          <a:prstGeom prst="rect">
            <a:avLst/>
          </a:prstGeom>
          <a:noFill/>
          <a:ln/>
        </p:spPr>
        <p:txBody>
          <a:bodyPr wrap="square" lIns="0" tIns="0" rIns="0" bIns="0" rtlCol="0" anchor="ctr">
            <a:normAutofit/>
          </a:bodyPr>
          <a:lstStyle/>
          <a:p>
            <a:pPr marL="0" indent="0">
              <a:buNone/>
            </a:pPr>
            <a:r>
              <a:rPr lang="en-US" sz="1150" dirty="0">
                <a:solidFill>
                  <a:srgbClr val="28343D"/>
                </a:solidFill>
              </a:rPr>
              <a:t>Errors occur toward both Low and High, indicating class overlap</a:t>
            </a:r>
            <a:endParaRPr lang="en-US" sz="1150" dirty="0"/>
          </a:p>
        </p:txBody>
      </p:sp>
      <p:sp>
        <p:nvSpPr>
          <p:cNvPr id="23" name="Shape 21">
            <a:extLst>
              <a:ext uri="{FF2B5EF4-FFF2-40B4-BE49-F238E27FC236}">
                <a16:creationId xmlns:a16="http://schemas.microsoft.com/office/drawing/2014/main" id="{9A07C9B2-E3D6-07EB-59C4-630790AB8808}"/>
              </a:ext>
            </a:extLst>
          </p:cNvPr>
          <p:cNvSpPr/>
          <p:nvPr/>
        </p:nvSpPr>
        <p:spPr>
          <a:xfrm>
            <a:off x="6927669" y="4608576"/>
            <a:ext cx="64008" cy="64008"/>
          </a:xfrm>
          <a:prstGeom prst="ellipse">
            <a:avLst/>
          </a:prstGeom>
          <a:solidFill>
            <a:srgbClr val="B87461"/>
          </a:solidFill>
          <a:ln w="12700">
            <a:solidFill>
              <a:srgbClr val="B87461"/>
            </a:solidFill>
            <a:prstDash val="solid"/>
          </a:ln>
        </p:spPr>
      </p:sp>
      <p:sp>
        <p:nvSpPr>
          <p:cNvPr id="24" name="Text 22">
            <a:extLst>
              <a:ext uri="{FF2B5EF4-FFF2-40B4-BE49-F238E27FC236}">
                <a16:creationId xmlns:a16="http://schemas.microsoft.com/office/drawing/2014/main" id="{A48A5362-0B5B-FA01-E67E-C86934E17616}"/>
              </a:ext>
            </a:extLst>
          </p:cNvPr>
          <p:cNvSpPr/>
          <p:nvPr/>
        </p:nvSpPr>
        <p:spPr>
          <a:xfrm>
            <a:off x="7092261" y="4489704"/>
            <a:ext cx="2706624" cy="758952"/>
          </a:xfrm>
          <a:prstGeom prst="rect">
            <a:avLst/>
          </a:prstGeom>
          <a:noFill/>
          <a:ln/>
        </p:spPr>
        <p:txBody>
          <a:bodyPr wrap="square" lIns="0" tIns="0" rIns="0" bIns="0" rtlCol="0" anchor="ctr">
            <a:normAutofit/>
          </a:bodyPr>
          <a:lstStyle/>
          <a:p>
            <a:pPr marL="0" indent="0">
              <a:buNone/>
            </a:pPr>
            <a:r>
              <a:rPr lang="en-US" sz="1150" dirty="0">
                <a:solidFill>
                  <a:srgbClr val="28343D"/>
                </a:solidFill>
              </a:rPr>
              <a:t>The enriched label set cannot estimate natural alert prevalence</a:t>
            </a:r>
            <a:endParaRPr lang="en-US" sz="1150" dirty="0"/>
          </a:p>
        </p:txBody>
      </p:sp>
      <p:sp>
        <p:nvSpPr>
          <p:cNvPr id="55" name="Slide Number Placeholder 0">
            <a:extLst>
              <a:ext uri="{FF2B5EF4-FFF2-40B4-BE49-F238E27FC236}">
                <a16:creationId xmlns:a16="http://schemas.microsoft.com/office/drawing/2014/main" id="{8F975C7C-3198-6B33-657C-1A079A66E029}"/>
              </a:ext>
            </a:extLst>
          </p:cNvPr>
          <p:cNvSpPr>
            <a:spLocks noGrp="1"/>
          </p:cNvSpPr>
          <p:nvPr>
            <p:ph type="sldNum" sz="quarter" idx="4294967295"/>
          </p:nvPr>
        </p:nvSpPr>
        <p:spPr>
          <a:xfrm>
            <a:off x="11411712" y="6556248"/>
            <a:ext cx="256032" cy="164592"/>
          </a:xfrm>
          <a:prstGeom prst="rect">
            <a:avLst/>
          </a:prstGeom>
          <a:extLst>
            <a:ext uri="{C572A759-6A51-4108-AA02-DFA0A04FC94B}">
              <ma14:wrappingTextBoxFlag xmlns:ma14="http://schemas.microsoft.com/office/mac/drawingml/2011/main" xmlns=""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10</a:t>
            </a:fld>
            <a:endParaRPr lang="en-US"/>
          </a:p>
        </p:txBody>
      </p:sp>
    </p:spTree>
    <p:extLst>
      <p:ext uri="{BB962C8B-B14F-4D97-AF65-F5344CB8AC3E}">
        <p14:creationId xmlns:p14="http://schemas.microsoft.com/office/powerpoint/2010/main" val="9473693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94360" y="347472"/>
            <a:ext cx="2834640" cy="164592"/>
          </a:xfrm>
          <a:prstGeom prst="rect">
            <a:avLst/>
          </a:prstGeom>
          <a:noFill/>
          <a:ln/>
        </p:spPr>
        <p:txBody>
          <a:bodyPr wrap="square" lIns="0" tIns="0" rIns="0" bIns="0" rtlCol="0" anchor="ctr"/>
          <a:lstStyle/>
          <a:p>
            <a:pPr marL="0" indent="0">
              <a:buNone/>
            </a:pPr>
            <a:r>
              <a:rPr lang="en-US" sz="850" b="1" kern="0" spc="120" dirty="0">
                <a:solidFill>
                  <a:srgbClr val="6E8E7D"/>
                </a:solidFill>
              </a:rPr>
              <a:t>TAKEAWAYS</a:t>
            </a:r>
            <a:endParaRPr lang="en-US" sz="850" dirty="0"/>
          </a:p>
        </p:txBody>
      </p:sp>
      <p:sp>
        <p:nvSpPr>
          <p:cNvPr id="3" name="Text 1"/>
          <p:cNvSpPr/>
          <p:nvPr/>
        </p:nvSpPr>
        <p:spPr>
          <a:xfrm>
            <a:off x="594360" y="566928"/>
            <a:ext cx="10698480" cy="502920"/>
          </a:xfrm>
          <a:prstGeom prst="rect">
            <a:avLst/>
          </a:prstGeom>
          <a:noFill/>
          <a:ln/>
        </p:spPr>
        <p:txBody>
          <a:bodyPr wrap="square" lIns="0" tIns="0" rIns="0" bIns="0" rtlCol="0" anchor="ctr"/>
          <a:lstStyle/>
          <a:p>
            <a:pPr marL="0" indent="0">
              <a:buNone/>
            </a:pPr>
            <a:r>
              <a:rPr lang="en-US" sz="2800" b="1" dirty="0">
                <a:solidFill>
                  <a:srgbClr val="24313A"/>
                </a:solidFill>
              </a:rPr>
              <a:t>future work</a:t>
            </a:r>
            <a:endParaRPr lang="en-US" sz="2800" dirty="0"/>
          </a:p>
        </p:txBody>
      </p:sp>
      <p:sp>
        <p:nvSpPr>
          <p:cNvPr id="4" name="Shape 2"/>
          <p:cNvSpPr/>
          <p:nvPr/>
        </p:nvSpPr>
        <p:spPr>
          <a:xfrm>
            <a:off x="594360" y="1143000"/>
            <a:ext cx="658368" cy="0"/>
          </a:xfrm>
          <a:prstGeom prst="line">
            <a:avLst/>
          </a:prstGeom>
          <a:noFill/>
          <a:ln w="27940">
            <a:solidFill>
              <a:srgbClr val="B87461"/>
            </a:solidFill>
            <a:prstDash val="solid"/>
          </a:ln>
        </p:spPr>
      </p:sp>
      <p:sp>
        <p:nvSpPr>
          <p:cNvPr id="5" name="Shape 3"/>
          <p:cNvSpPr/>
          <p:nvPr/>
        </p:nvSpPr>
        <p:spPr>
          <a:xfrm>
            <a:off x="10332720" y="384048"/>
            <a:ext cx="1234440" cy="256032"/>
          </a:xfrm>
          <a:prstGeom prst="roundRect">
            <a:avLst/>
          </a:prstGeom>
          <a:solidFill>
            <a:srgbClr val="E8EFEA"/>
          </a:solidFill>
          <a:ln w="12700">
            <a:solidFill>
              <a:srgbClr val="E8EFEA"/>
            </a:solidFill>
            <a:prstDash val="solid"/>
          </a:ln>
        </p:spPr>
      </p:sp>
      <p:sp>
        <p:nvSpPr>
          <p:cNvPr id="6" name="Text 4"/>
          <p:cNvSpPr/>
          <p:nvPr/>
        </p:nvSpPr>
        <p:spPr>
          <a:xfrm>
            <a:off x="10387584" y="416052"/>
            <a:ext cx="1124712" cy="146304"/>
          </a:xfrm>
          <a:prstGeom prst="rect">
            <a:avLst/>
          </a:prstGeom>
          <a:noFill/>
          <a:ln/>
        </p:spPr>
        <p:txBody>
          <a:bodyPr wrap="square" lIns="0" tIns="0" rIns="0" bIns="0" rtlCol="0" anchor="ctr"/>
          <a:lstStyle/>
          <a:p>
            <a:pPr marL="0" indent="0" algn="ctr">
              <a:buNone/>
            </a:pPr>
            <a:r>
              <a:rPr lang="en-US" sz="740" b="1" dirty="0">
                <a:solidFill>
                  <a:srgbClr val="6E8E7D"/>
                </a:solidFill>
              </a:rPr>
              <a:t>11 / 11</a:t>
            </a:r>
            <a:endParaRPr lang="en-US" sz="740" dirty="0"/>
          </a:p>
        </p:txBody>
      </p:sp>
      <p:sp>
        <p:nvSpPr>
          <p:cNvPr id="25" name="Shape 23"/>
          <p:cNvSpPr/>
          <p:nvPr/>
        </p:nvSpPr>
        <p:spPr>
          <a:xfrm>
            <a:off x="731520" y="1549907"/>
            <a:ext cx="3383280" cy="3547872"/>
          </a:xfrm>
          <a:prstGeom prst="roundRect">
            <a:avLst>
              <a:gd name="adj" fmla="val 3243"/>
            </a:avLst>
          </a:prstGeom>
          <a:solidFill>
            <a:srgbClr val="E9F0F4"/>
          </a:solidFill>
          <a:ln w="11430">
            <a:solidFill>
              <a:srgbClr val="E9F0F4"/>
            </a:solidFill>
            <a:prstDash val="solid"/>
          </a:ln>
        </p:spPr>
      </p:sp>
      <p:sp>
        <p:nvSpPr>
          <p:cNvPr id="26" name="Shape 24"/>
          <p:cNvSpPr/>
          <p:nvPr/>
        </p:nvSpPr>
        <p:spPr>
          <a:xfrm>
            <a:off x="731520" y="1549907"/>
            <a:ext cx="50292" cy="3547872"/>
          </a:xfrm>
          <a:prstGeom prst="rect">
            <a:avLst/>
          </a:prstGeom>
          <a:solidFill>
            <a:srgbClr val="5C7F96"/>
          </a:solidFill>
          <a:ln w="12700">
            <a:solidFill>
              <a:srgbClr val="5C7F96"/>
            </a:solidFill>
            <a:prstDash val="solid"/>
          </a:ln>
        </p:spPr>
      </p:sp>
      <p:sp>
        <p:nvSpPr>
          <p:cNvPr id="27" name="Text 25"/>
          <p:cNvSpPr/>
          <p:nvPr/>
        </p:nvSpPr>
        <p:spPr>
          <a:xfrm>
            <a:off x="1005840" y="1842515"/>
            <a:ext cx="2926080" cy="310896"/>
          </a:xfrm>
          <a:prstGeom prst="rect">
            <a:avLst/>
          </a:prstGeom>
          <a:noFill/>
          <a:ln/>
        </p:spPr>
        <p:txBody>
          <a:bodyPr wrap="square" lIns="0" tIns="0" rIns="0" bIns="0" rtlCol="0" anchor="ctr"/>
          <a:lstStyle/>
          <a:p>
            <a:pPr marL="0" indent="0">
              <a:buNone/>
            </a:pPr>
            <a:r>
              <a:rPr lang="en-US" sz="1700" b="1" dirty="0">
                <a:solidFill>
                  <a:srgbClr val="24313A"/>
                </a:solidFill>
              </a:rPr>
              <a:t>Next evidence</a:t>
            </a:r>
            <a:endParaRPr lang="en-US" sz="1700" dirty="0"/>
          </a:p>
        </p:txBody>
      </p:sp>
      <p:sp>
        <p:nvSpPr>
          <p:cNvPr id="28" name="Shape 26"/>
          <p:cNvSpPr/>
          <p:nvPr/>
        </p:nvSpPr>
        <p:spPr>
          <a:xfrm>
            <a:off x="1005840" y="2519171"/>
            <a:ext cx="64008" cy="64008"/>
          </a:xfrm>
          <a:prstGeom prst="ellipse">
            <a:avLst/>
          </a:prstGeom>
          <a:solidFill>
            <a:srgbClr val="5C7F96"/>
          </a:solidFill>
          <a:ln w="12700">
            <a:solidFill>
              <a:srgbClr val="5C7F96"/>
            </a:solidFill>
            <a:prstDash val="solid"/>
          </a:ln>
        </p:spPr>
      </p:sp>
      <p:sp>
        <p:nvSpPr>
          <p:cNvPr id="29" name="Text 27"/>
          <p:cNvSpPr/>
          <p:nvPr/>
        </p:nvSpPr>
        <p:spPr>
          <a:xfrm>
            <a:off x="1170432" y="2400299"/>
            <a:ext cx="2706624" cy="758952"/>
          </a:xfrm>
          <a:prstGeom prst="rect">
            <a:avLst/>
          </a:prstGeom>
          <a:noFill/>
          <a:ln/>
        </p:spPr>
        <p:txBody>
          <a:bodyPr wrap="square" lIns="0" tIns="0" rIns="0" bIns="0" rtlCol="0" anchor="ctr">
            <a:normAutofit/>
          </a:bodyPr>
          <a:lstStyle/>
          <a:p>
            <a:pPr marL="0" indent="0">
              <a:buNone/>
            </a:pPr>
            <a:r>
              <a:rPr lang="en-US" sz="1150" dirty="0">
                <a:solidFill>
                  <a:srgbClr val="28343D"/>
                </a:solidFill>
              </a:rPr>
              <a:t>New dual annotations near both Moderate boundaries</a:t>
            </a:r>
            <a:endParaRPr lang="en-US" sz="1150" dirty="0"/>
          </a:p>
        </p:txBody>
      </p:sp>
      <p:sp>
        <p:nvSpPr>
          <p:cNvPr id="30" name="Shape 28"/>
          <p:cNvSpPr/>
          <p:nvPr/>
        </p:nvSpPr>
        <p:spPr>
          <a:xfrm>
            <a:off x="1005840" y="3305555"/>
            <a:ext cx="64008" cy="64008"/>
          </a:xfrm>
          <a:prstGeom prst="ellipse">
            <a:avLst/>
          </a:prstGeom>
          <a:solidFill>
            <a:srgbClr val="5C7F96"/>
          </a:solidFill>
          <a:ln w="12700">
            <a:solidFill>
              <a:srgbClr val="5C7F96"/>
            </a:solidFill>
            <a:prstDash val="solid"/>
          </a:ln>
        </p:spPr>
      </p:sp>
      <p:sp>
        <p:nvSpPr>
          <p:cNvPr id="31" name="Text 29"/>
          <p:cNvSpPr/>
          <p:nvPr/>
        </p:nvSpPr>
        <p:spPr>
          <a:xfrm>
            <a:off x="1170432" y="3186683"/>
            <a:ext cx="2706624" cy="758952"/>
          </a:xfrm>
          <a:prstGeom prst="rect">
            <a:avLst/>
          </a:prstGeom>
          <a:noFill/>
          <a:ln/>
        </p:spPr>
        <p:txBody>
          <a:bodyPr wrap="square" lIns="0" tIns="0" rIns="0" bIns="0" rtlCol="0" anchor="ctr">
            <a:normAutofit/>
          </a:bodyPr>
          <a:lstStyle/>
          <a:p>
            <a:pPr marL="0" indent="0">
              <a:buNone/>
            </a:pPr>
            <a:r>
              <a:rPr lang="en-US" sz="1150" dirty="0">
                <a:solidFill>
                  <a:srgbClr val="28343D"/>
                </a:solidFill>
              </a:rPr>
              <a:t>Fresh untouched confirmation set after future tuning</a:t>
            </a:r>
            <a:endParaRPr lang="en-US" sz="1150" dirty="0"/>
          </a:p>
        </p:txBody>
      </p:sp>
      <p:sp>
        <p:nvSpPr>
          <p:cNvPr id="32" name="Shape 30"/>
          <p:cNvSpPr/>
          <p:nvPr/>
        </p:nvSpPr>
        <p:spPr>
          <a:xfrm>
            <a:off x="1005840" y="4091939"/>
            <a:ext cx="64008" cy="64008"/>
          </a:xfrm>
          <a:prstGeom prst="ellipse">
            <a:avLst/>
          </a:prstGeom>
          <a:solidFill>
            <a:srgbClr val="5C7F96"/>
          </a:solidFill>
          <a:ln w="12700">
            <a:solidFill>
              <a:srgbClr val="5C7F96"/>
            </a:solidFill>
            <a:prstDash val="solid"/>
          </a:ln>
        </p:spPr>
      </p:sp>
      <p:sp>
        <p:nvSpPr>
          <p:cNvPr id="33" name="Text 31"/>
          <p:cNvSpPr/>
          <p:nvPr/>
        </p:nvSpPr>
        <p:spPr>
          <a:xfrm>
            <a:off x="1170432" y="3973067"/>
            <a:ext cx="2706624" cy="758952"/>
          </a:xfrm>
          <a:prstGeom prst="rect">
            <a:avLst/>
          </a:prstGeom>
          <a:noFill/>
          <a:ln/>
        </p:spPr>
        <p:txBody>
          <a:bodyPr wrap="square" lIns="0" tIns="0" rIns="0" bIns="0" rtlCol="0" anchor="ctr">
            <a:normAutofit/>
          </a:bodyPr>
          <a:lstStyle/>
          <a:p>
            <a:pPr marL="0" indent="0">
              <a:buNone/>
            </a:pPr>
            <a:r>
              <a:rPr lang="en-US" sz="1150" dirty="0">
                <a:solidFill>
                  <a:srgbClr val="28343D"/>
                </a:solidFill>
              </a:rPr>
              <a:t>Offline replay + limited monitored pilot with privacy and audit controls</a:t>
            </a:r>
            <a:endParaRPr lang="en-US" sz="1150" dirty="0"/>
          </a:p>
        </p:txBody>
      </p:sp>
      <p:sp>
        <p:nvSpPr>
          <p:cNvPr id="34" name="Text 32"/>
          <p:cNvSpPr/>
          <p:nvPr/>
        </p:nvSpPr>
        <p:spPr>
          <a:xfrm>
            <a:off x="731520" y="5286538"/>
            <a:ext cx="1371600" cy="201168"/>
          </a:xfrm>
          <a:prstGeom prst="rect">
            <a:avLst/>
          </a:prstGeom>
          <a:noFill/>
          <a:ln/>
        </p:spPr>
        <p:txBody>
          <a:bodyPr wrap="square" lIns="0" tIns="0" rIns="0" bIns="0" rtlCol="0" anchor="ctr"/>
          <a:lstStyle/>
          <a:p>
            <a:pPr marL="0" indent="0">
              <a:buNone/>
            </a:pPr>
            <a:r>
              <a:rPr lang="en-US" sz="1100" b="1" dirty="0">
                <a:solidFill>
                  <a:srgbClr val="6D7774"/>
                </a:solidFill>
              </a:rPr>
              <a:t>Operational framing</a:t>
            </a:r>
            <a:endParaRPr lang="en-US" sz="1100" dirty="0"/>
          </a:p>
        </p:txBody>
      </p:sp>
      <p:sp>
        <p:nvSpPr>
          <p:cNvPr id="35" name="Shape 33"/>
          <p:cNvSpPr/>
          <p:nvPr/>
        </p:nvSpPr>
        <p:spPr>
          <a:xfrm>
            <a:off x="731520" y="5597434"/>
            <a:ext cx="1591056" cy="493776"/>
          </a:xfrm>
          <a:prstGeom prst="roundRect">
            <a:avLst>
              <a:gd name="adj" fmla="val 22222"/>
            </a:avLst>
          </a:prstGeom>
          <a:solidFill>
            <a:srgbClr val="FFFFFF"/>
          </a:solidFill>
          <a:ln w="11430">
            <a:solidFill>
              <a:srgbClr val="DAD5CE"/>
            </a:solidFill>
            <a:prstDash val="solid"/>
          </a:ln>
        </p:spPr>
      </p:sp>
      <p:sp>
        <p:nvSpPr>
          <p:cNvPr id="36" name="Text 34"/>
          <p:cNvSpPr/>
          <p:nvPr/>
        </p:nvSpPr>
        <p:spPr>
          <a:xfrm>
            <a:off x="822960" y="5752882"/>
            <a:ext cx="1408176" cy="155448"/>
          </a:xfrm>
          <a:prstGeom prst="rect">
            <a:avLst/>
          </a:prstGeom>
          <a:noFill/>
          <a:ln/>
        </p:spPr>
        <p:txBody>
          <a:bodyPr wrap="square" lIns="0" tIns="0" rIns="0" bIns="0" rtlCol="0" anchor="ctr">
            <a:normAutofit/>
          </a:bodyPr>
          <a:lstStyle/>
          <a:p>
            <a:pPr marL="0" indent="0" algn="ctr">
              <a:buNone/>
            </a:pPr>
            <a:r>
              <a:rPr lang="en-US" sz="980" b="1" dirty="0">
                <a:solidFill>
                  <a:srgbClr val="24313A"/>
                </a:solidFill>
              </a:rPr>
              <a:t>New posts</a:t>
            </a:r>
            <a:endParaRPr lang="en-US" sz="980" dirty="0"/>
          </a:p>
        </p:txBody>
      </p:sp>
      <p:sp>
        <p:nvSpPr>
          <p:cNvPr id="37" name="Shape 35"/>
          <p:cNvSpPr/>
          <p:nvPr/>
        </p:nvSpPr>
        <p:spPr>
          <a:xfrm>
            <a:off x="731520" y="5597434"/>
            <a:ext cx="50292" cy="493776"/>
          </a:xfrm>
          <a:prstGeom prst="rect">
            <a:avLst/>
          </a:prstGeom>
          <a:solidFill>
            <a:srgbClr val="5C7F96"/>
          </a:solidFill>
          <a:ln w="12700">
            <a:solidFill>
              <a:srgbClr val="5C7F96"/>
            </a:solidFill>
            <a:prstDash val="solid"/>
          </a:ln>
        </p:spPr>
      </p:sp>
      <p:sp>
        <p:nvSpPr>
          <p:cNvPr id="38" name="Shape 36"/>
          <p:cNvSpPr/>
          <p:nvPr/>
        </p:nvSpPr>
        <p:spPr>
          <a:xfrm>
            <a:off x="2414016" y="5716306"/>
            <a:ext cx="310896" cy="237744"/>
          </a:xfrm>
          <a:prstGeom prst="chevron">
            <a:avLst/>
          </a:prstGeom>
          <a:solidFill>
            <a:srgbClr val="CFCAC2"/>
          </a:solidFill>
          <a:ln w="12700">
            <a:solidFill>
              <a:srgbClr val="CFCAC2"/>
            </a:solidFill>
            <a:prstDash val="solid"/>
          </a:ln>
        </p:spPr>
      </p:sp>
      <p:sp>
        <p:nvSpPr>
          <p:cNvPr id="39" name="Shape 37"/>
          <p:cNvSpPr/>
          <p:nvPr/>
        </p:nvSpPr>
        <p:spPr>
          <a:xfrm>
            <a:off x="2971800" y="5597434"/>
            <a:ext cx="1591056" cy="493776"/>
          </a:xfrm>
          <a:prstGeom prst="roundRect">
            <a:avLst>
              <a:gd name="adj" fmla="val 22222"/>
            </a:avLst>
          </a:prstGeom>
          <a:solidFill>
            <a:srgbClr val="FFFFFF"/>
          </a:solidFill>
          <a:ln w="11430">
            <a:solidFill>
              <a:srgbClr val="DAD5CE"/>
            </a:solidFill>
            <a:prstDash val="solid"/>
          </a:ln>
        </p:spPr>
      </p:sp>
      <p:sp>
        <p:nvSpPr>
          <p:cNvPr id="40" name="Text 38"/>
          <p:cNvSpPr/>
          <p:nvPr/>
        </p:nvSpPr>
        <p:spPr>
          <a:xfrm>
            <a:off x="3063240" y="5752882"/>
            <a:ext cx="1408176" cy="155448"/>
          </a:xfrm>
          <a:prstGeom prst="rect">
            <a:avLst/>
          </a:prstGeom>
          <a:noFill/>
          <a:ln/>
        </p:spPr>
        <p:txBody>
          <a:bodyPr wrap="square" lIns="0" tIns="0" rIns="0" bIns="0" rtlCol="0" anchor="ctr">
            <a:normAutofit/>
          </a:bodyPr>
          <a:lstStyle/>
          <a:p>
            <a:pPr marL="0" indent="0" algn="ctr">
              <a:buNone/>
            </a:pPr>
            <a:r>
              <a:rPr lang="en-US" sz="980" b="1" dirty="0">
                <a:solidFill>
                  <a:srgbClr val="24313A"/>
                </a:solidFill>
              </a:rPr>
              <a:t>Post-level score</a:t>
            </a:r>
            <a:endParaRPr lang="en-US" sz="980" dirty="0"/>
          </a:p>
        </p:txBody>
      </p:sp>
      <p:sp>
        <p:nvSpPr>
          <p:cNvPr id="41" name="Shape 39"/>
          <p:cNvSpPr/>
          <p:nvPr/>
        </p:nvSpPr>
        <p:spPr>
          <a:xfrm>
            <a:off x="2971800" y="5597434"/>
            <a:ext cx="50292" cy="493776"/>
          </a:xfrm>
          <a:prstGeom prst="rect">
            <a:avLst/>
          </a:prstGeom>
          <a:solidFill>
            <a:srgbClr val="6E8E7D"/>
          </a:solidFill>
          <a:ln w="12700">
            <a:solidFill>
              <a:srgbClr val="6E8E7D"/>
            </a:solidFill>
            <a:prstDash val="solid"/>
          </a:ln>
        </p:spPr>
      </p:sp>
      <p:sp>
        <p:nvSpPr>
          <p:cNvPr id="42" name="Shape 40"/>
          <p:cNvSpPr/>
          <p:nvPr/>
        </p:nvSpPr>
        <p:spPr>
          <a:xfrm>
            <a:off x="4654296" y="5716306"/>
            <a:ext cx="310896" cy="237744"/>
          </a:xfrm>
          <a:prstGeom prst="chevron">
            <a:avLst/>
          </a:prstGeom>
          <a:solidFill>
            <a:srgbClr val="CFCAC2"/>
          </a:solidFill>
          <a:ln w="12700">
            <a:solidFill>
              <a:srgbClr val="CFCAC2"/>
            </a:solidFill>
            <a:prstDash val="solid"/>
          </a:ln>
        </p:spPr>
      </p:sp>
      <p:sp>
        <p:nvSpPr>
          <p:cNvPr id="43" name="Shape 41"/>
          <p:cNvSpPr/>
          <p:nvPr/>
        </p:nvSpPr>
        <p:spPr>
          <a:xfrm>
            <a:off x="5212080" y="5597434"/>
            <a:ext cx="1591056" cy="493776"/>
          </a:xfrm>
          <a:prstGeom prst="roundRect">
            <a:avLst>
              <a:gd name="adj" fmla="val 22222"/>
            </a:avLst>
          </a:prstGeom>
          <a:solidFill>
            <a:srgbClr val="FFFFFF"/>
          </a:solidFill>
          <a:ln w="11430">
            <a:solidFill>
              <a:srgbClr val="DAD5CE"/>
            </a:solidFill>
            <a:prstDash val="solid"/>
          </a:ln>
        </p:spPr>
      </p:sp>
      <p:sp>
        <p:nvSpPr>
          <p:cNvPr id="44" name="Text 42"/>
          <p:cNvSpPr/>
          <p:nvPr/>
        </p:nvSpPr>
        <p:spPr>
          <a:xfrm>
            <a:off x="5303520" y="5752882"/>
            <a:ext cx="1408176" cy="155448"/>
          </a:xfrm>
          <a:prstGeom prst="rect">
            <a:avLst/>
          </a:prstGeom>
          <a:noFill/>
          <a:ln/>
        </p:spPr>
        <p:txBody>
          <a:bodyPr wrap="square" lIns="0" tIns="0" rIns="0" bIns="0" rtlCol="0" anchor="ctr">
            <a:normAutofit/>
          </a:bodyPr>
          <a:lstStyle/>
          <a:p>
            <a:pPr marL="0" indent="0" algn="ctr">
              <a:buNone/>
            </a:pPr>
            <a:r>
              <a:rPr lang="en-US" sz="980" b="1" dirty="0">
                <a:solidFill>
                  <a:srgbClr val="24313A"/>
                </a:solidFill>
              </a:rPr>
              <a:t>User-level trend / max</a:t>
            </a:r>
            <a:endParaRPr lang="en-US" sz="980" dirty="0"/>
          </a:p>
        </p:txBody>
      </p:sp>
      <p:sp>
        <p:nvSpPr>
          <p:cNvPr id="45" name="Shape 43"/>
          <p:cNvSpPr/>
          <p:nvPr/>
        </p:nvSpPr>
        <p:spPr>
          <a:xfrm>
            <a:off x="5212080" y="5597434"/>
            <a:ext cx="50292" cy="493776"/>
          </a:xfrm>
          <a:prstGeom prst="rect">
            <a:avLst/>
          </a:prstGeom>
          <a:solidFill>
            <a:srgbClr val="C6A25D"/>
          </a:solidFill>
          <a:ln w="12700">
            <a:solidFill>
              <a:srgbClr val="C6A25D"/>
            </a:solidFill>
            <a:prstDash val="solid"/>
          </a:ln>
        </p:spPr>
      </p:sp>
      <p:sp>
        <p:nvSpPr>
          <p:cNvPr id="46" name="Shape 44"/>
          <p:cNvSpPr/>
          <p:nvPr/>
        </p:nvSpPr>
        <p:spPr>
          <a:xfrm>
            <a:off x="6894576" y="5716306"/>
            <a:ext cx="310896" cy="237744"/>
          </a:xfrm>
          <a:prstGeom prst="chevron">
            <a:avLst/>
          </a:prstGeom>
          <a:solidFill>
            <a:srgbClr val="CFCAC2"/>
          </a:solidFill>
          <a:ln w="12700">
            <a:solidFill>
              <a:srgbClr val="CFCAC2"/>
            </a:solidFill>
            <a:prstDash val="solid"/>
          </a:ln>
        </p:spPr>
      </p:sp>
      <p:sp>
        <p:nvSpPr>
          <p:cNvPr id="47" name="Shape 45"/>
          <p:cNvSpPr/>
          <p:nvPr/>
        </p:nvSpPr>
        <p:spPr>
          <a:xfrm>
            <a:off x="7452360" y="5597434"/>
            <a:ext cx="1591056" cy="493776"/>
          </a:xfrm>
          <a:prstGeom prst="roundRect">
            <a:avLst>
              <a:gd name="adj" fmla="val 22222"/>
            </a:avLst>
          </a:prstGeom>
          <a:solidFill>
            <a:srgbClr val="FFFFFF"/>
          </a:solidFill>
          <a:ln w="11430">
            <a:solidFill>
              <a:srgbClr val="DAD5CE"/>
            </a:solidFill>
            <a:prstDash val="solid"/>
          </a:ln>
        </p:spPr>
      </p:sp>
      <p:sp>
        <p:nvSpPr>
          <p:cNvPr id="48" name="Text 46"/>
          <p:cNvSpPr/>
          <p:nvPr/>
        </p:nvSpPr>
        <p:spPr>
          <a:xfrm>
            <a:off x="7543800" y="5752882"/>
            <a:ext cx="1408176" cy="155448"/>
          </a:xfrm>
          <a:prstGeom prst="rect">
            <a:avLst/>
          </a:prstGeom>
          <a:noFill/>
          <a:ln/>
        </p:spPr>
        <p:txBody>
          <a:bodyPr wrap="square" lIns="0" tIns="0" rIns="0" bIns="0" rtlCol="0" anchor="ctr">
            <a:normAutofit/>
          </a:bodyPr>
          <a:lstStyle/>
          <a:p>
            <a:pPr marL="0" indent="0" algn="ctr">
              <a:buNone/>
            </a:pPr>
            <a:r>
              <a:rPr lang="en-US" sz="980" b="1" dirty="0">
                <a:solidFill>
                  <a:srgbClr val="24313A"/>
                </a:solidFill>
              </a:rPr>
              <a:t>Private review queue</a:t>
            </a:r>
            <a:endParaRPr lang="en-US" sz="980" dirty="0"/>
          </a:p>
        </p:txBody>
      </p:sp>
      <p:sp>
        <p:nvSpPr>
          <p:cNvPr id="49" name="Shape 47"/>
          <p:cNvSpPr/>
          <p:nvPr/>
        </p:nvSpPr>
        <p:spPr>
          <a:xfrm>
            <a:off x="7452360" y="5597434"/>
            <a:ext cx="50292" cy="493776"/>
          </a:xfrm>
          <a:prstGeom prst="rect">
            <a:avLst/>
          </a:prstGeom>
          <a:solidFill>
            <a:srgbClr val="B87461"/>
          </a:solidFill>
          <a:ln w="12700">
            <a:solidFill>
              <a:srgbClr val="B87461"/>
            </a:solidFill>
            <a:prstDash val="solid"/>
          </a:ln>
        </p:spPr>
      </p:sp>
      <p:sp>
        <p:nvSpPr>
          <p:cNvPr id="50" name="Shape 48"/>
          <p:cNvSpPr/>
          <p:nvPr/>
        </p:nvSpPr>
        <p:spPr>
          <a:xfrm>
            <a:off x="9134856" y="5716306"/>
            <a:ext cx="310896" cy="237744"/>
          </a:xfrm>
          <a:prstGeom prst="chevron">
            <a:avLst/>
          </a:prstGeom>
          <a:solidFill>
            <a:srgbClr val="CFCAC2"/>
          </a:solidFill>
          <a:ln w="12700">
            <a:solidFill>
              <a:srgbClr val="CFCAC2"/>
            </a:solidFill>
            <a:prstDash val="solid"/>
          </a:ln>
        </p:spPr>
      </p:sp>
      <p:sp>
        <p:nvSpPr>
          <p:cNvPr id="51" name="Shape 49"/>
          <p:cNvSpPr/>
          <p:nvPr/>
        </p:nvSpPr>
        <p:spPr>
          <a:xfrm>
            <a:off x="9692640" y="5597434"/>
            <a:ext cx="1591056" cy="493776"/>
          </a:xfrm>
          <a:prstGeom prst="roundRect">
            <a:avLst>
              <a:gd name="adj" fmla="val 22222"/>
            </a:avLst>
          </a:prstGeom>
          <a:solidFill>
            <a:srgbClr val="FFFFFF"/>
          </a:solidFill>
          <a:ln w="11430">
            <a:solidFill>
              <a:srgbClr val="DAD5CE"/>
            </a:solidFill>
            <a:prstDash val="solid"/>
          </a:ln>
        </p:spPr>
      </p:sp>
      <p:sp>
        <p:nvSpPr>
          <p:cNvPr id="52" name="Text 50"/>
          <p:cNvSpPr/>
          <p:nvPr/>
        </p:nvSpPr>
        <p:spPr>
          <a:xfrm>
            <a:off x="9784080" y="5752882"/>
            <a:ext cx="1408176" cy="155448"/>
          </a:xfrm>
          <a:prstGeom prst="rect">
            <a:avLst/>
          </a:prstGeom>
          <a:noFill/>
          <a:ln/>
        </p:spPr>
        <p:txBody>
          <a:bodyPr wrap="square" lIns="0" tIns="0" rIns="0" bIns="0" rtlCol="0" anchor="ctr">
            <a:normAutofit/>
          </a:bodyPr>
          <a:lstStyle/>
          <a:p>
            <a:pPr marL="0" indent="0" algn="ctr">
              <a:buNone/>
            </a:pPr>
            <a:r>
              <a:rPr lang="en-US" sz="980" b="1" dirty="0">
                <a:solidFill>
                  <a:srgbClr val="24313A"/>
                </a:solidFill>
              </a:rPr>
              <a:t>Human decision</a:t>
            </a:r>
            <a:endParaRPr lang="en-US" sz="980" dirty="0"/>
          </a:p>
        </p:txBody>
      </p:sp>
      <p:sp>
        <p:nvSpPr>
          <p:cNvPr id="53" name="Shape 51"/>
          <p:cNvSpPr/>
          <p:nvPr/>
        </p:nvSpPr>
        <p:spPr>
          <a:xfrm>
            <a:off x="9692640" y="5597434"/>
            <a:ext cx="50292" cy="493776"/>
          </a:xfrm>
          <a:prstGeom prst="rect">
            <a:avLst/>
          </a:prstGeom>
          <a:solidFill>
            <a:srgbClr val="756D87"/>
          </a:solidFill>
          <a:ln w="12700">
            <a:solidFill>
              <a:srgbClr val="756D87"/>
            </a:solidFill>
            <a:prstDash val="solid"/>
          </a:ln>
        </p:spPr>
      </p:sp>
      <p:sp>
        <p:nvSpPr>
          <p:cNvPr id="54" name="Text 52"/>
          <p:cNvSpPr/>
          <p:nvPr/>
        </p:nvSpPr>
        <p:spPr>
          <a:xfrm>
            <a:off x="749808" y="6281928"/>
            <a:ext cx="10716768" cy="182880"/>
          </a:xfrm>
          <a:prstGeom prst="rect">
            <a:avLst/>
          </a:prstGeom>
          <a:noFill/>
          <a:ln/>
        </p:spPr>
        <p:txBody>
          <a:bodyPr wrap="square" lIns="0" tIns="0" rIns="0" bIns="0" rtlCol="0" anchor="ctr">
            <a:normAutofit/>
          </a:bodyPr>
          <a:lstStyle/>
          <a:p>
            <a:pPr marL="0" indent="0" algn="ctr">
              <a:buNone/>
            </a:pPr>
            <a:r>
              <a:rPr lang="en-US" sz="920" dirty="0">
                <a:solidFill>
                  <a:srgbClr val="B36A58"/>
                </a:solidFill>
              </a:rPr>
              <a:t>Candidate for a human-in-the-loop risk-monitoring overlay. Not an autonomous diagnostic system and not an independent emergency-decision tool.</a:t>
            </a:r>
            <a:endParaRPr lang="en-US" sz="920" dirty="0"/>
          </a:p>
        </p:txBody>
      </p:sp>
      <p:sp>
        <p:nvSpPr>
          <p:cNvPr id="55"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11</a:t>
            </a:fld>
            <a:endParaRPr lang="en-US"/>
          </a:p>
        </p:txBody>
      </p:sp>
      <p:pic>
        <p:nvPicPr>
          <p:cNvPr id="58" name="Picture 57">
            <a:extLst>
              <a:ext uri="{FF2B5EF4-FFF2-40B4-BE49-F238E27FC236}">
                <a16:creationId xmlns:a16="http://schemas.microsoft.com/office/drawing/2014/main" id="{8185E245-5C30-11E5-AE29-7C0A887926DF}"/>
              </a:ext>
            </a:extLst>
          </p:cNvPr>
          <p:cNvPicPr>
            <a:picLocks noChangeAspect="1"/>
          </p:cNvPicPr>
          <p:nvPr/>
        </p:nvPicPr>
        <p:blipFill>
          <a:blip r:embed="rId3"/>
          <a:stretch>
            <a:fillRect/>
          </a:stretch>
        </p:blipFill>
        <p:spPr>
          <a:xfrm>
            <a:off x="5700413" y="1549465"/>
            <a:ext cx="5048452" cy="362016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94360" y="347472"/>
            <a:ext cx="2834640" cy="164592"/>
          </a:xfrm>
          <a:prstGeom prst="rect">
            <a:avLst/>
          </a:prstGeom>
          <a:noFill/>
          <a:ln/>
        </p:spPr>
        <p:txBody>
          <a:bodyPr wrap="square" lIns="0" tIns="0" rIns="0" bIns="0" rtlCol="0" anchor="ctr"/>
          <a:lstStyle/>
          <a:p>
            <a:pPr marL="0" indent="0">
              <a:buNone/>
            </a:pPr>
            <a:r>
              <a:rPr lang="en-US" sz="850" b="1" kern="0" spc="120" dirty="0">
                <a:solidFill>
                  <a:srgbClr val="6E8E7D"/>
                </a:solidFill>
              </a:rPr>
              <a:t>APPENDIX</a:t>
            </a:r>
            <a:endParaRPr lang="en-US" sz="850" dirty="0"/>
          </a:p>
        </p:txBody>
      </p:sp>
      <p:sp>
        <p:nvSpPr>
          <p:cNvPr id="3" name="Text 1"/>
          <p:cNvSpPr/>
          <p:nvPr/>
        </p:nvSpPr>
        <p:spPr>
          <a:xfrm>
            <a:off x="594360" y="566928"/>
            <a:ext cx="10698480" cy="502920"/>
          </a:xfrm>
          <a:prstGeom prst="rect">
            <a:avLst/>
          </a:prstGeom>
          <a:noFill/>
          <a:ln/>
        </p:spPr>
        <p:txBody>
          <a:bodyPr wrap="square" lIns="0" tIns="0" rIns="0" bIns="0" rtlCol="0" anchor="ctr"/>
          <a:lstStyle/>
          <a:p>
            <a:pPr marL="0" indent="0">
              <a:buNone/>
            </a:pPr>
            <a:r>
              <a:rPr lang="en-US" sz="2800" b="1" dirty="0">
                <a:solidFill>
                  <a:srgbClr val="24313A"/>
                </a:solidFill>
              </a:rPr>
              <a:t>References</a:t>
            </a:r>
            <a:endParaRPr lang="en-US" sz="2800" dirty="0"/>
          </a:p>
        </p:txBody>
      </p:sp>
      <p:sp>
        <p:nvSpPr>
          <p:cNvPr id="4" name="Shape 2"/>
          <p:cNvSpPr/>
          <p:nvPr/>
        </p:nvSpPr>
        <p:spPr>
          <a:xfrm>
            <a:off x="594360" y="1143000"/>
            <a:ext cx="658368" cy="0"/>
          </a:xfrm>
          <a:prstGeom prst="line">
            <a:avLst/>
          </a:prstGeom>
          <a:noFill/>
          <a:ln w="27940">
            <a:solidFill>
              <a:srgbClr val="B87461"/>
            </a:solidFill>
            <a:prstDash val="solid"/>
          </a:ln>
        </p:spPr>
        <p:txBody>
          <a:bodyPr/>
          <a:lstStyle/>
          <a:p>
            <a:endParaRPr/>
          </a:p>
        </p:txBody>
      </p:sp>
      <p:sp>
        <p:nvSpPr>
          <p:cNvPr id="5" name="Shape 3"/>
          <p:cNvSpPr/>
          <p:nvPr/>
        </p:nvSpPr>
        <p:spPr>
          <a:xfrm>
            <a:off x="10332720" y="384048"/>
            <a:ext cx="1234440" cy="256032"/>
          </a:xfrm>
          <a:prstGeom prst="roundRect">
            <a:avLst/>
          </a:prstGeom>
          <a:solidFill>
            <a:srgbClr val="E8EFEA"/>
          </a:solidFill>
          <a:ln w="12700">
            <a:solidFill>
              <a:srgbClr val="E8EFEA"/>
            </a:solidFill>
            <a:prstDash val="solid"/>
          </a:ln>
        </p:spPr>
        <p:txBody>
          <a:bodyPr/>
          <a:lstStyle/>
          <a:p>
            <a:endParaRPr/>
          </a:p>
        </p:txBody>
      </p:sp>
      <p:sp>
        <p:nvSpPr>
          <p:cNvPr id="6" name="Text 4"/>
          <p:cNvSpPr/>
          <p:nvPr/>
        </p:nvSpPr>
        <p:spPr>
          <a:xfrm>
            <a:off x="10387584" y="416052"/>
            <a:ext cx="1124712" cy="146304"/>
          </a:xfrm>
          <a:prstGeom prst="rect">
            <a:avLst/>
          </a:prstGeom>
          <a:noFill/>
          <a:ln/>
        </p:spPr>
        <p:txBody>
          <a:bodyPr wrap="square" lIns="0" tIns="0" rIns="0" bIns="0" rtlCol="0" anchor="ctr"/>
          <a:lstStyle/>
          <a:p>
            <a:pPr marL="0" indent="0" algn="ctr">
              <a:buNone/>
            </a:pPr>
            <a:r>
              <a:rPr lang="en-US" sz="740" b="1" dirty="0">
                <a:solidFill>
                  <a:srgbClr val="6E8E7D"/>
                </a:solidFill>
              </a:rPr>
              <a:t>APPENDIX</a:t>
            </a:r>
            <a:endParaRPr lang="en-US" sz="740" dirty="0"/>
          </a:p>
        </p:txBody>
      </p:sp>
      <p:sp>
        <p:nvSpPr>
          <p:cNvPr id="7" name="Shape 5"/>
          <p:cNvSpPr/>
          <p:nvPr/>
        </p:nvSpPr>
        <p:spPr>
          <a:xfrm>
            <a:off x="777240" y="1417320"/>
            <a:ext cx="10652760" cy="585216"/>
          </a:xfrm>
          <a:prstGeom prst="roundRect">
            <a:avLst>
              <a:gd name="adj" fmla="val 18750"/>
            </a:avLst>
          </a:prstGeom>
          <a:solidFill>
            <a:srgbClr val="FFFFFF"/>
          </a:solidFill>
          <a:ln w="11430">
            <a:solidFill>
              <a:srgbClr val="E0DCD5"/>
            </a:solidFill>
            <a:prstDash val="solid"/>
          </a:ln>
        </p:spPr>
        <p:txBody>
          <a:bodyPr/>
          <a:lstStyle/>
          <a:p>
            <a:endParaRPr/>
          </a:p>
        </p:txBody>
      </p:sp>
      <p:sp>
        <p:nvSpPr>
          <p:cNvPr id="8" name="Text 6"/>
          <p:cNvSpPr/>
          <p:nvPr/>
        </p:nvSpPr>
        <p:spPr>
          <a:xfrm>
            <a:off x="987552" y="1563624"/>
            <a:ext cx="10149840" cy="256032"/>
          </a:xfrm>
          <a:prstGeom prst="rect">
            <a:avLst/>
          </a:prstGeom>
          <a:noFill/>
          <a:ln/>
        </p:spPr>
        <p:txBody>
          <a:bodyPr wrap="square" lIns="0" tIns="0" rIns="0" bIns="0" rtlCol="0" anchor="ctr">
            <a:normAutofit fontScale="92500"/>
          </a:bodyPr>
          <a:lstStyle/>
          <a:p>
            <a:pPr marL="0" indent="0">
              <a:buNone/>
            </a:pPr>
            <a:r>
              <a:rPr lang="en-US" sz="1100" dirty="0">
                <a:solidFill>
                  <a:srgbClr val="28343D"/>
                </a:solidFill>
              </a:rPr>
              <a:t>1. De Choudhury, M., Counts, S., &amp; Horvitz, E. (2013). Predicting postpartum changes in emotion and behavior via social media. CHI 2013. DOI: 10.1145/2470654.2466447.</a:t>
            </a:r>
            <a:endParaRPr lang="en-US" sz="1100" dirty="0"/>
          </a:p>
        </p:txBody>
      </p:sp>
      <p:sp>
        <p:nvSpPr>
          <p:cNvPr id="9" name="Shape 7"/>
          <p:cNvSpPr/>
          <p:nvPr/>
        </p:nvSpPr>
        <p:spPr>
          <a:xfrm>
            <a:off x="777240" y="2221992"/>
            <a:ext cx="10652760" cy="585216"/>
          </a:xfrm>
          <a:prstGeom prst="roundRect">
            <a:avLst>
              <a:gd name="adj" fmla="val 18750"/>
            </a:avLst>
          </a:prstGeom>
          <a:solidFill>
            <a:srgbClr val="FFFFFF"/>
          </a:solidFill>
          <a:ln w="11430">
            <a:solidFill>
              <a:srgbClr val="E0DCD5"/>
            </a:solidFill>
            <a:prstDash val="solid"/>
          </a:ln>
        </p:spPr>
        <p:txBody>
          <a:bodyPr/>
          <a:lstStyle/>
          <a:p>
            <a:endParaRPr/>
          </a:p>
        </p:txBody>
      </p:sp>
      <p:sp>
        <p:nvSpPr>
          <p:cNvPr id="10" name="Text 8"/>
          <p:cNvSpPr/>
          <p:nvPr/>
        </p:nvSpPr>
        <p:spPr>
          <a:xfrm>
            <a:off x="987552" y="2368296"/>
            <a:ext cx="10149840" cy="256032"/>
          </a:xfrm>
          <a:prstGeom prst="rect">
            <a:avLst/>
          </a:prstGeom>
          <a:noFill/>
          <a:ln/>
        </p:spPr>
        <p:txBody>
          <a:bodyPr wrap="square" lIns="0" tIns="0" rIns="0" bIns="0" rtlCol="0" anchor="ctr">
            <a:normAutofit/>
          </a:bodyPr>
          <a:lstStyle/>
          <a:p>
            <a:pPr marL="0" indent="0">
              <a:buNone/>
            </a:pPr>
            <a:r>
              <a:rPr lang="en-US" sz="1100" dirty="0">
                <a:solidFill>
                  <a:srgbClr val="28343D"/>
                </a:solidFill>
              </a:rPr>
              <a:t>2. Coppersmith, G., Dredze, M., &amp; Harman, C. (2014). Quantifying Mental Health Signals in Twitter. CLPsych / ACL, pp. 51–60. DOI: 10.3115/v1/W14-3207.</a:t>
            </a:r>
            <a:endParaRPr lang="en-US" sz="1100" dirty="0"/>
          </a:p>
        </p:txBody>
      </p:sp>
      <p:sp>
        <p:nvSpPr>
          <p:cNvPr id="11" name="Shape 9"/>
          <p:cNvSpPr/>
          <p:nvPr/>
        </p:nvSpPr>
        <p:spPr>
          <a:xfrm>
            <a:off x="777240" y="3026664"/>
            <a:ext cx="10652760" cy="585216"/>
          </a:xfrm>
          <a:prstGeom prst="roundRect">
            <a:avLst>
              <a:gd name="adj" fmla="val 18750"/>
            </a:avLst>
          </a:prstGeom>
          <a:solidFill>
            <a:srgbClr val="FFFFFF"/>
          </a:solidFill>
          <a:ln w="11430">
            <a:solidFill>
              <a:srgbClr val="E0DCD5"/>
            </a:solidFill>
            <a:prstDash val="solid"/>
          </a:ln>
        </p:spPr>
        <p:txBody>
          <a:bodyPr/>
          <a:lstStyle/>
          <a:p>
            <a:endParaRPr/>
          </a:p>
        </p:txBody>
      </p:sp>
      <p:sp>
        <p:nvSpPr>
          <p:cNvPr id="12" name="Text 10"/>
          <p:cNvSpPr/>
          <p:nvPr/>
        </p:nvSpPr>
        <p:spPr>
          <a:xfrm>
            <a:off x="987552" y="3172968"/>
            <a:ext cx="10149840" cy="256032"/>
          </a:xfrm>
          <a:prstGeom prst="rect">
            <a:avLst/>
          </a:prstGeom>
          <a:noFill/>
          <a:ln/>
        </p:spPr>
        <p:txBody>
          <a:bodyPr wrap="square" lIns="0" tIns="0" rIns="0" bIns="0" rtlCol="0" anchor="ctr">
            <a:normAutofit fontScale="92500"/>
          </a:bodyPr>
          <a:lstStyle/>
          <a:p>
            <a:pPr marL="0" indent="0">
              <a:buNone/>
            </a:pPr>
            <a:r>
              <a:rPr lang="en-US" sz="1100" dirty="0">
                <a:solidFill>
                  <a:srgbClr val="28343D"/>
                </a:solidFill>
              </a:rPr>
              <a:t>3. Farahani, M., Gharachorloo, M., Farahani, M., &amp; Manthouri, M. (2020). ParsBERT: Transformer-based Model for Persian Language Understanding. arXiv:2005.12515.</a:t>
            </a:r>
            <a:endParaRPr lang="en-US" sz="1100" dirty="0"/>
          </a:p>
        </p:txBody>
      </p:sp>
      <p:sp>
        <p:nvSpPr>
          <p:cNvPr id="13" name="Shape 11"/>
          <p:cNvSpPr/>
          <p:nvPr/>
        </p:nvSpPr>
        <p:spPr>
          <a:xfrm>
            <a:off x="777240" y="3831336"/>
            <a:ext cx="10652760" cy="585216"/>
          </a:xfrm>
          <a:prstGeom prst="roundRect">
            <a:avLst>
              <a:gd name="adj" fmla="val 18750"/>
            </a:avLst>
          </a:prstGeom>
          <a:solidFill>
            <a:srgbClr val="FFFFFF"/>
          </a:solidFill>
          <a:ln w="11430">
            <a:solidFill>
              <a:srgbClr val="E0DCD5"/>
            </a:solidFill>
            <a:prstDash val="solid"/>
          </a:ln>
        </p:spPr>
        <p:txBody>
          <a:bodyPr/>
          <a:lstStyle/>
          <a:p>
            <a:endParaRPr/>
          </a:p>
        </p:txBody>
      </p:sp>
      <p:sp>
        <p:nvSpPr>
          <p:cNvPr id="14" name="Text 12"/>
          <p:cNvSpPr/>
          <p:nvPr/>
        </p:nvSpPr>
        <p:spPr>
          <a:xfrm>
            <a:off x="987552" y="3977640"/>
            <a:ext cx="10149840" cy="256032"/>
          </a:xfrm>
          <a:prstGeom prst="rect">
            <a:avLst/>
          </a:prstGeom>
          <a:noFill/>
          <a:ln/>
        </p:spPr>
        <p:txBody>
          <a:bodyPr wrap="square" lIns="0" tIns="0" rIns="0" bIns="0" rtlCol="0" anchor="ctr">
            <a:normAutofit/>
          </a:bodyPr>
          <a:lstStyle/>
          <a:p>
            <a:pPr marL="0" indent="0">
              <a:buNone/>
            </a:pPr>
            <a:r>
              <a:rPr lang="en-US" sz="1100" dirty="0">
                <a:solidFill>
                  <a:srgbClr val="28343D"/>
                </a:solidFill>
              </a:rPr>
              <a:t>4. Khashabi, D. et al. (2020). ParsiNLU: A Suite of Language Understanding Challenges for Persian. arXiv:2012.06154.</a:t>
            </a:r>
            <a:endParaRPr lang="en-US" sz="1100" dirty="0"/>
          </a:p>
        </p:txBody>
      </p:sp>
      <p:sp>
        <p:nvSpPr>
          <p:cNvPr id="15" name="Shape 13"/>
          <p:cNvSpPr/>
          <p:nvPr/>
        </p:nvSpPr>
        <p:spPr>
          <a:xfrm>
            <a:off x="777240" y="4636008"/>
            <a:ext cx="10652760" cy="585216"/>
          </a:xfrm>
          <a:prstGeom prst="roundRect">
            <a:avLst>
              <a:gd name="adj" fmla="val 18750"/>
            </a:avLst>
          </a:prstGeom>
          <a:solidFill>
            <a:srgbClr val="FFFFFF"/>
          </a:solidFill>
          <a:ln w="11430">
            <a:solidFill>
              <a:srgbClr val="E0DCD5"/>
            </a:solidFill>
            <a:prstDash val="solid"/>
          </a:ln>
        </p:spPr>
        <p:txBody>
          <a:bodyPr/>
          <a:lstStyle/>
          <a:p>
            <a:endParaRPr/>
          </a:p>
        </p:txBody>
      </p:sp>
      <p:sp>
        <p:nvSpPr>
          <p:cNvPr id="16" name="Text 14"/>
          <p:cNvSpPr/>
          <p:nvPr/>
        </p:nvSpPr>
        <p:spPr>
          <a:xfrm>
            <a:off x="987552" y="4782312"/>
            <a:ext cx="10149840" cy="256032"/>
          </a:xfrm>
          <a:prstGeom prst="rect">
            <a:avLst/>
          </a:prstGeom>
          <a:noFill/>
          <a:ln/>
        </p:spPr>
        <p:txBody>
          <a:bodyPr wrap="square" lIns="0" tIns="0" rIns="0" bIns="0" rtlCol="0" anchor="ctr">
            <a:normAutofit/>
          </a:bodyPr>
          <a:lstStyle/>
          <a:p>
            <a:pPr marL="0" indent="0">
              <a:buNone/>
            </a:pPr>
            <a:r>
              <a:rPr lang="en-US" sz="1100" dirty="0">
                <a:solidFill>
                  <a:srgbClr val="28343D"/>
                </a:solidFill>
              </a:rPr>
              <a:t>5. Ninisite.com — source forum used for project data collection.</a:t>
            </a:r>
            <a:endParaRPr lang="en-US" sz="1100" dirty="0"/>
          </a:p>
        </p:txBody>
      </p:sp>
      <p:sp>
        <p:nvSpPr>
          <p:cNvPr id="17" name="Shape 15"/>
          <p:cNvSpPr/>
          <p:nvPr/>
        </p:nvSpPr>
        <p:spPr>
          <a:xfrm>
            <a:off x="918972" y="5513832"/>
            <a:ext cx="10424160" cy="566928"/>
          </a:xfrm>
          <a:prstGeom prst="roundRect">
            <a:avLst>
              <a:gd name="adj" fmla="val 19355"/>
            </a:avLst>
          </a:prstGeom>
          <a:solidFill>
            <a:srgbClr val="E8EFEA"/>
          </a:solidFill>
          <a:ln w="11430">
            <a:solidFill>
              <a:srgbClr val="E8EFEA"/>
            </a:solidFill>
            <a:prstDash val="solid"/>
          </a:ln>
        </p:spPr>
        <p:txBody>
          <a:bodyPr/>
          <a:lstStyle/>
          <a:p>
            <a:endParaRPr/>
          </a:p>
        </p:txBody>
      </p:sp>
      <p:sp>
        <p:nvSpPr>
          <p:cNvPr id="18" name="Shape 16"/>
          <p:cNvSpPr/>
          <p:nvPr/>
        </p:nvSpPr>
        <p:spPr>
          <a:xfrm>
            <a:off x="918972" y="5513832"/>
            <a:ext cx="50292" cy="566928"/>
          </a:xfrm>
          <a:prstGeom prst="rect">
            <a:avLst/>
          </a:prstGeom>
          <a:solidFill>
            <a:srgbClr val="6E8E7D"/>
          </a:solidFill>
          <a:ln w="12700">
            <a:solidFill>
              <a:srgbClr val="6E8E7D"/>
            </a:solidFill>
            <a:prstDash val="solid"/>
          </a:ln>
        </p:spPr>
        <p:txBody>
          <a:bodyPr/>
          <a:lstStyle/>
          <a:p>
            <a:endParaRPr/>
          </a:p>
        </p:txBody>
      </p:sp>
      <p:sp>
        <p:nvSpPr>
          <p:cNvPr id="19" name="Text 17"/>
          <p:cNvSpPr/>
          <p:nvPr/>
        </p:nvSpPr>
        <p:spPr>
          <a:xfrm>
            <a:off x="1074420" y="5586984"/>
            <a:ext cx="10186416" cy="420624"/>
          </a:xfrm>
          <a:prstGeom prst="rect">
            <a:avLst/>
          </a:prstGeom>
          <a:noFill/>
          <a:ln/>
        </p:spPr>
        <p:txBody>
          <a:bodyPr wrap="square" lIns="0" tIns="0" rIns="0" bIns="0" rtlCol="0" anchor="ctr">
            <a:normAutofit/>
          </a:bodyPr>
          <a:lstStyle/>
          <a:p>
            <a:pPr marL="0" indent="0">
              <a:buNone/>
            </a:pPr>
            <a:r>
              <a:rPr lang="en-US" sz="1120" dirty="0">
                <a:solidFill>
                  <a:srgbClr val="28343D"/>
                </a:solidFill>
              </a:rPr>
              <a:t>All charts shown in the presentation are exact team-generated project output PNG files. No external images were reconstructed or substituted.</a:t>
            </a:r>
            <a:endParaRPr lang="en-US" sz="1120" dirty="0"/>
          </a:p>
        </p:txBody>
      </p:sp>
      <p:sp>
        <p:nvSpPr>
          <p:cNvPr id="20" name="Text 18"/>
          <p:cNvSpPr/>
          <p:nvPr/>
        </p:nvSpPr>
        <p:spPr>
          <a:xfrm>
            <a:off x="868680" y="6373368"/>
            <a:ext cx="10424160" cy="164592"/>
          </a:xfrm>
          <a:prstGeom prst="rect">
            <a:avLst/>
          </a:prstGeom>
          <a:noFill/>
          <a:ln/>
        </p:spPr>
        <p:txBody>
          <a:bodyPr wrap="square" lIns="0" tIns="0" rIns="0" bIns="0" rtlCol="0" anchor="ctr"/>
          <a:lstStyle/>
          <a:p>
            <a:pPr algn="ctr"/>
            <a:r>
              <a:rPr sz="819" dirty="0">
                <a:solidFill>
                  <a:srgbClr val="6D7774"/>
                </a:solidFill>
              </a:rPr>
              <a:t>Internal artifacts used for metrics and architecture: corrected fusion bundle / project status JSON, split manifest, and final report figures.  •  AI assistance: ChatGPT (OpenAI).</a:t>
            </a:r>
          </a:p>
        </p:txBody>
      </p:sp>
      <p:sp>
        <p:nvSpPr>
          <p:cNvPr id="25" name="Slide Number Placeholder 0"/>
          <p:cNvSpPr>
            <a:spLocks noGrp="1"/>
          </p:cNvSpPr>
          <p:nvPr>
            <p:ph type="sldNum" sz="quarter" idx="4294967295"/>
          </p:nvPr>
        </p:nvSpPr>
        <p:spPr>
          <a:xfrm>
            <a:off x="11411712" y="6556248"/>
            <a:ext cx="256032" cy="164592"/>
          </a:xfrm>
          <a:prstGeom prst="rect">
            <a:avLst/>
          </a:prstGeom>
          <a:extLst>
            <a:ext uri="{C572A759-6A51-4108-AA02-DFA0A04FC94B}">
              <ma14:wrappingTextBoxFlag xmlns="" xmlns:ma14="http://schemas.microsoft.com/office/mac/drawingml/2011/main" val="0"/>
            </a:ext>
          </a:extLst>
        </p:spPr>
        <p:txBody>
          <a:bodyPr lIns="0" tIns="0" rIns="0" bIns="0"/>
          <a:lstStyle>
            <a:lvl1pPr>
              <a:defRPr sz="800">
                <a:solidFill>
                  <a:srgbClr val="7B817F"/>
                </a:solidFill>
                <a:latin typeface="Arial"/>
                <a:ea typeface="Arial"/>
                <a:cs typeface="Arial"/>
              </a:defRPr>
            </a:lvl1pPr>
          </a:lstStyle>
          <a:p>
            <a:pPr algn="r"/>
            <a:fld id="{F7021451-1387-4CA6-816F-3879F97B5CBC}" type="slidenum">
              <a:rPr lang="en-US" b="0"/>
              <a:t>12</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960</TotalTime>
  <Words>2006</Words>
  <Application>Microsoft Office PowerPoint</Application>
  <PresentationFormat>Widescreen</PresentationFormat>
  <Paragraphs>229</Paragraphs>
  <Slides>12</Slides>
  <Notes>12</Notes>
  <HiddenSlides>0</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12</vt:i4>
      </vt:variant>
    </vt:vector>
  </HeadingPairs>
  <TitlesOfParts>
    <vt:vector size="14" baseType="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Data Science course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Stress Detection in a Persian Pregnancy Forum</dc:title>
  <dc:subject>Stress Detection in a Persian Pregnancy Forum</dc:subject>
  <dc:creator>Data Science Project Team</dc:creator>
  <cp:lastModifiedBy>mohammadrezadar@yahoo.com</cp:lastModifiedBy>
  <cp:revision>9</cp:revision>
  <dcterms:created xsi:type="dcterms:W3CDTF">2026-08-07T18:06:45Z</dcterms:created>
  <dcterms:modified xsi:type="dcterms:W3CDTF">2026-08-09T07:38:55Z</dcterms:modified>
</cp:coreProperties>
</file>